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3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TIMELINE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778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Thought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factory floor of the 1900s to AI-driven, data-powered marketing in 2026 — how the core idea of marketing has been rewritten, era by era.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10058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Rahul Kulkarni        Updated with 2026 industry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Thought Is Not Fixed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era reflects the economic reality, technology, and customer power of its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5856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marketing_ppt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406701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63240"/>
            <a:ext cx="2734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 → Abundance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657600"/>
            <a:ext cx="27340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supply is scarce, the focus is output. As markets fill up, the focus shifts to persuasion, then to genuine value.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19659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258568"/>
            <a:ext cx="658368" cy="65836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marketing_ppt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2406701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063240"/>
            <a:ext cx="2734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Power → Buyer Power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62272" y="3657600"/>
            <a:ext cx="27340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reviews, and social media have handed decisive power from sellers to buyers.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0" y="19659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65008" y="225856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marketing_ppt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3141" y="2406701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28432" y="3063240"/>
            <a:ext cx="2734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 → Data → AI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28432" y="3657600"/>
            <a:ext cx="27340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Judgment-based decisions gave way to analytics, now augmented by predictive and generative AI.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eight eras of marketing thought, from 1850s production lines to today's AI-driven campaigns.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ERAS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Factory Floor to Customer Focus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479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marketing_ppt/icons/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22" y="1959102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1673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17647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Concept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221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1850s – 1920s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96112" y="267919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80720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cheap and efficient — demand will follow. Ford's Model T: one model, one color, mass output.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80760" y="15087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36792" y="176479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marketing_ppt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02" y="1959102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78440" y="1673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269480" y="17647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Concept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269480" y="2221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1920s – 1930s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36792" y="267919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36792" y="280720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that the best quality sells itself. Risk: 'marketing myopia' — loving the product, not the need.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" y="406908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96112" y="432511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/home/claude/marketing_ppt/icons/bullh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" y="4519422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37760" y="42336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828800" y="43251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Concept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828800" y="47823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1930s – 1950s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96112" y="523951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96112" y="536752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Post-Depression surplus pushed hard selling — heavy advertising and persuasion, not customer research.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080760" y="406908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336792" y="432511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/home/claude/marketing_ppt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102" y="4519422"/>
            <a:ext cx="388620" cy="3886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378440" y="42336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7269480" y="43251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Concept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269480" y="47823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1970s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336792" y="523951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36792" y="536752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point: 'make what sells' instead of 'sell what we make.' Birthplace of the 4 Ps.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ERAS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Social Responsibility to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6479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marketing_ppt/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22" y="1959102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1673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17647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Marketing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221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– 1990s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96112" y="267919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80720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third lens: profit, customer wants, and society's wellbeing — early roots of CSR.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80760" y="15087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36792" y="176479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marketing_ppt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02" y="1959102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78440" y="1673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269480" y="17647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Marketing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269480" y="2221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– 2000s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36792" y="267919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36792" y="280720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 customer is worth more than one sale. CRM systems and loyalty programs take off.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" y="406908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96112" y="432511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/home/claude/marketing_ppt/icons/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" y="4519422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37760" y="42336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828800" y="43251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&amp; Social Marketing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828800" y="47823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– 2020s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96112" y="523951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96112" y="536752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social hand power to the buyer. Marketing becomes measurable in real time.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080760" y="406908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336792" y="432511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/home/claude/marketing_ppt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102" y="4519422"/>
            <a:ext cx="388620" cy="3886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378440" y="42336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7269480" y="43251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Marketing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269480" y="47823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 – Present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336792" y="5239512"/>
            <a:ext cx="4654296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36792" y="5367528"/>
            <a:ext cx="46542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intent, personalize at scale, let algorithms optimize — today's dominant chapter.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Eras, One Continuous Shift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25400">
            <a:solidFill>
              <a:srgbClr val="3A46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21945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marketing_ppt/icons/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3865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" y="2990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310128"/>
            <a:ext cx="0" cy="21031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42893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Shape 9"/>
          <p:cNvSpPr/>
          <p:nvPr/>
        </p:nvSpPr>
        <p:spPr>
          <a:xfrm>
            <a:off x="2325189" y="3602736"/>
            <a:ext cx="0" cy="39319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41141" y="411480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/home/claude/marketing_ppt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165" y="430682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39389" y="4956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776549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5121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Shape 14"/>
          <p:cNvSpPr/>
          <p:nvPr/>
        </p:nvSpPr>
        <p:spPr>
          <a:xfrm>
            <a:off x="3443369" y="21945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marketing_ppt/icons/bullh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393" y="238658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41617" y="2990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827417" y="3310128"/>
            <a:ext cx="0" cy="21031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78777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247350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Shape 19"/>
          <p:cNvSpPr/>
          <p:nvPr/>
        </p:nvSpPr>
        <p:spPr>
          <a:xfrm>
            <a:off x="5329646" y="3602736"/>
            <a:ext cx="0" cy="39319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45598" y="411480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3" descr="/home/claude/marketing_ppt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7622" y="430682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643846" y="4956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781006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749578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Shape 24"/>
          <p:cNvSpPr/>
          <p:nvPr/>
        </p:nvSpPr>
        <p:spPr>
          <a:xfrm>
            <a:off x="6447826" y="21945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/home/claude/marketing_ppt/icons/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9850" y="238658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46074" y="2990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831874" y="3310128"/>
            <a:ext cx="0" cy="21031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283234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251807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6" name="Shape 29"/>
          <p:cNvSpPr/>
          <p:nvPr/>
        </p:nvSpPr>
        <p:spPr>
          <a:xfrm>
            <a:off x="8334103" y="3602736"/>
            <a:ext cx="0" cy="39319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950055" y="411480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8" name="Image 5" descr="/home/claude/marketing_ppt/icons/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079" y="4306824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48303" y="4956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7785463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9754035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2" name="Shape 34"/>
          <p:cNvSpPr/>
          <p:nvPr/>
        </p:nvSpPr>
        <p:spPr>
          <a:xfrm>
            <a:off x="9452283" y="219456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6" descr="/home/claude/marketing_ppt/icons/lap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4307" y="2386584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150531" y="2990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9836331" y="3310128"/>
            <a:ext cx="0" cy="21031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9287691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11256264" y="3438144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8" name="Shape 39"/>
          <p:cNvSpPr/>
          <p:nvPr/>
        </p:nvSpPr>
        <p:spPr>
          <a:xfrm>
            <a:off x="11338560" y="3602736"/>
            <a:ext cx="0" cy="393192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0954512" y="411480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0" name="Image 7" descr="/home/claude/marketing_ppt/icons/rob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6536" y="4306824"/>
            <a:ext cx="384048" cy="38404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652760" y="4956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1078992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82296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through-line: power has steadily moved from producer, to seller, to customer — and the tools have moved from intuition to algorithms.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PRESENT-DAY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Marketing Stands in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AI-driven era isn't a forecast — it's the current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2199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marketing_ppt/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02" y="2370582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$835.82B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22960" y="3410712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ad spend in 2026 — 68.7% of total ad investment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1422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GroupM, 2026 Global Ad Forecast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10712" y="19659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66744" y="22219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marketing_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334" y="2370582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593592" y="3410712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marketers use generative AI in at least one regular workflow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93592" y="41422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State of Marketing 2026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181344" y="19659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37376" y="2221992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2" descr="/home/claude/marketing_ppt/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966" y="2370582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4224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$57.99B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6364224" y="3410712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global AI-in-marketing tool market in 2026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364224" y="41422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Loopex Digital / Daily AI Mail, 2026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8951976" y="19659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08008" y="2221992"/>
            <a:ext cx="594360" cy="594360"/>
          </a:xfrm>
          <a:prstGeom prst="ellipse">
            <a:avLst/>
          </a:prstGeom>
          <a:solidFill>
            <a:srgbClr val="8E7CC3"/>
          </a:solidFill>
          <a:ln/>
        </p:spPr>
      </p:sp>
      <p:pic>
        <p:nvPicPr>
          <p:cNvPr id="25" name="Image 3" descr="/home/claude/marketing_ppt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6598" y="2370582"/>
            <a:ext cx="297180" cy="2971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34856" y="28803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500" dirty="0"/>
          </a:p>
        </p:txBody>
      </p:sp>
      <p:sp>
        <p:nvSpPr>
          <p:cNvPr id="27" name="Text 21"/>
          <p:cNvSpPr/>
          <p:nvPr/>
        </p:nvSpPr>
        <p:spPr>
          <a:xfrm>
            <a:off x="9134856" y="3410712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ROI for AI-driven campaigns vs. traditional campaigns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134856" y="414223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Zebracat AI, 2026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Digital Ad Spend Mix (share of channel)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5623560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6044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40%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846320" y="5623560"/>
            <a:ext cx="33649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27"/>
          <p:cNvSpPr/>
          <p:nvPr/>
        </p:nvSpPr>
        <p:spPr>
          <a:xfrm>
            <a:off x="4846320" y="604418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32%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8211312" y="5623560"/>
            <a:ext cx="1892808" cy="38404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5" name="Text 29"/>
          <p:cNvSpPr/>
          <p:nvPr/>
        </p:nvSpPr>
        <p:spPr>
          <a:xfrm>
            <a:off x="8211312" y="604418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18%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10104120" y="5623560"/>
            <a:ext cx="1051560" cy="384048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37" name="Text 31"/>
          <p:cNvSpPr/>
          <p:nvPr/>
        </p:nvSpPr>
        <p:spPr>
          <a:xfrm>
            <a:off x="10104120" y="6044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Video/Other 10%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7071055" y="6400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 source: GroupM, 2026 Global Ad Forecast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After the AI Era?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marketing_ppt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214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Marketing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27632" y="2130552"/>
            <a:ext cx="39319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don't just draft content but plan, launch, and optimize campaigns with light human oversight.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206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81928" y="196596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marketing_ppt/icons/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1214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 &amp; Commerce Media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068312" y="2130552"/>
            <a:ext cx="39319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fastest-growing ad channel in 2026, turning e-commerce platforms into a 'third wave' of advertising.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136392"/>
            <a:ext cx="51206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41071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marketing_ppt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56616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2552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Personalization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27632" y="3575304"/>
            <a:ext cx="39319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data and consent-based targeting replace cookies, as regulation tightens globally.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0760" y="3136392"/>
            <a:ext cx="51206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81928" y="341071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marketing_ppt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56616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8312" y="32552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Collaboration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68312" y="3575304"/>
            <a:ext cx="39319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performance gains come from hybrid workflows, not full automation — judgment still matters.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" name="Image 0" descr="/home/claude/marketing_pp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8915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2011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Thought Will Keep Evolving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305409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8803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era was a rational response to its economic and technological moment — none was 'wrong' for its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767328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59359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direction is consistent: more power to the customer, more reliance on data.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480560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06824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AI is not the future of marketing thought — it is the current, dominant chapter.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519379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5020056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advantage will belong to teams that pair AI's scale with human judgment and ethics.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5989320"/>
            <a:ext cx="10058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Marketing Thought</dc:title>
  <dc:subject>The Evolution of Marketing Thought</dc:subject>
  <dc:creator>Rahul Kulkarni</dc:creator>
  <cp:lastModifiedBy>Rahul Kulkarni</cp:lastModifiedBy>
  <cp:revision>2</cp:revision>
  <dcterms:created xsi:type="dcterms:W3CDTF">2026-08-22T04:32:43Z</dcterms:created>
  <dcterms:modified xsi:type="dcterms:W3CDTF">2026-08-22T07:43:12Z</dcterms:modified>
</cp:coreProperties>
</file>