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Lst>
  <p:sldIdLst>
    <p:sldId id="295" r:id="rId5"/>
    <p:sldId id="274" r:id="rId6"/>
    <p:sldId id="279" r:id="rId7"/>
    <p:sldId id="280" r:id="rId8"/>
    <p:sldId id="281" r:id="rId9"/>
    <p:sldId id="282" r:id="rId10"/>
    <p:sldId id="276" r:id="rId11"/>
    <p:sldId id="283" r:id="rId12"/>
    <p:sldId id="284" r:id="rId13"/>
    <p:sldId id="285" r:id="rId14"/>
    <p:sldId id="286" r:id="rId15"/>
    <p:sldId id="287" r:id="rId16"/>
    <p:sldId id="288" r:id="rId17"/>
    <p:sldId id="289" r:id="rId18"/>
    <p:sldId id="290" r:id="rId19"/>
    <p:sldId id="291" r:id="rId20"/>
    <p:sldId id="292" r:id="rId21"/>
    <p:sldId id="293" r:id="rId22"/>
    <p:sldId id="294"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p:scale>
          <a:sx n="68" d="100"/>
          <a:sy n="68" d="100"/>
        </p:scale>
        <p:origin x="1910" y="379"/>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1C8C4F00-B88E-4188-A076-81E1A86F9FB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C8C4F00-B88E-4188-A076-81E1A86F9FB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8C4F00-B88E-4188-A076-81E1A86F9FB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1C8C4F00-B88E-4188-A076-81E1A86F9FB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1C8C4F00-B88E-4188-A076-81E1A86F9FB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58F7AF9-CA2C-4D10-A07A-CFB321DFB964}"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2865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4648200" y="1825625"/>
            <a:ext cx="386715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630238" y="2505075"/>
            <a:ext cx="386873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4629150" y="2505075"/>
            <a:ext cx="38877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5F3678B9-5127-4C5E-82C2-AC6E353819A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5F3678B9-5127-4C5E-82C2-AC6E353819A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678B9-5127-4C5E-82C2-AC6E353819A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28650" y="365125"/>
            <a:ext cx="5762625"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5F3678B9-5127-4C5E-82C2-AC6E353819A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3678B9-5127-4C5E-82C2-AC6E353819A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3678B9-5127-4C5E-82C2-AC6E353819A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F3678B9-5127-4C5E-82C2-AC6E353819A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F3678B9-5127-4C5E-82C2-AC6E353819A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905D9F3-AF00-4A19-865F-472616EF42AB}"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7" Type="http://schemas.openxmlformats.org/officeDocument/2006/relationships/theme" Target="../theme/theme3.xml"/><Relationship Id="rId16" Type="http://schemas.openxmlformats.org/officeDocument/2006/relationships/slideLayout" Target="../slideLayouts/slideLayout38.xml"/><Relationship Id="rId15" Type="http://schemas.openxmlformats.org/officeDocument/2006/relationships/slideLayout" Target="../slideLayouts/slideLayout37.xml"/><Relationship Id="rId14" Type="http://schemas.openxmlformats.org/officeDocument/2006/relationships/slideLayout" Target="../slideLayouts/slideLayout36.xml"/><Relationship Id="rId13" Type="http://schemas.openxmlformats.org/officeDocument/2006/relationships/slideLayout" Target="../slideLayouts/slideLayout35.xml"/><Relationship Id="rId12" Type="http://schemas.openxmlformats.org/officeDocument/2006/relationships/slideLayout" Target="../slideLayouts/slideLayout34.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8C4F00-B88E-4188-A076-81E1A86F9FB6}" type="datetimeFigureOut">
              <a:rPr lang="en-IN" smtClean="0"/>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8F7AF9-CA2C-4D10-A07A-CFB321DFB96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F3678B9-5127-4C5E-82C2-AC6E353819A4}" type="datetimeFigureOut">
              <a:rPr lang="en-IN" smtClean="0"/>
            </a:fld>
            <a:endParaRPr lang="en-IN"/>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05D9F3-AF00-4A19-865F-472616EF42AB}"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C8C4F00-B88E-4188-A076-81E1A86F9FB6}" type="datetimeFigureOut">
              <a:rPr lang="en-IN" smtClean="0"/>
            </a:fld>
            <a:endParaRPr lang="en-IN"/>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458F7AF9-CA2C-4D10-A07A-CFB321DFB96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30.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7.png"/><Relationship Id="rId1" Type="http://schemas.openxmlformats.org/officeDocument/2006/relationships/image" Target="../media/image6.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3608" y="761275"/>
            <a:ext cx="6347713" cy="659160"/>
          </a:xfrm>
        </p:spPr>
        <p:txBody>
          <a:bodyPr/>
          <a:lstStyle/>
          <a:p>
            <a:pPr algn="ctr"/>
            <a:r>
              <a:rPr lang="en-US" dirty="0"/>
              <a:t>Management Accounting</a:t>
            </a:r>
            <a:endParaRPr lang="en-US" dirty="0"/>
          </a:p>
        </p:txBody>
      </p:sp>
      <p:sp>
        <p:nvSpPr>
          <p:cNvPr id="3" name="Content Placeholder 2"/>
          <p:cNvSpPr>
            <a:spLocks noGrp="1"/>
          </p:cNvSpPr>
          <p:nvPr>
            <p:ph idx="1"/>
          </p:nvPr>
        </p:nvSpPr>
        <p:spPr>
          <a:xfrm>
            <a:off x="609598" y="1556793"/>
            <a:ext cx="7490793" cy="1728192"/>
          </a:xfrm>
        </p:spPr>
        <p:txBody>
          <a:bodyPr>
            <a:normAutofit/>
          </a:bodyPr>
          <a:lstStyle/>
          <a:p>
            <a:pPr marL="0" indent="0" algn="ctr">
              <a:buNone/>
            </a:pPr>
            <a:r>
              <a:rPr lang="en-US" sz="2400" dirty="0"/>
              <a:t>By</a:t>
            </a:r>
            <a:endParaRPr lang="en-US" sz="2400" dirty="0"/>
          </a:p>
          <a:p>
            <a:pPr marL="0" indent="0" algn="ctr">
              <a:buNone/>
            </a:pPr>
            <a:r>
              <a:rPr lang="en-US" sz="2400" dirty="0"/>
              <a:t>CS Jayamala Katkar</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hand holding a pen and shading circles on a sheet"/>
          <p:cNvPicPr>
            <a:picLocks noChangeAspect="1"/>
          </p:cNvPicPr>
          <p:nvPr/>
        </p:nvPicPr>
        <p:blipFill>
          <a:blip r:embed="rId1"/>
          <a:srcRect l="55736" r="26872" b="-1"/>
          <a:stretch>
            <a:fillRect/>
          </a:stretch>
        </p:blipFill>
        <p:spPr>
          <a:xfrm>
            <a:off x="20" y="10"/>
            <a:ext cx="2050522" cy="6867719"/>
          </a:xfrm>
          <a:custGeom>
            <a:avLst/>
            <a:gdLst/>
            <a:ahLst/>
            <a:cxnLst/>
            <a:rect l="l" t="t" r="r" b="b"/>
            <a:pathLst>
              <a:path w="2734056" h="6858000">
                <a:moveTo>
                  <a:pt x="0" y="0"/>
                </a:moveTo>
                <a:lnTo>
                  <a:pt x="1674254" y="0"/>
                </a:lnTo>
                <a:lnTo>
                  <a:pt x="2734056" y="6850199"/>
                </a:lnTo>
                <a:lnTo>
                  <a:pt x="2734056" y="6858000"/>
                </a:lnTo>
                <a:lnTo>
                  <a:pt x="461457" y="6858000"/>
                </a:lnTo>
                <a:lnTo>
                  <a:pt x="0" y="4134118"/>
                </a:lnTo>
                <a:close/>
              </a:path>
            </a:pathLst>
          </a:custGeom>
        </p:spPr>
      </p:pic>
      <p:sp>
        <p:nvSpPr>
          <p:cNvPr id="10" name="Isosceles Triangle 9"/>
          <p:cNvSpPr>
            <a:spLocks noGrp="1" noRot="1" noChangeAspect="1" noMove="1" noResize="1" noEditPoints="1" noAdjustHandles="1" noChangeArrowheads="1" noChangeShapeType="1" noTextEdit="1"/>
          </p:cNvSpPr>
          <p:nvPr/>
        </p:nvSpPr>
        <p:spPr>
          <a:xfrm>
            <a:off x="0" y="4013201"/>
            <a:ext cx="357491"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extBox 1"/>
          <p:cNvSpPr txBox="1"/>
          <p:nvPr/>
        </p:nvSpPr>
        <p:spPr>
          <a:xfrm>
            <a:off x="2137171" y="2160589"/>
            <a:ext cx="4818330" cy="3880773"/>
          </a:xfrm>
          <a:prstGeom prst="rect">
            <a:avLst/>
          </a:prstGeom>
        </p:spPr>
        <p:txBody>
          <a:bodyPr vert="horz" lIns="91440" tIns="45720" rIns="91440" bIns="45720" rtlCol="0">
            <a:normAutofit/>
          </a:bodyPr>
          <a:lstStyle/>
          <a:p>
            <a:pPr defTabSz="457200">
              <a:spcBef>
                <a:spcPts val="1000"/>
              </a:spcBef>
              <a:buClr>
                <a:schemeClr val="accent1"/>
              </a:buClr>
              <a:buSzPct val="80000"/>
              <a:buFont typeface="Wingdings 3" panose="05040102010807070707" charset="2"/>
              <a:buChar char=""/>
            </a:pPr>
            <a:r>
              <a:rPr lang="en-US" b="1" dirty="0">
                <a:solidFill>
                  <a:schemeClr val="tx1">
                    <a:lumMod val="75000"/>
                    <a:lumOff val="25000"/>
                  </a:schemeClr>
                </a:solidFill>
                <a:latin typeface="Times New Roman" panose="02020603050405020304" pitchFamily="18" charset="0"/>
                <a:cs typeface="Times New Roman" panose="02020603050405020304" pitchFamily="18" charset="0"/>
              </a:rPr>
              <a:t>Course Name : Managerial Accounting</a:t>
            </a:r>
            <a:endParaRPr lang="en-US" b="1"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
        <p:nvSpPr>
          <p:cNvPr id="3" name="Rectangle 2"/>
          <p:cNvSpPr/>
          <p:nvPr/>
        </p:nvSpPr>
        <p:spPr>
          <a:xfrm>
            <a:off x="2051720" y="3356992"/>
            <a:ext cx="5101076" cy="523220"/>
          </a:xfrm>
          <a:prstGeom prst="rect">
            <a:avLst/>
          </a:prstGeom>
        </p:spPr>
        <p:txBody>
          <a:bodyPr wrap="none">
            <a:spAutoFit/>
          </a:bodyPr>
          <a:lstStyle/>
          <a:p>
            <a:pPr fontAlgn="base">
              <a:spcAft>
                <a:spcPts val="600"/>
              </a:spcAft>
            </a:pPr>
            <a:r>
              <a:rPr lang="en-IN" sz="2800" b="1" dirty="0">
                <a:solidFill>
                  <a:srgbClr val="273239"/>
                </a:solidFill>
                <a:latin typeface="Times New Roman" panose="02020603050405020304" pitchFamily="18" charset="0"/>
                <a:cs typeface="Times New Roman" panose="02020603050405020304" pitchFamily="18" charset="0"/>
              </a:rPr>
              <a:t>Forms of Business Organization</a:t>
            </a:r>
            <a:endParaRPr lang="en-IN" sz="2800" b="1" i="0" dirty="0">
              <a:solidFill>
                <a:srgbClr val="273239"/>
              </a:solidFill>
              <a:effectLst/>
              <a:latin typeface="Times New Roman" panose="02020603050405020304" pitchFamily="18" charset="0"/>
              <a:cs typeface="Times New Roman" panose="02020603050405020304" pitchFamily="18" charset="0"/>
            </a:endParaRPr>
          </a:p>
        </p:txBody>
      </p:sp>
      <p:sp>
        <p:nvSpPr>
          <p:cNvPr id="4" name="Rectangle 3"/>
          <p:cNvSpPr/>
          <p:nvPr/>
        </p:nvSpPr>
        <p:spPr>
          <a:xfrm>
            <a:off x="2555776" y="1331555"/>
            <a:ext cx="3633559" cy="461665"/>
          </a:xfrm>
          <a:prstGeom prst="rect">
            <a:avLst/>
          </a:prstGeom>
        </p:spPr>
        <p:txBody>
          <a:bodyPr wrap="none">
            <a:spAutoFit/>
          </a:bodyPr>
          <a:lstStyle/>
          <a:p>
            <a:pPr fontAlgn="base">
              <a:spcAft>
                <a:spcPts val="600"/>
              </a:spcAft>
            </a:pPr>
            <a:r>
              <a:rPr lang="en-IN" sz="2400" b="1" dirty="0">
                <a:solidFill>
                  <a:srgbClr val="273239"/>
                </a:solidFill>
                <a:latin typeface="Times New Roman" panose="02020603050405020304" pitchFamily="18" charset="0"/>
                <a:cs typeface="Times New Roman" panose="02020603050405020304" pitchFamily="18" charset="0"/>
              </a:rPr>
              <a:t>Chapter 1 : Basic Concept</a:t>
            </a:r>
            <a:endParaRPr lang="en-IN" sz="2400" b="1" i="0" dirty="0">
              <a:solidFill>
                <a:srgbClr val="273239"/>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79512" y="692696"/>
            <a:ext cx="4680520" cy="4392488"/>
          </a:xfrm>
          <a:prstGeom prst="rect">
            <a:avLst/>
          </a:prstGeom>
        </p:spPr>
      </p:pic>
      <p:sp>
        <p:nvSpPr>
          <p:cNvPr id="3" name="Content Placeholder 2"/>
          <p:cNvSpPr>
            <a:spLocks noGrp="1"/>
          </p:cNvSpPr>
          <p:nvPr>
            <p:ph idx="1"/>
          </p:nvPr>
        </p:nvSpPr>
        <p:spPr>
          <a:xfrm>
            <a:off x="5076056" y="476672"/>
            <a:ext cx="3386037" cy="5526437"/>
          </a:xfrm>
        </p:spPr>
        <p:txBody>
          <a:bodyPr>
            <a:normAutofit/>
          </a:bodyPr>
          <a:lstStyle/>
          <a:p>
            <a:pPr marL="0" indent="0" algn="just">
              <a:buNone/>
            </a:pPr>
            <a:r>
              <a:rPr lang="en-US" sz="2000" dirty="0">
                <a:latin typeface="Times New Roman" panose="02020603050405020304" pitchFamily="18" charset="0"/>
                <a:cs typeface="Times New Roman" panose="02020603050405020304" pitchFamily="18" charset="0"/>
              </a:rPr>
              <a:t>An organization engaged in some commercial activity or business with the motive of earning profit is known as a business enterprise. If an individual or a group of individuals plans to start a new business or expand its existing business, selecting the right form of business organization is essential for them. There are five different forms of business organization from which one can select the best option for them.</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lt;strong&gt;Sole&lt;/strong&gt; &lt;strong&gt;Proprietorship&lt;/strong&gt; - Highway Sign image"/>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60732" y="2836150"/>
            <a:ext cx="4471308" cy="2753090"/>
          </a:xfrm>
          <a:prstGeom prst="rect">
            <a:avLst/>
          </a:prstGeom>
        </p:spPr>
      </p:pic>
      <p:sp>
        <p:nvSpPr>
          <p:cNvPr id="2" name="Title 1"/>
          <p:cNvSpPr>
            <a:spLocks noGrp="1"/>
          </p:cNvSpPr>
          <p:nvPr>
            <p:ph type="title"/>
          </p:nvPr>
        </p:nvSpPr>
        <p:spPr>
          <a:xfrm>
            <a:off x="463570" y="836712"/>
            <a:ext cx="4628809" cy="1278466"/>
          </a:xfrm>
        </p:spPr>
        <p:txBody>
          <a:bodyPr>
            <a:normAutofit/>
          </a:bodyPr>
          <a:lstStyle/>
          <a:p>
            <a:r>
              <a:rPr lang="en-US" sz="3600" b="1" u="sng" dirty="0"/>
              <a:t>Sole Proprietorship</a:t>
            </a:r>
            <a:endParaRPr lang="en-US" sz="3600" dirty="0"/>
          </a:p>
        </p:txBody>
      </p:sp>
      <p:sp>
        <p:nvSpPr>
          <p:cNvPr id="3" name="Content Placeholder 2"/>
          <p:cNvSpPr>
            <a:spLocks noGrp="1"/>
          </p:cNvSpPr>
          <p:nvPr>
            <p:ph idx="1"/>
          </p:nvPr>
        </p:nvSpPr>
        <p:spPr>
          <a:xfrm>
            <a:off x="5092380" y="665781"/>
            <a:ext cx="3386037" cy="5526437"/>
          </a:xfrm>
        </p:spPr>
        <p:txBody>
          <a:bodyPr>
            <a:normAutofit fontScale="85000" lnSpcReduction="10000"/>
          </a:bodyPr>
          <a:lstStyle/>
          <a:p>
            <a:pPr marL="0" indent="0" algn="just" fontAlgn="base">
              <a:buNone/>
            </a:pPr>
            <a:r>
              <a:rPr lang="en-US" sz="2000" dirty="0">
                <a:latin typeface="Times New Roman" panose="02020603050405020304" pitchFamily="18" charset="0"/>
                <a:cs typeface="Times New Roman" panose="02020603050405020304" pitchFamily="18" charset="0"/>
              </a:rPr>
              <a:t>A popular form of business organization in which the business is owned, managed, and controlled by an individual is known as a sole proprietorship. This individual is the recipient of every profit and loss of the business and bears every risk coming to the business. Here, the word sole means only and proprietor means owner; hence, the only owner of the business. Usually, businesses with personalized services like hair salons, beauty </a:t>
            </a:r>
            <a:r>
              <a:rPr lang="en-US" sz="2000" dirty="0" err="1">
                <a:latin typeface="Times New Roman" panose="02020603050405020304" pitchFamily="18" charset="0"/>
                <a:cs typeface="Times New Roman" panose="02020603050405020304" pitchFamily="18" charset="0"/>
              </a:rPr>
              <a:t>parlours</a:t>
            </a:r>
            <a:r>
              <a:rPr lang="en-US" sz="2000" dirty="0">
                <a:latin typeface="Times New Roman" panose="02020603050405020304" pitchFamily="18" charset="0"/>
                <a:cs typeface="Times New Roman" panose="02020603050405020304" pitchFamily="18" charset="0"/>
              </a:rPr>
              <a:t>, retail shops, etc., run under sole proprietorship. In this form of business, the owner is not separate from the business; hence, no separate legal entity. Besides, the owner does not have to perform any legal formality and can start the business whenever they want. </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lt;strong&gt;Family&lt;/strong&gt; Gathering Free Stock Photo - Public Domain Pictures"/>
          <p:cNvPicPr>
            <a:picLocks noChangeAspect="1"/>
          </p:cNvPicPr>
          <p:nvPr/>
        </p:nvPicPr>
        <p:blipFill rotWithShape="1">
          <a:blip r:embed="rId1" cstate="print">
            <a:extLst>
              <a:ext uri="{28A0092B-C50C-407E-A947-70E740481C1C}">
                <a14:useLocalDpi xmlns:a14="http://schemas.microsoft.com/office/drawing/2010/main" val="0"/>
              </a:ext>
            </a:extLst>
          </a:blip>
          <a:srcRect b="12889"/>
          <a:stretch>
            <a:fillRect/>
          </a:stretch>
        </p:blipFill>
        <p:spPr>
          <a:xfrm>
            <a:off x="251520" y="1628800"/>
            <a:ext cx="3384376" cy="3168352"/>
          </a:xfrm>
          <a:prstGeom prst="rect">
            <a:avLst/>
          </a:prstGeom>
        </p:spPr>
      </p:pic>
      <p:sp>
        <p:nvSpPr>
          <p:cNvPr id="2" name="Title 1"/>
          <p:cNvSpPr>
            <a:spLocks noGrp="1"/>
          </p:cNvSpPr>
          <p:nvPr>
            <p:ph type="title"/>
          </p:nvPr>
        </p:nvSpPr>
        <p:spPr>
          <a:xfrm>
            <a:off x="539552" y="548680"/>
            <a:ext cx="7128792" cy="792088"/>
          </a:xfrm>
        </p:spPr>
        <p:txBody>
          <a:bodyPr/>
          <a:lstStyle/>
          <a:p>
            <a:r>
              <a:rPr lang="en-US" sz="3600" b="1" u="sng" dirty="0">
                <a:latin typeface="Times New Roman" panose="02020603050405020304" pitchFamily="18" charset="0"/>
                <a:cs typeface="Times New Roman" panose="02020603050405020304" pitchFamily="18" charset="0"/>
              </a:rPr>
              <a:t>Joint Hindu Family Business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51920" y="1196752"/>
            <a:ext cx="4773216" cy="4525963"/>
          </a:xfrm>
        </p:spPr>
        <p:txBody>
          <a:bodyPr>
            <a:normAutofit fontScale="85000" lnSpcReduction="20000"/>
          </a:bodyPr>
          <a:lstStyle/>
          <a:p>
            <a:pPr algn="just" fontAlgn="base"/>
            <a:r>
              <a:rPr lang="en-US" sz="2000" dirty="0">
                <a:latin typeface="Times New Roman" panose="02020603050405020304" pitchFamily="18" charset="0"/>
                <a:cs typeface="Times New Roman" panose="02020603050405020304" pitchFamily="18" charset="0"/>
              </a:rPr>
              <a:t>A form of business organization found only in India in which the business is owned and carried on by the HUF(Hindu Undivided Family) members is known as Joint Hindu Family Business. It is one of the oldest forms of business organization in India. This form is governed by the ‘Hindu Law’. The eldest member and head of the family, also known as “Karta,” controls the business. Membership in this form of business organization is based on the birth in a specific family. The three successive members of the family can be the members of the business. Every member of the business have equal right and ownership over their ancestor’s property, and these members are known as ‘co-</a:t>
            </a:r>
            <a:r>
              <a:rPr lang="en-US" sz="2000" dirty="0" err="1">
                <a:latin typeface="Times New Roman" panose="02020603050405020304" pitchFamily="18" charset="0"/>
                <a:cs typeface="Times New Roman" panose="02020603050405020304" pitchFamily="18" charset="0"/>
              </a:rPr>
              <a:t>parceners</a:t>
            </a:r>
            <a:r>
              <a:rPr lang="en-US" sz="2000" dirty="0">
                <a:latin typeface="Times New Roman" panose="02020603050405020304" pitchFamily="18" charset="0"/>
                <a:cs typeface="Times New Roman" panose="02020603050405020304" pitchFamily="18" charset="0"/>
              </a:rPr>
              <a:t>.’ The two conditions for the existence of a Joint Hindu Family Business are: there must be some ancestral property, and a minimum of two male members must be in the family. </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Free illustration: Puzzle, Cooperation, &lt;strong&gt;Partnership&lt;/strong&gt; - Free Image on ..."/>
          <p:cNvPicPr>
            <a:picLocks noChangeAspect="1"/>
          </p:cNvPicPr>
          <p:nvPr/>
        </p:nvPicPr>
        <p:blipFill rotWithShape="1">
          <a:blip r:embed="rId1">
            <a:extLst>
              <a:ext uri="{28A0092B-C50C-407E-A947-70E740481C1C}">
                <a14:useLocalDpi xmlns:a14="http://schemas.microsoft.com/office/drawing/2010/main" val="0"/>
              </a:ext>
            </a:extLst>
          </a:blip>
          <a:srcRect t="28156" b="15532"/>
          <a:stretch>
            <a:fillRect/>
          </a:stretch>
        </p:blipFill>
        <p:spPr>
          <a:xfrm>
            <a:off x="5724128" y="4563081"/>
            <a:ext cx="3324707" cy="1872208"/>
          </a:xfrm>
          <a:prstGeom prst="rect">
            <a:avLst/>
          </a:prstGeom>
        </p:spPr>
      </p:pic>
      <p:sp>
        <p:nvSpPr>
          <p:cNvPr id="2" name="Title 1"/>
          <p:cNvSpPr>
            <a:spLocks noGrp="1"/>
          </p:cNvSpPr>
          <p:nvPr>
            <p:ph type="title"/>
          </p:nvPr>
        </p:nvSpPr>
        <p:spPr>
          <a:xfrm>
            <a:off x="2442592" y="548680"/>
            <a:ext cx="4258816" cy="706090"/>
          </a:xfrm>
        </p:spPr>
        <p:txBody>
          <a:bodyPr/>
          <a:lstStyle/>
          <a:p>
            <a:r>
              <a:rPr lang="en-US" sz="3600" b="1" u="sng" dirty="0">
                <a:latin typeface="Times New Roman" panose="02020603050405020304" pitchFamily="18" charset="0"/>
                <a:cs typeface="Times New Roman" panose="02020603050405020304" pitchFamily="18" charset="0"/>
              </a:rPr>
              <a:t>Partnership</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57200" y="1250713"/>
            <a:ext cx="8229600" cy="3546439"/>
          </a:xfrm>
        </p:spPr>
        <p:txBody>
          <a:bodyPr>
            <a:normAutofit/>
          </a:bodyPr>
          <a:lstStyle/>
          <a:p>
            <a:pPr algn="just" fontAlgn="base"/>
            <a:r>
              <a:rPr lang="en-US" sz="2000" dirty="0">
                <a:latin typeface="Times New Roman" panose="02020603050405020304" pitchFamily="18" charset="0"/>
                <a:cs typeface="Times New Roman" panose="02020603050405020304" pitchFamily="18" charset="0"/>
              </a:rPr>
              <a:t>The most crucial disadvantage of a sole proprietorship is the lack of enough financing in the business, which is resolved in this form of business organization. According to the Indian Partnership Act, 1932, a partnership is a form of business organization in which there is a relation between two or more people with an agreement to share the firm’s profits carried on by every partner or any one of the partners acting for all. It solves the need to acquire greater capital investment, risk-sharing, and a variety of skills in the business, which is not available in Sole Proprietorship and Joint Hindu Family Business. The minimum number of partners required in a partnership firm is two. There are different types of partners and partnerships in this form of business organization. </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1" descr="The &lt;strong&gt;Co-operative&lt;/strong&gt; Bank logo | 2 line 300dpi RGB | The Co-op Group | Flickr"/>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33492" y="3501008"/>
            <a:ext cx="3923928" cy="1456145"/>
          </a:xfrm>
          <a:prstGeom prst="rect">
            <a:avLst/>
          </a:prstGeom>
        </p:spPr>
      </p:pic>
      <p:sp>
        <p:nvSpPr>
          <p:cNvPr id="4" name="Title 1"/>
          <p:cNvSpPr>
            <a:spLocks noGrp="1"/>
          </p:cNvSpPr>
          <p:nvPr>
            <p:ph type="title"/>
          </p:nvPr>
        </p:nvSpPr>
        <p:spPr>
          <a:xfrm>
            <a:off x="1475656" y="548680"/>
            <a:ext cx="5987008" cy="706090"/>
          </a:xfrm>
        </p:spPr>
        <p:txBody>
          <a:bodyPr/>
          <a:lstStyle/>
          <a:p>
            <a:r>
              <a:rPr lang="en-IN" sz="3600" b="1" u="sng" dirty="0">
                <a:latin typeface="Times New Roman" panose="02020603050405020304" pitchFamily="18" charset="0"/>
                <a:cs typeface="Times New Roman" panose="02020603050405020304" pitchFamily="18" charset="0"/>
              </a:rPr>
              <a:t>Cooperative Society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788024" y="1717288"/>
            <a:ext cx="4032448" cy="4015968"/>
          </a:xfrm>
        </p:spPr>
        <p:txBody>
          <a:bodyPr>
            <a:normAutofit/>
          </a:bodyPr>
          <a:lstStyle/>
          <a:p>
            <a:pPr algn="just" fontAlgn="base"/>
            <a:r>
              <a:rPr lang="en-US" dirty="0">
                <a:latin typeface="Times New Roman" panose="02020603050405020304" pitchFamily="18" charset="0"/>
                <a:cs typeface="Times New Roman" panose="02020603050405020304" pitchFamily="18" charset="0"/>
              </a:rPr>
              <a:t>A voluntary association of people joining together with the main objective of members’ welfare is known as a cooperative society. As the name suggests, people in this form of business organization work together and with other people for the accomplishment of a common purpose. The power to make decisions in a Cooperative Society is in the hands of an elected managing committee</a:t>
            </a:r>
            <a:endParaRPr lang="en-IN" dirty="0">
              <a:latin typeface="Times New Roman" panose="02020603050405020304" pitchFamily="18" charset="0"/>
              <a:cs typeface="Times New Roman" panose="02020603050405020304" pitchFamily="18" charset="0"/>
            </a:endParaRPr>
          </a:p>
        </p:txBody>
      </p:sp>
      <p:pic>
        <p:nvPicPr>
          <p:cNvPr id="5" name="Picture 4" descr="Free vector graphic: &lt;strong&gt;Bank&lt;/strong&gt;, Money, Finance - Free Image on Pixabay - 98816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3728" y="1998460"/>
            <a:ext cx="1804070" cy="14305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descr="General Assembly In &lt;strong&gt;Joint Stock&lt;/strong&gt; Company (Anonim Şirketlerde Genel Kurul ..."/>
          <p:cNvPicPr>
            <a:picLocks noChangeAspect="1"/>
          </p:cNvPicPr>
          <p:nvPr/>
        </p:nvPicPr>
        <p:blipFill rotWithShape="1">
          <a:blip r:embed="rId1">
            <a:extLst>
              <a:ext uri="{28A0092B-C50C-407E-A947-70E740481C1C}">
                <a14:useLocalDpi xmlns:a14="http://schemas.microsoft.com/office/drawing/2010/main" val="0"/>
              </a:ext>
            </a:extLst>
          </a:blip>
          <a:srcRect t="3837"/>
          <a:stretch>
            <a:fillRect/>
          </a:stretch>
        </p:blipFill>
        <p:spPr>
          <a:xfrm>
            <a:off x="5364088" y="1412776"/>
            <a:ext cx="3556570" cy="3240360"/>
          </a:xfrm>
          <a:prstGeom prst="rect">
            <a:avLst/>
          </a:prstGeom>
        </p:spPr>
      </p:pic>
      <p:sp>
        <p:nvSpPr>
          <p:cNvPr id="2" name="Title 1"/>
          <p:cNvSpPr>
            <a:spLocks noGrp="1"/>
          </p:cNvSpPr>
          <p:nvPr>
            <p:ph type="title"/>
          </p:nvPr>
        </p:nvSpPr>
        <p:spPr>
          <a:xfrm>
            <a:off x="1876872" y="385150"/>
            <a:ext cx="5410944" cy="562074"/>
          </a:xfrm>
        </p:spPr>
        <p:txBody>
          <a:bodyPr>
            <a:normAutofit fontScale="90000"/>
          </a:bodyPr>
          <a:lstStyle/>
          <a:p>
            <a:r>
              <a:rPr lang="en-US" sz="3600" b="1" u="sng" dirty="0"/>
              <a:t>Joint Stock Company</a:t>
            </a:r>
            <a:endParaRPr lang="en-US" sz="3600" dirty="0"/>
          </a:p>
        </p:txBody>
      </p:sp>
      <p:sp>
        <p:nvSpPr>
          <p:cNvPr id="3" name="Content Placeholder 2"/>
          <p:cNvSpPr>
            <a:spLocks noGrp="1"/>
          </p:cNvSpPr>
          <p:nvPr>
            <p:ph idx="1"/>
          </p:nvPr>
        </p:nvSpPr>
        <p:spPr>
          <a:xfrm>
            <a:off x="467544" y="1412776"/>
            <a:ext cx="4680520" cy="3600399"/>
          </a:xfrm>
        </p:spPr>
        <p:txBody>
          <a:bodyPr>
            <a:normAutofit fontScale="85000" lnSpcReduction="20000"/>
          </a:bodyPr>
          <a:lstStyle/>
          <a:p>
            <a:pPr algn="just" fontAlgn="base"/>
            <a:r>
              <a:rPr lang="en-US" sz="2000" dirty="0">
                <a:latin typeface="Times New Roman" panose="02020603050405020304" pitchFamily="18" charset="0"/>
                <a:cs typeface="Times New Roman" panose="02020603050405020304" pitchFamily="18" charset="0"/>
              </a:rPr>
              <a:t>An association of different individuals formed to carry out business activities is known as a joint stock company. This form of organization has an independent legal status from its members. Basically, a joint stock company is an artificial individual with a separate legal entity, common seal and perpetual succession. The Joint Stock Company form of organization is governed by the Companies Act, 2013. The shareholders of the company are its owners; however, the Board of Directors is elected by the shareholders and is the chief managing body of the company. Usually, the shareholders or the owners of the company have indirect control over its operations. A company can be either private or a public company.</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99592" y="548680"/>
            <a:ext cx="7571184" cy="706090"/>
          </a:xfrm>
        </p:spPr>
        <p:txBody>
          <a:bodyPr>
            <a:normAutofit fontScale="90000"/>
          </a:bodyPr>
          <a:lstStyle/>
          <a:p>
            <a:r>
              <a:rPr lang="en-US" b="1" dirty="0">
                <a:latin typeface="Times New Roman" panose="02020603050405020304" pitchFamily="18" charset="0"/>
                <a:cs typeface="Times New Roman" panose="02020603050405020304" pitchFamily="18" charset="0"/>
              </a:rPr>
              <a:t>BASIC ACCOUNTING TERMS</a:t>
            </a:r>
            <a:br>
              <a:rPr lang="en-IN"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9512" y="1628800"/>
            <a:ext cx="8568952" cy="4766518"/>
          </a:xfrm>
        </p:spPr>
        <p:txBody>
          <a:bodyPr>
            <a:normAutofit/>
          </a:bodyPr>
          <a:lstStyle/>
          <a:p>
            <a:pPr lvl="0" algn="just"/>
            <a:r>
              <a:rPr lang="en-US" sz="1800" b="1" dirty="0">
                <a:latin typeface="Times New Roman" panose="02020603050405020304" pitchFamily="18" charset="0"/>
                <a:cs typeface="Times New Roman" panose="02020603050405020304" pitchFamily="18" charset="0"/>
              </a:rPr>
              <a:t>Business Transaction: </a:t>
            </a:r>
            <a:r>
              <a:rPr lang="en-US" sz="1800" dirty="0">
                <a:latin typeface="Times New Roman" panose="02020603050405020304" pitchFamily="18" charset="0"/>
                <a:cs typeface="Times New Roman" panose="02020603050405020304" pitchFamily="18" charset="0"/>
              </a:rPr>
              <a:t>The term Business Transaction means a financial transaction or economic event entered into two parties that initiates the accounting process of recording it in the books of accounts of an enterprise. It is expressed in terms of money which brings a change in the financial position of an enterprise.</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Account: </a:t>
            </a:r>
            <a:r>
              <a:rPr lang="en-US" sz="1800" dirty="0">
                <a:latin typeface="Times New Roman" panose="02020603050405020304" pitchFamily="18" charset="0"/>
                <a:cs typeface="Times New Roman" panose="02020603050405020304" pitchFamily="18" charset="0"/>
              </a:rPr>
              <a:t>it is a record of transactions (cash and credit) under a particular head of account (say salaries, telephone expenses, electricity expenses etc…) or a particular head (say Asset, Liabilities etc…)</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Capital: </a:t>
            </a:r>
            <a:r>
              <a:rPr lang="en-US" sz="1800" dirty="0">
                <a:latin typeface="Times New Roman" panose="02020603050405020304" pitchFamily="18" charset="0"/>
                <a:cs typeface="Times New Roman" panose="02020603050405020304" pitchFamily="18" charset="0"/>
              </a:rPr>
              <a:t>Capital is the amount introduced in a Business concern by the Owner (in case of sole proprietorship) or by partners (in case of partnership business). It may be in the form of money or assets having a monitory </a:t>
            </a:r>
            <a:r>
              <a:rPr lang="en-US" sz="1800" dirty="0" err="1">
                <a:latin typeface="Times New Roman" panose="02020603050405020304" pitchFamily="18" charset="0"/>
                <a:cs typeface="Times New Roman" panose="02020603050405020304" pitchFamily="18" charset="0"/>
              </a:rPr>
              <a:t>value.Capital</a:t>
            </a:r>
            <a:r>
              <a:rPr lang="en-US" sz="1800" dirty="0">
                <a:latin typeface="Times New Roman" panose="02020603050405020304" pitchFamily="18" charset="0"/>
                <a:cs typeface="Times New Roman" panose="02020603050405020304" pitchFamily="18" charset="0"/>
              </a:rPr>
              <a:t> is also known as Owner’s Equity or Net Worth. It can be expressed as:  </a:t>
            </a:r>
            <a:r>
              <a:rPr lang="en-US" sz="1800" b="1" dirty="0">
                <a:latin typeface="Times New Roman" panose="02020603050405020304" pitchFamily="18" charset="0"/>
                <a:cs typeface="Times New Roman" panose="02020603050405020304" pitchFamily="18" charset="0"/>
              </a:rPr>
              <a:t>Capital= Assets-Liabilities.</a:t>
            </a:r>
            <a:endParaRPr lang="en-US" sz="1800" b="1"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Drawings: </a:t>
            </a:r>
            <a:r>
              <a:rPr lang="en-US" sz="1800" dirty="0">
                <a:latin typeface="Times New Roman" panose="02020603050405020304" pitchFamily="18" charset="0"/>
                <a:cs typeface="Times New Roman" panose="02020603050405020304" pitchFamily="18" charset="0"/>
              </a:rPr>
              <a:t>Drawings is that amount or goods which are withdrawn by the Proprietor for Domestic use, Household use or Personal use. It reduces the capital of the owners and it is debited to drawings account by the Proprietor.</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764704"/>
            <a:ext cx="8568952" cy="5472608"/>
          </a:xfrm>
        </p:spPr>
        <p:txBody>
          <a:bodyPr>
            <a:normAutofit lnSpcReduction="10000"/>
          </a:bodyPr>
          <a:lstStyle/>
          <a:p>
            <a:pPr lvl="0" algn="just"/>
            <a:r>
              <a:rPr lang="en-US" sz="1800" b="1" dirty="0">
                <a:latin typeface="Times New Roman" panose="02020603050405020304" pitchFamily="18" charset="0"/>
                <a:cs typeface="Times New Roman" panose="02020603050405020304" pitchFamily="18" charset="0"/>
              </a:rPr>
              <a:t>Assets: </a:t>
            </a:r>
            <a:r>
              <a:rPr lang="en-US" sz="1800" dirty="0">
                <a:latin typeface="Times New Roman" panose="02020603050405020304" pitchFamily="18" charset="0"/>
                <a:cs typeface="Times New Roman" panose="02020603050405020304" pitchFamily="18" charset="0"/>
              </a:rPr>
              <a:t>All those resources owned by a Business concern which are used in Business Operation or assist to operate the business and to earn the profit are known as assets. In other words anything which enables the firm to get economic benefit in the future is an Asset. Examples of assets are Land and Buildings, Plant and Machinery, Furniture, Stock, Debtor, Cash in Hand, Cash at Bank, Trademarks, Copyrights, Patent Right, Goodwill etc...</a:t>
            </a:r>
            <a:endParaRPr lang="en-US" sz="1800"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Non- Current Assets :</a:t>
            </a:r>
            <a:r>
              <a:rPr lang="en-US" sz="1800" dirty="0">
                <a:latin typeface="Times New Roman" panose="02020603050405020304" pitchFamily="18" charset="0"/>
                <a:cs typeface="Times New Roman" panose="02020603050405020304" pitchFamily="18" charset="0"/>
              </a:rPr>
              <a:t> Non Current Assets are those assets which are held by the Boniness concern for use in the Business for long period of time and are not with the purpose to resell but are held either as Investment or to facilitate Business operations. Fixed assets, Non-Current Investments, Long term loans and Advances are the examples of Non-Current asset.</a:t>
            </a:r>
            <a:endParaRPr lang="en-US" sz="1800" dirty="0">
              <a:latin typeface="Times New Roman" panose="02020603050405020304" pitchFamily="18" charset="0"/>
              <a:cs typeface="Times New Roman" panose="02020603050405020304" pitchFamily="18" charset="0"/>
            </a:endParaRPr>
          </a:p>
          <a:p>
            <a:pPr marL="0" lvl="0" indent="0" algn="just">
              <a:buNone/>
            </a:pPr>
            <a:r>
              <a:rPr lang="en-US" sz="1800" b="1" dirty="0">
                <a:latin typeface="Times New Roman" panose="02020603050405020304" pitchFamily="18" charset="0"/>
                <a:cs typeface="Times New Roman" panose="02020603050405020304" pitchFamily="18" charset="0"/>
              </a:rPr>
              <a:t>Fixed Assets are further classified into two types:</a:t>
            </a:r>
            <a:endParaRPr lang="en-US" sz="1800" b="1"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Tangible Fixed Asset: </a:t>
            </a:r>
            <a:r>
              <a:rPr lang="en-US" sz="1800" dirty="0">
                <a:latin typeface="Times New Roman" panose="02020603050405020304" pitchFamily="18" charset="0"/>
                <a:cs typeface="Times New Roman" panose="02020603050405020304" pitchFamily="18" charset="0"/>
              </a:rPr>
              <a:t>Tangible fixed assets are those assets which can be seen, touched, purchased and sold. It means which have physical existence i.e. Land, Building, Machinery, Computer, Furniture etc…</a:t>
            </a:r>
            <a:endParaRPr lang="en-US" sz="1800"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Intangible Fixed Asset</a:t>
            </a:r>
            <a:r>
              <a:rPr lang="en-US" sz="1800" dirty="0">
                <a:latin typeface="Times New Roman" panose="02020603050405020304" pitchFamily="18" charset="0"/>
                <a:cs typeface="Times New Roman" panose="02020603050405020304" pitchFamily="18" charset="0"/>
              </a:rPr>
              <a:t>: Intangible fixed assets are those assets which do not have own physical existence means it cannot be seen, touched only be felt. These can be sold but not alone but together with entire business. Examples of intangible assets are: Goodwill, Patents, Copyright, Computer Software, Design etc…</a:t>
            </a:r>
            <a:endParaRPr lang="en-IN"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577" y="404664"/>
            <a:ext cx="7484814" cy="5472608"/>
          </a:xfrm>
        </p:spPr>
        <p:txBody>
          <a:bodyPr>
            <a:normAutofit fontScale="92500" lnSpcReduction="20000"/>
          </a:bodyPr>
          <a:lstStyle/>
          <a:p>
            <a:pPr lvl="0" algn="just"/>
            <a:endParaRPr lang="en-US" sz="1800"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(ii)	</a:t>
            </a:r>
            <a:r>
              <a:rPr lang="en-US" sz="1800" b="1" dirty="0">
                <a:latin typeface="Times New Roman" panose="02020603050405020304" pitchFamily="18" charset="0"/>
                <a:cs typeface="Times New Roman" panose="02020603050405020304" pitchFamily="18" charset="0"/>
              </a:rPr>
              <a:t>Current Assets: </a:t>
            </a:r>
            <a:r>
              <a:rPr lang="en-US" sz="1800" dirty="0">
                <a:latin typeface="Times New Roman" panose="02020603050405020304" pitchFamily="18" charset="0"/>
                <a:cs typeface="Times New Roman" panose="02020603050405020304" pitchFamily="18" charset="0"/>
              </a:rPr>
              <a:t>Current assets are those assets which are held by an enterprise with the purpose of converting them into cash within a short period of time, i.e. One year. Goods are purchased with a purpose to resell and to earn profit. Ex.- Debtor, Bills Receivable, cash at Bank, Cash in Hand etc..</a:t>
            </a:r>
            <a:endParaRPr lang="en-US" sz="1800"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Liquid Assets are those current assets which are either in the form of cash or which can be converted into cash quickly. All Current assets are Liquid assets excepting Stock and Prepaid Expenses.</a:t>
            </a:r>
            <a:endParaRPr lang="en-US"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Liabilities: </a:t>
            </a:r>
            <a:r>
              <a:rPr lang="en-US" sz="1800" dirty="0">
                <a:latin typeface="Times New Roman" panose="02020603050405020304" pitchFamily="18" charset="0"/>
                <a:cs typeface="Times New Roman" panose="02020603050405020304" pitchFamily="18" charset="0"/>
              </a:rPr>
              <a:t>Liabilities mean amount Owed (payable) by the business concern at sometime in future Liabilities towards the Owner of the business is termed as internal liabilities, i.e. Capital. On the other hand, liabilities towards the outsiders is termed as External liabilities. This can be expressed as:  </a:t>
            </a:r>
            <a:r>
              <a:rPr lang="en-US" sz="1800" b="1" u="sng" dirty="0">
                <a:latin typeface="Times New Roman" panose="02020603050405020304" pitchFamily="18" charset="0"/>
                <a:cs typeface="Times New Roman" panose="02020603050405020304" pitchFamily="18" charset="0"/>
              </a:rPr>
              <a:t>Liabilities = Assets-Capital</a:t>
            </a: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Loan from bank, Creditors, Bills Payables, Bank Overdraft, Outstanding Salaries are the examples of liabilities.</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Expenses : </a:t>
            </a:r>
            <a:r>
              <a:rPr lang="en-US" sz="1800" dirty="0">
                <a:latin typeface="Times New Roman" panose="02020603050405020304" pitchFamily="18" charset="0"/>
                <a:cs typeface="Times New Roman" panose="02020603050405020304" pitchFamily="18" charset="0"/>
              </a:rPr>
              <a:t>Amount spent on the cost of goods sold and service used up in the process of earning revenue. An expense also refers to an expenditure in return for which some benefits is received and it reduce Capital.</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Revenue : </a:t>
            </a:r>
            <a:r>
              <a:rPr lang="en-US" sz="1800" dirty="0">
                <a:latin typeface="Times New Roman" panose="02020603050405020304" pitchFamily="18" charset="0"/>
                <a:cs typeface="Times New Roman" panose="02020603050405020304" pitchFamily="18" charset="0"/>
              </a:rPr>
              <a:t>Revenue is the total sum of cash-in-flow in the Business. It also means the earning of business. Revenue increases Capital.</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332656"/>
            <a:ext cx="8712968" cy="6048672"/>
          </a:xfrm>
        </p:spPr>
        <p:txBody>
          <a:bodyPr>
            <a:normAutofit fontScale="92500"/>
          </a:bodyPr>
          <a:lstStyle/>
          <a:p>
            <a:pPr lvl="0" algn="just"/>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Income : </a:t>
            </a:r>
            <a:r>
              <a:rPr lang="en-US" sz="1800" dirty="0">
                <a:latin typeface="Times New Roman" panose="02020603050405020304" pitchFamily="18" charset="0"/>
                <a:cs typeface="Times New Roman" panose="02020603050405020304" pitchFamily="18" charset="0"/>
              </a:rPr>
              <a:t>The difference between Revenue and Expenses is called Income.</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Expenditure : </a:t>
            </a:r>
            <a:r>
              <a:rPr lang="en-US" sz="1800" dirty="0">
                <a:latin typeface="Times New Roman" panose="02020603050405020304" pitchFamily="18" charset="0"/>
                <a:cs typeface="Times New Roman" panose="02020603050405020304" pitchFamily="18" charset="0"/>
              </a:rPr>
              <a:t>Money spent or liabilities incurred for acquiring Goods or Services or Assets is called Expenditure.</a:t>
            </a:r>
            <a:endParaRPr lang="en-US"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Expenditure may be classified in three categories:</a:t>
            </a:r>
            <a:endParaRPr lang="en-US" sz="1800" b="1"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Capital Expenditure </a:t>
            </a:r>
            <a:r>
              <a:rPr lang="en-US" sz="1800" dirty="0">
                <a:latin typeface="Times New Roman" panose="02020603050405020304" pitchFamily="18" charset="0"/>
                <a:cs typeface="Times New Roman" panose="02020603050405020304" pitchFamily="18" charset="0"/>
              </a:rPr>
              <a:t>: All those Expenditures which are made on buying fixed assets or </a:t>
            </a:r>
            <a:r>
              <a:rPr lang="en-US" sz="1800" dirty="0" err="1">
                <a:latin typeface="Times New Roman" panose="02020603050405020304" pitchFamily="18" charset="0"/>
                <a:cs typeface="Times New Roman" panose="02020603050405020304" pitchFamily="18" charset="0"/>
              </a:rPr>
              <a:t>addinfg</a:t>
            </a:r>
            <a:r>
              <a:rPr lang="en-US" sz="1800" dirty="0">
                <a:latin typeface="Times New Roman" panose="02020603050405020304" pitchFamily="18" charset="0"/>
                <a:cs typeface="Times New Roman" panose="02020603050405020304" pitchFamily="18" charset="0"/>
              </a:rPr>
              <a:t> to their value are called capital expenditures. Ex.. Purchase of Land, Building, Computers…etc.</a:t>
            </a:r>
            <a:endParaRPr lang="en-US" sz="1800"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(ii)	</a:t>
            </a:r>
            <a:r>
              <a:rPr lang="en-US" sz="1800" b="1" dirty="0">
                <a:latin typeface="Times New Roman" panose="02020603050405020304" pitchFamily="18" charset="0"/>
                <a:cs typeface="Times New Roman" panose="02020603050405020304" pitchFamily="18" charset="0"/>
              </a:rPr>
              <a:t>Revenue Expenditure </a:t>
            </a:r>
            <a:r>
              <a:rPr lang="en-US" sz="1800" dirty="0">
                <a:latin typeface="Times New Roman" panose="02020603050405020304" pitchFamily="18" charset="0"/>
                <a:cs typeface="Times New Roman" panose="02020603050405020304" pitchFamily="18" charset="0"/>
              </a:rPr>
              <a:t>: All those expenditures which are repeated within a certain period or on a certain date within a year. We can say that Expenditures incurred to carrying on the normal course of Business. Ex. Purchase of Goods and Services, Salaries, Wages…et.</a:t>
            </a:r>
            <a:endParaRPr lang="en-US" sz="1800" dirty="0">
              <a:latin typeface="Times New Roman" panose="02020603050405020304" pitchFamily="18" charset="0"/>
              <a:cs typeface="Times New Roman" panose="02020603050405020304" pitchFamily="18" charset="0"/>
            </a:endParaRPr>
          </a:p>
          <a:p>
            <a:pPr lvl="0" algn="just"/>
            <a:r>
              <a:rPr lang="en-US" sz="1800" dirty="0">
                <a:latin typeface="Times New Roman" panose="02020603050405020304" pitchFamily="18" charset="0"/>
                <a:cs typeface="Times New Roman" panose="02020603050405020304" pitchFamily="18" charset="0"/>
              </a:rPr>
              <a:t>(iii)	</a:t>
            </a:r>
            <a:r>
              <a:rPr lang="en-US" sz="1800" b="1" dirty="0">
                <a:latin typeface="Times New Roman" panose="02020603050405020304" pitchFamily="18" charset="0"/>
                <a:cs typeface="Times New Roman" panose="02020603050405020304" pitchFamily="18" charset="0"/>
              </a:rPr>
              <a:t>Deferred Revenue Expenditure </a:t>
            </a:r>
            <a:r>
              <a:rPr lang="en-US" sz="1800" dirty="0">
                <a:latin typeface="Times New Roman" panose="02020603050405020304" pitchFamily="18" charset="0"/>
                <a:cs typeface="Times New Roman" panose="02020603050405020304" pitchFamily="18" charset="0"/>
              </a:rPr>
              <a:t>: Those Expenditure whose </a:t>
            </a:r>
            <a:r>
              <a:rPr lang="en-US" sz="1800" dirty="0" err="1">
                <a:latin typeface="Times New Roman" panose="02020603050405020304" pitchFamily="18" charset="0"/>
                <a:cs typeface="Times New Roman" panose="02020603050405020304" pitchFamily="18" charset="0"/>
              </a:rPr>
              <a:t>usefullness</a:t>
            </a:r>
            <a:r>
              <a:rPr lang="en-US" sz="1800" dirty="0">
                <a:latin typeface="Times New Roman" panose="02020603050405020304" pitchFamily="18" charset="0"/>
                <a:cs typeface="Times New Roman" panose="02020603050405020304" pitchFamily="18" charset="0"/>
              </a:rPr>
              <a:t> extends over more than one accounting period i.e. large amount of money spent on Advertisement for launching a new product….etc..</a:t>
            </a:r>
            <a:endParaRPr lang="en-US" sz="1800" dirty="0">
              <a:latin typeface="Times New Roman" panose="02020603050405020304" pitchFamily="18" charset="0"/>
              <a:cs typeface="Times New Roman" panose="02020603050405020304" pitchFamily="18" charset="0"/>
            </a:endParaRPr>
          </a:p>
          <a:p>
            <a:pPr algn="just"/>
            <a:r>
              <a:rPr lang="en-US" sz="1800" b="1" dirty="0">
                <a:latin typeface="Times New Roman" panose="02020603050405020304" pitchFamily="18" charset="0"/>
                <a:cs typeface="Times New Roman" panose="02020603050405020304" pitchFamily="18" charset="0"/>
              </a:rPr>
              <a:t>Capital Receipts: </a:t>
            </a:r>
            <a:r>
              <a:rPr lang="en-US" sz="1800" dirty="0">
                <a:latin typeface="Times New Roman" panose="02020603050405020304" pitchFamily="18" charset="0"/>
                <a:cs typeface="Times New Roman" panose="02020603050405020304" pitchFamily="18" charset="0"/>
              </a:rPr>
              <a:t>Capital receipts</a:t>
            </a:r>
            <a:r>
              <a:rPr lang="en-US" sz="1800" b="1" dirty="0">
                <a:latin typeface="Times New Roman" panose="02020603050405020304" pitchFamily="18" charset="0"/>
                <a:cs typeface="Times New Roman" panose="02020603050405020304" pitchFamily="18" charset="0"/>
              </a:rPr>
              <a:t> </a:t>
            </a:r>
            <a:r>
              <a:rPr lang="en-US" sz="1800" dirty="0">
                <a:latin typeface="Times New Roman" panose="02020603050405020304" pitchFamily="18" charset="0"/>
                <a:cs typeface="Times New Roman" panose="02020603050405020304" pitchFamily="18" charset="0"/>
              </a:rPr>
              <a:t>are the result of decisions with long-term implications. They are receipts received occasionally not from the day-to-day business activities of a company. Most commonly, they involve selling one's assets or creating liabilities. </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 they are cash inflows from capital gains generated from the sale of investments or assets like buildings, land, or </a:t>
            </a:r>
            <a:r>
              <a:rPr lang="en-US" sz="1800" dirty="0" err="1">
                <a:latin typeface="Times New Roman" panose="02020603050405020304" pitchFamily="18" charset="0"/>
                <a:cs typeface="Times New Roman" panose="02020603050405020304" pitchFamily="18" charset="0"/>
              </a:rPr>
              <a:t>jewellery</a:t>
            </a:r>
            <a:r>
              <a:rPr lang="en-US" sz="180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p>
            <a:pPr lvl="0" algn="just"/>
            <a:endParaRPr lang="en-US" sz="1800" dirty="0">
              <a:latin typeface="Times New Roman" panose="02020603050405020304" pitchFamily="18" charset="0"/>
              <a:cs typeface="Times New Roman" panose="02020603050405020304" pitchFamily="18" charset="0"/>
            </a:endParaRPr>
          </a:p>
          <a:p>
            <a:pPr lvl="0" algn="just"/>
            <a:endParaRPr lang="en-IN" sz="1800" dirty="0">
              <a:latin typeface="Times New Roman" panose="02020603050405020304" pitchFamily="18" charset="0"/>
              <a:cs typeface="Times New Roman" panose="02020603050405020304" pitchFamily="18" charset="0"/>
            </a:endParaRPr>
          </a:p>
          <a:p>
            <a:pPr lvl="0" algn="just"/>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692696"/>
            <a:ext cx="8568952" cy="5544616"/>
          </a:xfrm>
        </p:spPr>
        <p:txBody>
          <a:bodyPr>
            <a:normAutofit fontScale="92500" lnSpcReduction="20000"/>
          </a:bodyPr>
          <a:lstStyle/>
          <a:p>
            <a:pPr algn="just"/>
            <a:r>
              <a:rPr lang="en-US" sz="1800" b="1" dirty="0">
                <a:latin typeface="Times New Roman" panose="02020603050405020304" pitchFamily="18" charset="0"/>
                <a:cs typeface="Times New Roman" panose="02020603050405020304" pitchFamily="18" charset="0"/>
              </a:rPr>
              <a:t>Revenue receipts </a:t>
            </a:r>
            <a:r>
              <a:rPr lang="en-US" sz="1800" dirty="0">
                <a:latin typeface="Times New Roman" panose="02020603050405020304" pitchFamily="18" charset="0"/>
                <a:cs typeface="Times New Roman" panose="02020603050405020304" pitchFamily="18" charset="0"/>
              </a:rPr>
              <a:t>refer to the receipts of income which a company or government makes from its day-to-day activities. It does not involve the creation of liabilities or the sale of assets. It is a function of the products and services which are offered in the market.</a:t>
            </a:r>
            <a:endParaRPr lang="en-US"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These revenues are recurring in nature as they are the products of the daily business of a company or government. It is part of the profit-and-loss or income statement of a company.</a:t>
            </a:r>
            <a:endParaRPr lang="en-US" sz="1800" b="1"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Debtors : </a:t>
            </a:r>
            <a:r>
              <a:rPr lang="en-US" sz="1800" dirty="0">
                <a:latin typeface="Times New Roman" panose="02020603050405020304" pitchFamily="18" charset="0"/>
                <a:cs typeface="Times New Roman" panose="02020603050405020304" pitchFamily="18" charset="0"/>
              </a:rPr>
              <a:t>A Debtor is a person who owes money or debts to the Business. Trade Debtors refer to those persons, firms or companies who owe money or debts to the firm.</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Creditors : </a:t>
            </a:r>
            <a:r>
              <a:rPr lang="en-US" sz="1800" dirty="0">
                <a:latin typeface="Times New Roman" panose="02020603050405020304" pitchFamily="18" charset="0"/>
                <a:cs typeface="Times New Roman" panose="02020603050405020304" pitchFamily="18" charset="0"/>
              </a:rPr>
              <a:t>A Creditor is a person to whom the business owes money. Trade Creditors refer to those persons or firms to whom the business entity owe money.</a:t>
            </a:r>
            <a:endParaRPr lang="en-IN" sz="1800" dirty="0">
              <a:latin typeface="Times New Roman" panose="02020603050405020304" pitchFamily="18" charset="0"/>
              <a:cs typeface="Times New Roman" panose="02020603050405020304" pitchFamily="18" charset="0"/>
            </a:endParaRPr>
          </a:p>
          <a:p>
            <a:pPr lvl="0" algn="just"/>
            <a:r>
              <a:rPr lang="en-US" sz="1800" b="1" dirty="0">
                <a:latin typeface="Times New Roman" panose="02020603050405020304" pitchFamily="18" charset="0"/>
                <a:cs typeface="Times New Roman" panose="02020603050405020304" pitchFamily="18" charset="0"/>
              </a:rPr>
              <a:t>Goods : </a:t>
            </a:r>
            <a:r>
              <a:rPr lang="en-US" sz="1800" dirty="0">
                <a:latin typeface="Times New Roman" panose="02020603050405020304" pitchFamily="18" charset="0"/>
                <a:cs typeface="Times New Roman" panose="02020603050405020304" pitchFamily="18" charset="0"/>
              </a:rPr>
              <a:t>All those things </a:t>
            </a:r>
            <a:r>
              <a:rPr lang="en-US" sz="1800" dirty="0" err="1">
                <a:latin typeface="Times New Roman" panose="02020603050405020304" pitchFamily="18" charset="0"/>
                <a:cs typeface="Times New Roman" panose="02020603050405020304" pitchFamily="18" charset="0"/>
              </a:rPr>
              <a:t>merchendise</a:t>
            </a:r>
            <a:r>
              <a:rPr lang="en-US" sz="1800" dirty="0">
                <a:latin typeface="Times New Roman" panose="02020603050405020304" pitchFamily="18" charset="0"/>
                <a:cs typeface="Times New Roman" panose="02020603050405020304" pitchFamily="18" charset="0"/>
              </a:rPr>
              <a:t>, commodities, products, articles which are </a:t>
            </a:r>
            <a:r>
              <a:rPr lang="en-US" sz="1800" dirty="0" err="1">
                <a:latin typeface="Times New Roman" panose="02020603050405020304" pitchFamily="18" charset="0"/>
                <a:cs typeface="Times New Roman" panose="02020603050405020304" pitchFamily="18" charset="0"/>
              </a:rPr>
              <a:t>maily</a:t>
            </a:r>
            <a:r>
              <a:rPr lang="en-US" sz="1800" dirty="0">
                <a:latin typeface="Times New Roman" panose="02020603050405020304" pitchFamily="18" charset="0"/>
                <a:cs typeface="Times New Roman" panose="02020603050405020304" pitchFamily="18" charset="0"/>
              </a:rPr>
              <a:t> traded in the business; Thus goods refers to those things which are purchased for reselling at a certain rate of profits.</a:t>
            </a:r>
            <a:endParaRPr lang="en-IN" sz="1800" dirty="0">
              <a:latin typeface="Times New Roman" panose="02020603050405020304" pitchFamily="18" charset="0"/>
              <a:cs typeface="Times New Roman" panose="02020603050405020304" pitchFamily="18" charset="0"/>
            </a:endParaRPr>
          </a:p>
          <a:p>
            <a:pPr algn="just"/>
            <a:r>
              <a:rPr lang="en-US" sz="1800" dirty="0">
                <a:latin typeface="Times New Roman" panose="02020603050405020304" pitchFamily="18" charset="0"/>
                <a:cs typeface="Times New Roman" panose="02020603050405020304" pitchFamily="18" charset="0"/>
              </a:rPr>
              <a:t>Goods are classified into five categories from recording point of view :</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Purchased Goods: </a:t>
            </a:r>
            <a:r>
              <a:rPr lang="en-US" sz="1800" dirty="0">
                <a:latin typeface="Times New Roman" panose="02020603050405020304" pitchFamily="18" charset="0"/>
                <a:cs typeface="Times New Roman" panose="02020603050405020304" pitchFamily="18" charset="0"/>
              </a:rPr>
              <a:t>(Purchases A/c)</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Sold Goods : </a:t>
            </a:r>
            <a:r>
              <a:rPr lang="en-US" sz="1800" dirty="0">
                <a:latin typeface="Times New Roman" panose="02020603050405020304" pitchFamily="18" charset="0"/>
                <a:cs typeface="Times New Roman" panose="02020603050405020304" pitchFamily="18" charset="0"/>
              </a:rPr>
              <a:t>(Sales A/c)</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Purchases Returned Goods/ Returns Outwards : </a:t>
            </a:r>
            <a:r>
              <a:rPr lang="en-US" sz="1800" dirty="0">
                <a:latin typeface="Times New Roman" panose="02020603050405020304" pitchFamily="18" charset="0"/>
                <a:cs typeface="Times New Roman" panose="02020603050405020304" pitchFamily="18" charset="0"/>
              </a:rPr>
              <a:t>(P.R. A/c | R.O. A/c)</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Sales Returned Goods/ Returns Inward </a:t>
            </a:r>
            <a:r>
              <a:rPr lang="en-US" sz="1800" dirty="0">
                <a:latin typeface="Times New Roman" panose="02020603050405020304" pitchFamily="18" charset="0"/>
                <a:cs typeface="Times New Roman" panose="02020603050405020304" pitchFamily="18" charset="0"/>
              </a:rPr>
              <a:t>: (S.R. A/c | R.I. A/c)</a:t>
            </a:r>
            <a:endParaRPr lang="en-IN" sz="1800" dirty="0">
              <a:latin typeface="Times New Roman" panose="02020603050405020304" pitchFamily="18" charset="0"/>
              <a:cs typeface="Times New Roman" panose="02020603050405020304" pitchFamily="18" charset="0"/>
            </a:endParaRPr>
          </a:p>
          <a:p>
            <a:pPr lvl="1" algn="just"/>
            <a:r>
              <a:rPr lang="en-US" sz="1800" i="1" dirty="0">
                <a:latin typeface="Times New Roman" panose="02020603050405020304" pitchFamily="18" charset="0"/>
                <a:cs typeface="Times New Roman" panose="02020603050405020304" pitchFamily="18" charset="0"/>
              </a:rPr>
              <a:t>Unsold Goods </a:t>
            </a:r>
            <a:r>
              <a:rPr lang="en-US" sz="1800" dirty="0">
                <a:latin typeface="Times New Roman" panose="02020603050405020304" pitchFamily="18" charset="0"/>
                <a:cs typeface="Times New Roman" panose="02020603050405020304" pitchFamily="18" charset="0"/>
              </a:rPr>
              <a:t>: (Stock A/c)</a:t>
            </a:r>
            <a:endParaRPr lang="en-IN" sz="1800" dirty="0">
              <a:latin typeface="Times New Roman" panose="02020603050405020304" pitchFamily="18" charset="0"/>
              <a:cs typeface="Times New Roman" panose="02020603050405020304" pitchFamily="18" charset="0"/>
            </a:endParaRPr>
          </a:p>
          <a:p>
            <a:pPr algn="just"/>
            <a:endParaRPr lang="en-IN"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764704"/>
            <a:ext cx="8424936" cy="4608512"/>
          </a:xfrm>
        </p:spPr>
        <p:txBody>
          <a:bodyPr>
            <a:normAutofit fontScale="92500" lnSpcReduction="20000"/>
          </a:bodyPr>
          <a:lstStyle/>
          <a:p>
            <a:pPr lvl="0"/>
            <a:r>
              <a:rPr lang="en-US" sz="2000" b="1" dirty="0">
                <a:latin typeface="Times New Roman" panose="02020603050405020304" pitchFamily="18" charset="0"/>
                <a:cs typeface="Times New Roman" panose="02020603050405020304" pitchFamily="18" charset="0"/>
              </a:rPr>
              <a:t>Stock/Inventory : </a:t>
            </a:r>
            <a:r>
              <a:rPr lang="en-US" sz="2000" dirty="0">
                <a:latin typeface="Times New Roman" panose="02020603050405020304" pitchFamily="18" charset="0"/>
                <a:cs typeface="Times New Roman" panose="02020603050405020304" pitchFamily="18" charset="0"/>
              </a:rPr>
              <a:t>The value of Unsold Goods, Spares and other Items lying in the business on any given date are called stock in hand.</a:t>
            </a:r>
            <a:endParaRPr lang="en-IN"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Stock maybe classified into two groups:</a:t>
            </a:r>
            <a:endParaRPr lang="en-IN" sz="2000" dirty="0">
              <a:latin typeface="Times New Roman" panose="02020603050405020304" pitchFamily="18" charset="0"/>
              <a:cs typeface="Times New Roman" panose="02020603050405020304" pitchFamily="18" charset="0"/>
            </a:endParaRPr>
          </a:p>
          <a:p>
            <a:pPr lvl="1"/>
            <a:r>
              <a:rPr lang="en-US" sz="2000" i="1" dirty="0">
                <a:latin typeface="Times New Roman" panose="02020603050405020304" pitchFamily="18" charset="0"/>
                <a:cs typeface="Times New Roman" panose="02020603050405020304" pitchFamily="18" charset="0"/>
              </a:rPr>
              <a:t>Opening Stock : </a:t>
            </a:r>
            <a:r>
              <a:rPr lang="en-US" sz="2000" dirty="0">
                <a:latin typeface="Times New Roman" panose="02020603050405020304" pitchFamily="18" charset="0"/>
                <a:cs typeface="Times New Roman" panose="02020603050405020304" pitchFamily="18" charset="0"/>
              </a:rPr>
              <a:t>Unsold Goods at the beginning of the accounting period</a:t>
            </a:r>
            <a:endParaRPr lang="en-IN" sz="2000" dirty="0">
              <a:latin typeface="Times New Roman" panose="02020603050405020304" pitchFamily="18" charset="0"/>
              <a:cs typeface="Times New Roman" panose="02020603050405020304" pitchFamily="18" charset="0"/>
            </a:endParaRPr>
          </a:p>
          <a:p>
            <a:pPr lvl="1"/>
            <a:r>
              <a:rPr lang="en-US" sz="2000" i="1" dirty="0">
                <a:latin typeface="Times New Roman" panose="02020603050405020304" pitchFamily="18" charset="0"/>
                <a:cs typeface="Times New Roman" panose="02020603050405020304" pitchFamily="18" charset="0"/>
              </a:rPr>
              <a:t>Closing Stock : </a:t>
            </a:r>
            <a:r>
              <a:rPr lang="en-US" sz="2000" dirty="0">
                <a:latin typeface="Times New Roman" panose="02020603050405020304" pitchFamily="18" charset="0"/>
                <a:cs typeface="Times New Roman" panose="02020603050405020304" pitchFamily="18" charset="0"/>
              </a:rPr>
              <a:t>Unsold goods at the end of the Accounting period.</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Inventory </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Tanagible</a:t>
            </a:r>
            <a:r>
              <a:rPr lang="en-US" sz="2000" dirty="0">
                <a:latin typeface="Times New Roman" panose="02020603050405020304" pitchFamily="18" charset="0"/>
                <a:cs typeface="Times New Roman" panose="02020603050405020304" pitchFamily="18" charset="0"/>
              </a:rPr>
              <a:t> property held for sale in the ordinary course of business are known as Inventory.</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Live Stock : </a:t>
            </a:r>
            <a:r>
              <a:rPr lang="en-US" sz="2000" dirty="0">
                <a:latin typeface="Times New Roman" panose="02020603050405020304" pitchFamily="18" charset="0"/>
                <a:cs typeface="Times New Roman" panose="02020603050405020304" pitchFamily="18" charset="0"/>
              </a:rPr>
              <a:t>Animals, Horses etc…. used in trade are called Live Stock.</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Dead Stock : </a:t>
            </a:r>
            <a:r>
              <a:rPr lang="en-US" sz="2000" dirty="0">
                <a:latin typeface="Times New Roman" panose="02020603050405020304" pitchFamily="18" charset="0"/>
                <a:cs typeface="Times New Roman" panose="02020603050405020304" pitchFamily="18" charset="0"/>
              </a:rPr>
              <a:t>Assets which are </a:t>
            </a:r>
            <a:r>
              <a:rPr lang="en-US" sz="2000" dirty="0" err="1">
                <a:latin typeface="Times New Roman" panose="02020603050405020304" pitchFamily="18" charset="0"/>
                <a:cs typeface="Times New Roman" panose="02020603050405020304" pitchFamily="18" charset="0"/>
              </a:rPr>
              <a:t>contineously</a:t>
            </a:r>
            <a:r>
              <a:rPr lang="en-US" sz="2000" dirty="0">
                <a:latin typeface="Times New Roman" panose="02020603050405020304" pitchFamily="18" charset="0"/>
                <a:cs typeface="Times New Roman" panose="02020603050405020304" pitchFamily="18" charset="0"/>
              </a:rPr>
              <a:t> in trade circulation are Dead Stock. i.e. furniture, Machinery . etc..</a:t>
            </a:r>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Profit : </a:t>
            </a:r>
            <a:r>
              <a:rPr lang="en-US" sz="2000" dirty="0">
                <a:latin typeface="Times New Roman" panose="02020603050405020304" pitchFamily="18" charset="0"/>
                <a:cs typeface="Times New Roman" panose="02020603050405020304" pitchFamily="18" charset="0"/>
              </a:rPr>
              <a:t>Profit is a general term for the access of revenue over related cost.</a:t>
            </a:r>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Gain : </a:t>
            </a:r>
            <a:r>
              <a:rPr lang="en-US" sz="2000" dirty="0">
                <a:latin typeface="Times New Roman" panose="02020603050405020304" pitchFamily="18" charset="0"/>
                <a:cs typeface="Times New Roman" panose="02020603050405020304" pitchFamily="18" charset="0"/>
              </a:rPr>
              <a:t>Profit earned from non-operating activities is known as Gain.</a:t>
            </a:r>
            <a:endParaRPr lang="en-IN" sz="2000" dirty="0">
              <a:latin typeface="Times New Roman" panose="02020603050405020304" pitchFamily="18" charset="0"/>
              <a:cs typeface="Times New Roman" panose="02020603050405020304" pitchFamily="18" charset="0"/>
            </a:endParaRPr>
          </a:p>
          <a:p>
            <a:pPr lvl="0"/>
            <a:r>
              <a:rPr lang="en-US" sz="2000" b="1" dirty="0">
                <a:latin typeface="Times New Roman" panose="02020603050405020304" pitchFamily="18" charset="0"/>
                <a:cs typeface="Times New Roman" panose="02020603050405020304" pitchFamily="18" charset="0"/>
              </a:rPr>
              <a:t>Voucher : </a:t>
            </a:r>
            <a:r>
              <a:rPr lang="en-US" sz="2000" dirty="0">
                <a:latin typeface="Times New Roman" panose="02020603050405020304" pitchFamily="18" charset="0"/>
                <a:cs typeface="Times New Roman" panose="02020603050405020304" pitchFamily="18" charset="0"/>
              </a:rPr>
              <a:t>Voucher is a written </a:t>
            </a:r>
            <a:r>
              <a:rPr lang="en-US" sz="2000" dirty="0" err="1">
                <a:latin typeface="Times New Roman" panose="02020603050405020304" pitchFamily="18" charset="0"/>
                <a:cs typeface="Times New Roman" panose="02020603050405020304" pitchFamily="18" charset="0"/>
              </a:rPr>
              <a:t>documentry</a:t>
            </a:r>
            <a:r>
              <a:rPr lang="en-US" sz="2000" dirty="0">
                <a:latin typeface="Times New Roman" panose="02020603050405020304" pitchFamily="18" charset="0"/>
                <a:cs typeface="Times New Roman" panose="02020603050405020304" pitchFamily="18" charset="0"/>
              </a:rPr>
              <a:t> evidence of business transactions on its basis transaction are recorded in the books of accounts.</a:t>
            </a:r>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620688"/>
            <a:ext cx="8208911" cy="4680520"/>
          </a:xfrm>
        </p:spPr>
        <p:txBody>
          <a:bodyPr>
            <a:noAutofit/>
          </a:bodyPr>
          <a:lstStyle/>
          <a:p>
            <a:pPr lvl="0"/>
            <a:r>
              <a:rPr lang="en-US" sz="1900" b="1" dirty="0">
                <a:latin typeface="Times New Roman" panose="02020603050405020304" pitchFamily="18" charset="0"/>
                <a:cs typeface="Times New Roman" panose="02020603050405020304" pitchFamily="18" charset="0"/>
              </a:rPr>
              <a:t>Discount: </a:t>
            </a:r>
            <a:r>
              <a:rPr lang="en-US" sz="1900" dirty="0">
                <a:latin typeface="Times New Roman" panose="02020603050405020304" pitchFamily="18" charset="0"/>
                <a:cs typeface="Times New Roman" panose="02020603050405020304" pitchFamily="18" charset="0"/>
              </a:rPr>
              <a:t>Discount is a concession or deduction in the price of Goods or Services given by the Seller to the Buyer.</a:t>
            </a:r>
            <a:r>
              <a:rPr lang="en-IN" sz="1900"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Discount may be of the following types:</a:t>
            </a:r>
            <a:endParaRPr lang="en-IN" sz="1900" dirty="0">
              <a:latin typeface="Times New Roman" panose="02020603050405020304" pitchFamily="18" charset="0"/>
              <a:cs typeface="Times New Roman" panose="02020603050405020304" pitchFamily="18" charset="0"/>
            </a:endParaRPr>
          </a:p>
          <a:p>
            <a:pPr lvl="1"/>
            <a:r>
              <a:rPr lang="en-US" sz="1900" dirty="0">
                <a:latin typeface="Times New Roman" panose="02020603050405020304" pitchFamily="18" charset="0"/>
                <a:cs typeface="Times New Roman" panose="02020603050405020304" pitchFamily="18" charset="0"/>
              </a:rPr>
              <a:t>Trade Discount</a:t>
            </a:r>
            <a:endParaRPr lang="en-IN" sz="1900" dirty="0">
              <a:latin typeface="Times New Roman" panose="02020603050405020304" pitchFamily="18" charset="0"/>
              <a:cs typeface="Times New Roman" panose="02020603050405020304" pitchFamily="18" charset="0"/>
            </a:endParaRPr>
          </a:p>
          <a:p>
            <a:pPr lvl="1"/>
            <a:r>
              <a:rPr lang="en-US" sz="1900" dirty="0">
                <a:latin typeface="Times New Roman" panose="02020603050405020304" pitchFamily="18" charset="0"/>
                <a:cs typeface="Times New Roman" panose="02020603050405020304" pitchFamily="18" charset="0"/>
              </a:rPr>
              <a:t>Cash Discount</a:t>
            </a:r>
            <a:endParaRPr lang="en-IN" sz="1900" dirty="0">
              <a:latin typeface="Times New Roman" panose="02020603050405020304" pitchFamily="18" charset="0"/>
              <a:cs typeface="Times New Roman" panose="02020603050405020304" pitchFamily="18" charset="0"/>
            </a:endParaRPr>
          </a:p>
          <a:p>
            <a:pPr lvl="0"/>
            <a:r>
              <a:rPr lang="en-US" sz="1900" b="1" dirty="0">
                <a:latin typeface="Times New Roman" panose="02020603050405020304" pitchFamily="18" charset="0"/>
                <a:cs typeface="Times New Roman" panose="02020603050405020304" pitchFamily="18" charset="0"/>
              </a:rPr>
              <a:t>Trades Receivable/Account Receivable : </a:t>
            </a:r>
            <a:r>
              <a:rPr lang="en-US" sz="1900" dirty="0">
                <a:latin typeface="Times New Roman" panose="02020603050405020304" pitchFamily="18" charset="0"/>
                <a:cs typeface="Times New Roman" panose="02020603050405020304" pitchFamily="18" charset="0"/>
              </a:rPr>
              <a:t>The amount owing to a business from customers or debtors for invoiced amount are called Trade Receivables.</a:t>
            </a:r>
            <a:endParaRPr lang="en-IN" sz="1900" dirty="0">
              <a:latin typeface="Times New Roman" panose="02020603050405020304" pitchFamily="18" charset="0"/>
              <a:cs typeface="Times New Roman" panose="02020603050405020304" pitchFamily="18" charset="0"/>
            </a:endParaRPr>
          </a:p>
          <a:p>
            <a:r>
              <a:rPr lang="en-US" sz="1900" b="1" dirty="0">
                <a:latin typeface="Times New Roman" panose="02020603050405020304" pitchFamily="18" charset="0"/>
                <a:cs typeface="Times New Roman" panose="02020603050405020304" pitchFamily="18" charset="0"/>
              </a:rPr>
              <a:t>Trade Receivable = Bills Receivable + Trade Creditors</a:t>
            </a:r>
            <a:endParaRPr lang="en-IN" sz="1900" dirty="0">
              <a:latin typeface="Times New Roman" panose="02020603050405020304" pitchFamily="18" charset="0"/>
              <a:cs typeface="Times New Roman" panose="02020603050405020304" pitchFamily="18" charset="0"/>
            </a:endParaRPr>
          </a:p>
          <a:p>
            <a:pPr lvl="0"/>
            <a:r>
              <a:rPr lang="en-US" sz="1900" b="1" dirty="0">
                <a:latin typeface="Times New Roman" panose="02020603050405020304" pitchFamily="18" charset="0"/>
                <a:cs typeface="Times New Roman" panose="02020603050405020304" pitchFamily="18" charset="0"/>
              </a:rPr>
              <a:t>Trades Payable/Account payable: </a:t>
            </a:r>
            <a:r>
              <a:rPr lang="en-US" sz="1900" dirty="0">
                <a:latin typeface="Times New Roman" panose="02020603050405020304" pitchFamily="18" charset="0"/>
                <a:cs typeface="Times New Roman" panose="02020603050405020304" pitchFamily="18" charset="0"/>
              </a:rPr>
              <a:t>The amount owed by a business to suppliers for goods and services. It is total sum of trade creditors and bills payables.</a:t>
            </a:r>
            <a:endParaRPr lang="en-IN" sz="1900" dirty="0">
              <a:latin typeface="Times New Roman" panose="02020603050405020304" pitchFamily="18" charset="0"/>
              <a:cs typeface="Times New Roman" panose="02020603050405020304" pitchFamily="18" charset="0"/>
            </a:endParaRPr>
          </a:p>
          <a:p>
            <a:pPr lvl="0"/>
            <a:r>
              <a:rPr lang="en-US" sz="1900" b="1" dirty="0">
                <a:latin typeface="Times New Roman" panose="02020603050405020304" pitchFamily="18" charset="0"/>
                <a:cs typeface="Times New Roman" panose="02020603050405020304" pitchFamily="18" charset="0"/>
              </a:rPr>
              <a:t>Bad Debts: </a:t>
            </a:r>
            <a:r>
              <a:rPr lang="en-US" sz="1900" dirty="0">
                <a:latin typeface="Times New Roman" panose="02020603050405020304" pitchFamily="18" charset="0"/>
                <a:cs typeface="Times New Roman" panose="02020603050405020304" pitchFamily="18" charset="0"/>
              </a:rPr>
              <a:t>A debt which is irrecoverable from debtors or customers is called Bad debts.</a:t>
            </a:r>
            <a:endParaRPr lang="en-IN" sz="1900" dirty="0">
              <a:latin typeface="Times New Roman" panose="02020603050405020304" pitchFamily="18" charset="0"/>
              <a:cs typeface="Times New Roman" panose="02020603050405020304" pitchFamily="18" charset="0"/>
            </a:endParaRPr>
          </a:p>
          <a:p>
            <a:pPr lvl="0"/>
            <a:r>
              <a:rPr lang="en-US" sz="1900" b="1" dirty="0">
                <a:latin typeface="Times New Roman" panose="02020603050405020304" pitchFamily="18" charset="0"/>
                <a:cs typeface="Times New Roman" panose="02020603050405020304" pitchFamily="18" charset="0"/>
              </a:rPr>
              <a:t>Debit: </a:t>
            </a:r>
            <a:r>
              <a:rPr lang="en-US" sz="1900" dirty="0">
                <a:latin typeface="Times New Roman" panose="02020603050405020304" pitchFamily="18" charset="0"/>
                <a:cs typeface="Times New Roman" panose="02020603050405020304" pitchFamily="18" charset="0"/>
              </a:rPr>
              <a:t>Left Hand Side (L.H.S.) of an account is known as Debit side.</a:t>
            </a:r>
            <a:endParaRPr lang="en-IN" sz="1900" dirty="0">
              <a:latin typeface="Times New Roman" panose="02020603050405020304" pitchFamily="18" charset="0"/>
              <a:cs typeface="Times New Roman" panose="02020603050405020304" pitchFamily="18" charset="0"/>
            </a:endParaRPr>
          </a:p>
          <a:p>
            <a:pPr lvl="0"/>
            <a:r>
              <a:rPr lang="en-US" sz="1900" b="1" dirty="0">
                <a:latin typeface="Times New Roman" panose="02020603050405020304" pitchFamily="18" charset="0"/>
                <a:cs typeface="Times New Roman" panose="02020603050405020304" pitchFamily="18" charset="0"/>
              </a:rPr>
              <a:t>Credit : </a:t>
            </a:r>
            <a:r>
              <a:rPr lang="en-US" sz="1900" dirty="0">
                <a:latin typeface="Times New Roman" panose="02020603050405020304" pitchFamily="18" charset="0"/>
                <a:cs typeface="Times New Roman" panose="02020603050405020304" pitchFamily="18" charset="0"/>
              </a:rPr>
              <a:t>Right Hand Side (R.H.S.) of an account is known as Credit side.</a:t>
            </a:r>
            <a:endParaRPr lang="en-IN" sz="1900" dirty="0">
              <a:latin typeface="Times New Roman" panose="02020603050405020304" pitchFamily="18" charset="0"/>
              <a:cs typeface="Times New Roman" panose="02020603050405020304" pitchFamily="18" charset="0"/>
            </a:endParaRPr>
          </a:p>
          <a:p>
            <a:pPr marL="0" indent="0">
              <a:buNone/>
            </a:pPr>
            <a:br>
              <a:rPr lang="en-US" sz="1900" dirty="0">
                <a:latin typeface="Times New Roman" panose="02020603050405020304" pitchFamily="18" charset="0"/>
                <a:cs typeface="Times New Roman" panose="02020603050405020304" pitchFamily="18" charset="0"/>
              </a:rPr>
            </a:br>
            <a:endParaRPr lang="en-IN" sz="19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620688"/>
            <a:ext cx="7643192" cy="706090"/>
          </a:xfrm>
        </p:spPr>
        <p:txBody>
          <a:bodyPr>
            <a:normAutofit fontScale="90000"/>
          </a:bodyPr>
          <a:lstStyle/>
          <a:p>
            <a:r>
              <a:rPr lang="en-US" b="1" dirty="0">
                <a:latin typeface="Times New Roman" panose="02020603050405020304" pitchFamily="18" charset="0"/>
                <a:cs typeface="Times New Roman" panose="02020603050405020304" pitchFamily="18" charset="0"/>
              </a:rPr>
              <a:t>Accounting Concepts</a:t>
            </a:r>
            <a:br>
              <a:rPr lang="en-US" b="1"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79512" y="1326778"/>
            <a:ext cx="8856984" cy="5054549"/>
          </a:xfrm>
        </p:spPr>
        <p:txBody>
          <a:bodyPr>
            <a:normAutofit fontScale="92500" lnSpcReduction="10000"/>
          </a:bodyPr>
          <a:lstStyle/>
          <a:p>
            <a:pPr marL="0" indent="0" algn="just">
              <a:buNone/>
            </a:pPr>
            <a:r>
              <a:rPr lang="en-US" sz="2000" dirty="0">
                <a:latin typeface="Times New Roman" panose="02020603050405020304" pitchFamily="18" charset="0"/>
                <a:cs typeface="Times New Roman" panose="02020603050405020304" pitchFamily="18" charset="0"/>
              </a:rPr>
              <a:t>The </a:t>
            </a:r>
            <a:r>
              <a:rPr lang="en-US" sz="2000" b="1" dirty="0">
                <a:latin typeface="Times New Roman" panose="02020603050405020304" pitchFamily="18" charset="0"/>
                <a:cs typeface="Times New Roman" panose="02020603050405020304" pitchFamily="18" charset="0"/>
              </a:rPr>
              <a:t>accounting concept</a:t>
            </a:r>
            <a:r>
              <a:rPr lang="en-US" sz="2000" dirty="0">
                <a:latin typeface="Times New Roman" panose="02020603050405020304" pitchFamily="18" charset="0"/>
                <a:cs typeface="Times New Roman" panose="02020603050405020304" pitchFamily="18" charset="0"/>
              </a:rPr>
              <a:t> is a </a:t>
            </a:r>
            <a:r>
              <a:rPr lang="en-US" sz="2000" b="1" dirty="0">
                <a:latin typeface="Times New Roman" panose="02020603050405020304" pitchFamily="18" charset="0"/>
                <a:cs typeface="Times New Roman" panose="02020603050405020304" pitchFamily="18" charset="0"/>
              </a:rPr>
              <a:t>process that helps prepare and record</a:t>
            </a:r>
            <a:r>
              <a:rPr lang="en-US" sz="2000" dirty="0">
                <a:latin typeface="Times New Roman" panose="02020603050405020304" pitchFamily="18" charset="0"/>
                <a:cs typeface="Times New Roman" panose="02020603050405020304" pitchFamily="18" charset="0"/>
              </a:rPr>
              <a:t> the financial transactions in an </a:t>
            </a:r>
            <a:r>
              <a:rPr lang="en-US" sz="2000" dirty="0" err="1">
                <a:latin typeface="Times New Roman" panose="02020603050405020304" pitchFamily="18" charset="0"/>
                <a:cs typeface="Times New Roman" panose="02020603050405020304" pitchFamily="18" charset="0"/>
              </a:rPr>
              <a:t>organisation</a:t>
            </a:r>
            <a:r>
              <a:rPr lang="en-US" sz="2000" dirty="0">
                <a:latin typeface="Times New Roman" panose="02020603050405020304" pitchFamily="18" charset="0"/>
                <a:cs typeface="Times New Roman" panose="02020603050405020304" pitchFamily="18" charset="0"/>
              </a:rPr>
              <a:t>, along with </a:t>
            </a:r>
            <a:r>
              <a:rPr lang="en-US" sz="2000" dirty="0" err="1">
                <a:latin typeface="Times New Roman" panose="02020603050405020304" pitchFamily="18" charset="0"/>
                <a:cs typeface="Times New Roman" panose="02020603050405020304" pitchFamily="18" charset="0"/>
              </a:rPr>
              <a:t>organising</a:t>
            </a:r>
            <a:r>
              <a:rPr lang="en-US" sz="2000" dirty="0">
                <a:latin typeface="Times New Roman" panose="02020603050405020304" pitchFamily="18" charset="0"/>
                <a:cs typeface="Times New Roman" panose="02020603050405020304" pitchFamily="18" charset="0"/>
              </a:rPr>
              <a:t> the bookkeeping processes. When you implement accounting concepts effectively, it encourages businesses to integrate and interpret financial transactions into meaningful accounting processes.</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To understand the above-discussed types of accounting concepts, you need to have a practical understanding so as to implement the same. Here are some examples of each accounting concept you read above.</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Going concern concept</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In the case of this concept, when valuing its machinery and equipment on the balance sheet, a manufacturing firm expects it will be used for a lengthy period of time, indicating the notion that the business would continue operations indefinitely.</a:t>
            </a: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dirty="0">
                <a:latin typeface="Times New Roman" panose="02020603050405020304" pitchFamily="18" charset="0"/>
                <a:cs typeface="Times New Roman" panose="02020603050405020304" pitchFamily="18" charset="0"/>
              </a:rPr>
              <a:t>Business entity concept</a:t>
            </a:r>
            <a:endParaRPr lang="en-US" sz="2000" b="1" dirty="0">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If the proprietor of a small firm buys a personal laptop, the firm entity concept guarantees that this personal spending is not reported in the company's financial records, preserving a clear boundary between personal and business operations.</a:t>
            </a:r>
            <a:endParaRPr lang="en-US" sz="2000" dirty="0">
              <a:latin typeface="Times New Roman" panose="02020603050405020304" pitchFamily="18" charset="0"/>
              <a:cs typeface="Times New Roman" panose="02020603050405020304" pitchFamily="18" charset="0"/>
            </a:endParaRPr>
          </a:p>
          <a:p>
            <a:pPr algn="just"/>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20688"/>
            <a:ext cx="9144000" cy="5256584"/>
          </a:xfrm>
        </p:spPr>
        <p:txBody>
          <a:bodyPr>
            <a:normAutofit fontScale="92500" lnSpcReduction="10000"/>
          </a:bodyPr>
          <a:lstStyle/>
          <a:p>
            <a:pPr algn="just"/>
            <a:r>
              <a:rPr lang="en-US" sz="2000" b="1" dirty="0">
                <a:latin typeface="Times New Roman" panose="02020603050405020304" pitchFamily="18" charset="0"/>
                <a:cs typeface="Times New Roman" panose="02020603050405020304" pitchFamily="18" charset="0"/>
              </a:rPr>
              <a:t>Accrual concept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The accrual concept is used by a consulting business that provides services, for example, in December but receives payment in January. The revenue is </a:t>
            </a:r>
            <a:r>
              <a:rPr lang="en-US" sz="2000" dirty="0" err="1">
                <a:latin typeface="Times New Roman" panose="02020603050405020304" pitchFamily="18" charset="0"/>
                <a:cs typeface="Times New Roman" panose="02020603050405020304" pitchFamily="18" charset="0"/>
              </a:rPr>
              <a:t>recognised</a:t>
            </a:r>
            <a:r>
              <a:rPr lang="en-US" sz="2000" dirty="0">
                <a:latin typeface="Times New Roman" panose="02020603050405020304" pitchFamily="18" charset="0"/>
                <a:cs typeface="Times New Roman" panose="02020603050405020304" pitchFamily="18" charset="0"/>
              </a:rPr>
              <a:t> in December when the service is delivered, regardless of the actual cash received.</a:t>
            </a: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Money measurement concept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When a corporation registers the acquisition of a new piece of machinery in monetary terms, it ensures that only transactions with quantifiable monetary worth are included in the financial statements.</a:t>
            </a: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Accounting period concept</a:t>
            </a: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A corporation that prepares quarterly financial statements follows the accounting period concept by disclosing its financial performance and position every three months, giving stakeholders timely insights into the company's growth.</a:t>
            </a: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Dual aspect concept</a:t>
            </a:r>
            <a:endParaRPr lang="en-US" sz="2000" b="1"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When a company borrows money from a bank, the dual aspect concept guarantees that both the liability (the loan) and the matching asset (cash) are recorded, keeping the basic accounting equation balanced.</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620688"/>
            <a:ext cx="9036496" cy="4752528"/>
          </a:xfrm>
        </p:spPr>
        <p:txBody>
          <a:bodyPr/>
          <a:lstStyle/>
          <a:p>
            <a:r>
              <a:rPr lang="en-US" sz="2000" b="1" dirty="0">
                <a:latin typeface="Times New Roman" panose="02020603050405020304" pitchFamily="18" charset="0"/>
                <a:cs typeface="Times New Roman" panose="02020603050405020304" pitchFamily="18" charset="0"/>
              </a:rPr>
              <a:t>Revenue </a:t>
            </a:r>
            <a:r>
              <a:rPr lang="en-US" sz="2000" b="1" dirty="0" err="1">
                <a:latin typeface="Times New Roman" panose="02020603050405020304" pitchFamily="18" charset="0"/>
                <a:cs typeface="Times New Roman" panose="02020603050405020304" pitchFamily="18" charset="0"/>
              </a:rPr>
              <a:t>realisation</a:t>
            </a:r>
            <a:r>
              <a:rPr lang="en-US" sz="2000" b="1" dirty="0">
                <a:latin typeface="Times New Roman" panose="02020603050405020304" pitchFamily="18" charset="0"/>
                <a:cs typeface="Times New Roman" panose="02020603050405020304" pitchFamily="18" charset="0"/>
              </a:rPr>
              <a:t> concept</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A software firm </a:t>
            </a:r>
            <a:r>
              <a:rPr lang="en-US" sz="2000" dirty="0" err="1">
                <a:latin typeface="Times New Roman" panose="02020603050405020304" pitchFamily="18" charset="0"/>
                <a:cs typeface="Times New Roman" panose="02020603050405020304" pitchFamily="18" charset="0"/>
              </a:rPr>
              <a:t>recognises</a:t>
            </a:r>
            <a:r>
              <a:rPr lang="en-US" sz="2000" dirty="0">
                <a:latin typeface="Times New Roman" panose="02020603050405020304" pitchFamily="18" charset="0"/>
                <a:cs typeface="Times New Roman" panose="02020603050405020304" pitchFamily="18" charset="0"/>
              </a:rPr>
              <a:t> revenue if a consumer purchases a software </a:t>
            </a:r>
            <a:r>
              <a:rPr lang="en-US" sz="2000" dirty="0" err="1">
                <a:latin typeface="Times New Roman" panose="02020603050405020304" pitchFamily="18" charset="0"/>
                <a:cs typeface="Times New Roman" panose="02020603050405020304" pitchFamily="18" charset="0"/>
              </a:rPr>
              <a:t>licence</a:t>
            </a:r>
            <a:r>
              <a:rPr lang="en-US" sz="2000" dirty="0">
                <a:latin typeface="Times New Roman" panose="02020603050405020304" pitchFamily="18" charset="0"/>
                <a:cs typeface="Times New Roman" panose="02020603050405020304" pitchFamily="18" charset="0"/>
              </a:rPr>
              <a:t>, regardless of when the payment is made. This use of the revenue </a:t>
            </a:r>
            <a:r>
              <a:rPr lang="en-US" sz="2000" dirty="0" err="1">
                <a:latin typeface="Times New Roman" panose="02020603050405020304" pitchFamily="18" charset="0"/>
                <a:cs typeface="Times New Roman" panose="02020603050405020304" pitchFamily="18" charset="0"/>
              </a:rPr>
              <a:t>realisation</a:t>
            </a:r>
            <a:r>
              <a:rPr lang="en-US" sz="2000" dirty="0">
                <a:latin typeface="Times New Roman" panose="02020603050405020304" pitchFamily="18" charset="0"/>
                <a:cs typeface="Times New Roman" panose="02020603050405020304" pitchFamily="18" charset="0"/>
              </a:rPr>
              <a:t> concept corresponds to completing the revenue-generating process.</a:t>
            </a:r>
            <a:endParaRPr lang="en-IN"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Historical cost concept</a:t>
            </a:r>
            <a:endParaRPr lang="en-US" sz="2000" b="1"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If a corporation buys a building, the historical cost concept requires the asset to be recorded at its original purchase price, giving a solid and objective foundation for the value of the financial statement.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18456" y="476672"/>
            <a:ext cx="6707088" cy="634082"/>
          </a:xfrm>
        </p:spPr>
        <p:txBody>
          <a:bodyPr>
            <a:normAutofit fontScale="90000"/>
          </a:bodyPr>
          <a:lstStyle/>
          <a:p>
            <a:r>
              <a:rPr lang="en-US" sz="3600" b="1" dirty="0"/>
              <a:t>Accounting Conventions</a:t>
            </a:r>
            <a:endParaRPr lang="en-IN" sz="3600" dirty="0"/>
          </a:p>
        </p:txBody>
      </p:sp>
      <p:sp>
        <p:nvSpPr>
          <p:cNvPr id="3" name="Content Placeholder 2"/>
          <p:cNvSpPr>
            <a:spLocks noGrp="1"/>
          </p:cNvSpPr>
          <p:nvPr>
            <p:ph idx="1"/>
          </p:nvPr>
        </p:nvSpPr>
        <p:spPr>
          <a:xfrm>
            <a:off x="29574" y="1110754"/>
            <a:ext cx="8862906" cy="5126558"/>
          </a:xfrm>
        </p:spPr>
        <p:txBody>
          <a:bodyPr>
            <a:normAutofit lnSpcReduction="10000"/>
          </a:bodyPr>
          <a:lstStyle/>
          <a:p>
            <a:pPr marL="0" indent="0">
              <a:buNone/>
            </a:pPr>
            <a:r>
              <a:rPr lang="en-US" sz="2000" dirty="0"/>
              <a:t>There are four main conventions in practice in accounting: conservatism; consistency; full disclosure; and materiality.</a:t>
            </a:r>
            <a:endParaRPr lang="en-US" sz="2000" dirty="0"/>
          </a:p>
          <a:p>
            <a:r>
              <a:rPr lang="en-US" sz="2000" b="1" dirty="0"/>
              <a:t>Conservatism</a:t>
            </a:r>
            <a:r>
              <a:rPr lang="en-US" sz="2000" dirty="0"/>
              <a:t> is the convention by which, when two values of a transaction are available, the lower-value transaction is recorded. By this convention, profit should never be overestimated, and there should always be a provision for losses.</a:t>
            </a:r>
            <a:endParaRPr lang="en-US" sz="2000" dirty="0"/>
          </a:p>
          <a:p>
            <a:r>
              <a:rPr lang="en-US" sz="2000" b="1" dirty="0"/>
              <a:t>Consistency</a:t>
            </a:r>
            <a:r>
              <a:rPr lang="en-US" sz="2000" dirty="0"/>
              <a:t> prescribes the use of the same accounting principles from one period of an accounting cycle to the next, so that the same standards are applied to calculate profit and loss.</a:t>
            </a:r>
            <a:endParaRPr lang="en-US" sz="2000" dirty="0"/>
          </a:p>
          <a:p>
            <a:r>
              <a:rPr lang="en-US" sz="2000" b="1" dirty="0"/>
              <a:t>Materiality</a:t>
            </a:r>
            <a:r>
              <a:rPr lang="en-US" sz="2000" dirty="0"/>
              <a:t> means that all material facts should be recorded in accounting. Accountants should record important data and leave out insignificant information.</a:t>
            </a:r>
            <a:endParaRPr lang="en-US" sz="2000" dirty="0"/>
          </a:p>
          <a:p>
            <a:r>
              <a:rPr lang="en-US" sz="2000" b="1" dirty="0"/>
              <a:t>Full disclosure</a:t>
            </a:r>
            <a:r>
              <a:rPr lang="en-US" sz="2000" dirty="0"/>
              <a:t> entails the revelation of all information, </a:t>
            </a:r>
            <a:r>
              <a:rPr lang="en-US" sz="2000"/>
              <a:t>both favorable </a:t>
            </a:r>
            <a:r>
              <a:rPr lang="en-US" sz="2000" dirty="0"/>
              <a:t>and detrimental to a business enterprise, and which are of material value to creditors and debtors.</a:t>
            </a:r>
            <a:endParaRPr lang="en-US" sz="2000" dirty="0"/>
          </a:p>
        </p:txBody>
      </p:sp>
    </p:spTree>
  </p:cSld>
  <p:clrMapOvr>
    <a:masterClrMapping/>
  </p:clrMapOvr>
</p:sld>
</file>

<file path=ppt/theme/theme1.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15470</Words>
  <Application>WPS Presentation</Application>
  <PresentationFormat>On-screen Show (4:3)</PresentationFormat>
  <Paragraphs>141</Paragraphs>
  <Slides>19</Slides>
  <Notes>0</Notes>
  <HiddenSlides>0</HiddenSlides>
  <MMClips>0</MMClips>
  <ScaleCrop>false</ScaleCrop>
  <HeadingPairs>
    <vt:vector size="6" baseType="variant">
      <vt:variant>
        <vt:lpstr>已用的字体</vt:lpstr>
      </vt:variant>
      <vt:variant>
        <vt:i4>11</vt:i4>
      </vt:variant>
      <vt:variant>
        <vt:lpstr>主题</vt:lpstr>
      </vt:variant>
      <vt:variant>
        <vt:i4>3</vt:i4>
      </vt:variant>
      <vt:variant>
        <vt:lpstr>幻灯片标题</vt:lpstr>
      </vt:variant>
      <vt:variant>
        <vt:i4>19</vt:i4>
      </vt:variant>
    </vt:vector>
  </HeadingPairs>
  <TitlesOfParts>
    <vt:vector size="33" baseType="lpstr">
      <vt:lpstr>Arial</vt:lpstr>
      <vt:lpstr>SimSun</vt:lpstr>
      <vt:lpstr>Wingdings</vt:lpstr>
      <vt:lpstr>Wingdings 3</vt:lpstr>
      <vt:lpstr>Arial</vt:lpstr>
      <vt:lpstr>Times New Roman</vt:lpstr>
      <vt:lpstr>Trebuchet MS</vt:lpstr>
      <vt:lpstr>Microsoft YaHei</vt:lpstr>
      <vt:lpstr>Arial Unicode MS</vt:lpstr>
      <vt:lpstr>Calibri</vt:lpstr>
      <vt:lpstr>Calibri Light</vt:lpstr>
      <vt:lpstr>1_Custom Design</vt:lpstr>
      <vt:lpstr>Custom Design</vt:lpstr>
      <vt:lpstr>Facet</vt:lpstr>
      <vt:lpstr>Management Accounting</vt:lpstr>
      <vt:lpstr>PowerPoint 演示文稿</vt:lpstr>
      <vt:lpstr>PowerPoint 演示文稿</vt:lpstr>
      <vt:lpstr>Sole Proprietorship</vt:lpstr>
      <vt:lpstr>Joint Hindu Family Business</vt:lpstr>
      <vt:lpstr>Partnership</vt:lpstr>
      <vt:lpstr>Cooperative Society</vt:lpstr>
      <vt:lpstr>Joint Stock Company</vt:lpstr>
      <vt:lpstr>BASIC ACCOUNTING TERMS </vt:lpstr>
      <vt:lpstr>PowerPoint 演示文稿</vt:lpstr>
      <vt:lpstr>PowerPoint 演示文稿</vt:lpstr>
      <vt:lpstr>PowerPoint 演示文稿</vt:lpstr>
      <vt:lpstr>PowerPoint 演示文稿</vt:lpstr>
      <vt:lpstr>PowerPoint 演示文稿</vt:lpstr>
      <vt:lpstr>PowerPoint 演示文稿</vt:lpstr>
      <vt:lpstr>Accounting Concepts </vt:lpstr>
      <vt:lpstr>PowerPoint 演示文稿</vt:lpstr>
      <vt:lpstr>PowerPoint 演示文稿</vt:lpstr>
      <vt:lpstr>Accounting Conventions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Priyanka</dc:creator>
  <cp:lastModifiedBy>SUBHRODIPTO BASU CHOUDHURY</cp:lastModifiedBy>
  <cp:revision>57</cp:revision>
  <dcterms:created xsi:type="dcterms:W3CDTF">2023-08-11T03:52:00Z</dcterms:created>
  <dcterms:modified xsi:type="dcterms:W3CDTF">2026-07-28T04:06:03Z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1033-12.1.0.27458</vt:lpwstr>
  </property>
  <property fmtid="{D5CDD505-2E9C-101B-9397-08002B2CF9AE}" pid="3" name="ICV">
    <vt:lpwstr>5A72E5F841A546279BEA5718FF9502F3_12</vt:lpwstr>
  </property>
</Properties>
</file>