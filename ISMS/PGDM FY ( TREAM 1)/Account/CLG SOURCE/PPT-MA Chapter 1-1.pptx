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3"/>
    <p:sldMasterId id="2147483670" r:id="rId4"/>
    <p:sldMasterId id="2147483682" r:id="rId5"/>
  </p:sldMasterIdLst>
  <p:notesMasterIdLst>
    <p:notesMasterId r:id="rId7"/>
  </p:notesMasterIdLst>
  <p:sldIdLst>
    <p:sldId id="256" r:id="rId6"/>
    <p:sldId id="257" r:id="rId8"/>
    <p:sldId id="258" r:id="rId9"/>
    <p:sldId id="259" r:id="rId10"/>
    <p:sldId id="260" r:id="rId11"/>
    <p:sldId id="261" r:id="rId12"/>
    <p:sldId id="262" r:id="rId13"/>
    <p:sldId id="263" r:id="rId14"/>
    <p:sldId id="278" r:id="rId15"/>
    <p:sldId id="264" r:id="rId16"/>
    <p:sldId id="265" r:id="rId17"/>
    <p:sldId id="287" r:id="rId18"/>
    <p:sldId id="286" r:id="rId19"/>
    <p:sldId id="266" r:id="rId20"/>
    <p:sldId id="267" r:id="rId21"/>
    <p:sldId id="268" r:id="rId22"/>
    <p:sldId id="279" r:id="rId23"/>
    <p:sldId id="280" r:id="rId24"/>
    <p:sldId id="281" r:id="rId25"/>
    <p:sldId id="282" r:id="rId26"/>
    <p:sldId id="270" r:id="rId27"/>
    <p:sldId id="271" r:id="rId28"/>
    <p:sldId id="272" r:id="rId29"/>
    <p:sldId id="273" r:id="rId30"/>
    <p:sldId id="274" r:id="rId31"/>
    <p:sldId id="275" r:id="rId32"/>
    <p:sldId id="288" r:id="rId33"/>
    <p:sldId id="277" r:id="rId34"/>
    <p:sldId id="283" r:id="rId35"/>
    <p:sldId id="291" r:id="rId36"/>
    <p:sldId id="292" r:id="rId37"/>
    <p:sldId id="284" r:id="rId38"/>
    <p:sldId id="289" r:id="rId39"/>
    <p:sldId id="290" r:id="rId40"/>
    <p:sldId id="293" r:id="rId41"/>
  </p:sldIdLst>
  <p:sldSz cx="9144000" cy="6858000" type="screen4x3"/>
  <p:notesSz cx="6858000" cy="9144000"/>
  <p:embeddedFontLst>
    <p:embeddedFont>
      <p:font typeface="Calibri" panose="020F0502020204030204"/>
      <p:regular r:id="rId45"/>
      <p:bold r:id="rId46"/>
      <p:italic r:id="rId47"/>
      <p:boldItalic r:id="rId48"/>
    </p:embeddedFont>
    <p:embeddedFont>
      <p:font typeface="Crimson Text SemiBold" charset="0"/>
      <p:bold r:id="rId49"/>
    </p:embeddedFont>
  </p:embeddedFontLst>
  <p:custDataLst>
    <p:tags r:id="rId5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2" userDrawn="1">
          <p15:clr>
            <a:srgbClr val="A4A3A4"/>
          </p15:clr>
        </p15:guide>
        <p15:guide id="2" pos="2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7" d="100"/>
          <a:sy n="57" d="100"/>
        </p:scale>
        <p:origin x="1776" y="282"/>
      </p:cViewPr>
      <p:guideLst>
        <p:guide orient="horz" pos="2152"/>
        <p:guide pos="2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0" Type="http://schemas.openxmlformats.org/officeDocument/2006/relationships/tags" Target="tags/tag189.xml"/><Relationship Id="rId5" Type="http://schemas.openxmlformats.org/officeDocument/2006/relationships/slideMaster" Target="slideMasters/slideMaster4.xml"/><Relationship Id="rId49" Type="http://schemas.openxmlformats.org/officeDocument/2006/relationships/font" Target="fonts/font5.fntdata"/><Relationship Id="rId48" Type="http://schemas.openxmlformats.org/officeDocument/2006/relationships/font" Target="fonts/font4.fntdata"/><Relationship Id="rId47" Type="http://schemas.openxmlformats.org/officeDocument/2006/relationships/font" Target="fonts/font3.fntdata"/><Relationship Id="rId46" Type="http://schemas.openxmlformats.org/officeDocument/2006/relationships/font" Target="fonts/font2.fntdata"/><Relationship Id="rId45" Type="http://schemas.openxmlformats.org/officeDocument/2006/relationships/font" Target="fonts/font1.fntdata"/><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9"/>
        <p:cNvGrpSpPr/>
        <p:nvPr/>
      </p:nvGrpSpPr>
      <p:grpSpPr>
        <a:xfrm>
          <a:off x="0" y="0"/>
          <a:ext cx="0" cy="0"/>
          <a:chOff x="0" y="0"/>
          <a:chExt cx="0" cy="0"/>
        </a:xfrm>
      </p:grpSpPr>
      <p:sp>
        <p:nvSpPr>
          <p:cNvPr id="230" name="Google Shape;23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1" name="Google Shape;23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4.png"/><Relationship Id="rId5" Type="http://schemas.openxmlformats.org/officeDocument/2006/relationships/tags" Target="../tags/tag3.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6.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5.png"/><Relationship Id="rId2" Type="http://schemas.openxmlformats.org/officeDocument/2006/relationships/tags" Target="../tags/tag15.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27.xml"/><Relationship Id="rId7" Type="http://schemas.openxmlformats.org/officeDocument/2006/relationships/image" Target="../media/image10.png"/><Relationship Id="rId6" Type="http://schemas.openxmlformats.org/officeDocument/2006/relationships/tags" Target="../tags/tag26.xml"/><Relationship Id="rId5" Type="http://schemas.microsoft.com/office/2007/relationships/hdphoto" Target="../media/image9.wdp"/><Relationship Id="rId4" Type="http://schemas.openxmlformats.org/officeDocument/2006/relationships/image" Target="../media/image8.png"/><Relationship Id="rId3" Type="http://schemas.openxmlformats.org/officeDocument/2006/relationships/tags" Target="../tags/tag25.xml"/><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image" Target="../media/image4.png"/><Relationship Id="rId5" Type="http://schemas.openxmlformats.org/officeDocument/2006/relationships/tags" Target="../tags/tag64.xml"/><Relationship Id="rId4" Type="http://schemas.openxmlformats.org/officeDocument/2006/relationships/image" Target="../media/image3.png"/><Relationship Id="rId3" Type="http://schemas.openxmlformats.org/officeDocument/2006/relationships/tags" Target="../tags/tag63.xml"/><Relationship Id="rId2" Type="http://schemas.openxmlformats.org/officeDocument/2006/relationships/tags" Target="../tags/tag62.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0"/>
        <p:cNvGrpSpPr/>
        <p:nvPr/>
      </p:nvGrpSpPr>
      <p:grpSpPr>
        <a:xfrm>
          <a:off x="0" y="0"/>
          <a:ext cx="0" cy="0"/>
          <a:chOff x="0" y="0"/>
          <a:chExt cx="0" cy="0"/>
        </a:xfrm>
      </p:grpSpPr>
      <p:sp>
        <p:nvSpPr>
          <p:cNvPr id="11" name="Google Shape;1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mn-lt"/>
                <a:ea typeface="+mn-ea"/>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 name="Google Shape;1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0"/>
        <p:cNvGrpSpPr/>
        <p:nvPr/>
      </p:nvGrpSpPr>
      <p:grpSpPr>
        <a:xfrm>
          <a:off x="0" y="0"/>
          <a:ext cx="0" cy="0"/>
          <a:chOff x="0" y="0"/>
          <a:chExt cx="0" cy="0"/>
        </a:xfrm>
      </p:grpSpPr>
      <p:sp>
        <p:nvSpPr>
          <p:cNvPr id="21" name="Google Shape;21;p2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n-lt"/>
                <a:ea typeface="+mn-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2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panose="020B0604020202020204"/>
              <a:buNone/>
              <a:defRPr sz="3200" b="0" i="0" u="none" strike="noStrike" cap="none">
                <a:solidFill>
                  <a:srgbClr val="888888"/>
                </a:solidFill>
                <a:latin typeface="+mn-lt"/>
                <a:ea typeface="+mn-ea"/>
                <a:cs typeface="Calibri" panose="020F0502020204030204"/>
                <a:sym typeface="Calibri" panose="020F0502020204030204"/>
              </a:defRPr>
            </a:lvl1pPr>
            <a:lvl2pPr marR="0" lvl="1" algn="ctr" rtl="0">
              <a:spcBef>
                <a:spcPts val="560"/>
              </a:spcBef>
              <a:spcAft>
                <a:spcPts val="0"/>
              </a:spcAft>
              <a:buClr>
                <a:srgbClr val="888888"/>
              </a:buClr>
              <a:buSzPts val="2800"/>
              <a:buFont typeface="Arial" panose="020B0604020202020204"/>
              <a:buNone/>
              <a:defRPr sz="28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R="0" lvl="2" algn="ctr" rtl="0">
              <a:spcBef>
                <a:spcPts val="480"/>
              </a:spcBef>
              <a:spcAft>
                <a:spcPts val="0"/>
              </a:spcAft>
              <a:buClr>
                <a:srgbClr val="888888"/>
              </a:buClr>
              <a:buSzPts val="2400"/>
              <a:buFont typeface="Arial" panose="020B0604020202020204"/>
              <a:buNone/>
              <a:defRPr sz="2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R="0" lvl="3"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R="0" lvl="4"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R="0" lvl="5"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R="0" lvl="6"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R="0" lvl="7"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R="0" lvl="8" algn="ctr" rtl="0">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p:txBody>
      </p:sp>
      <p:sp>
        <p:nvSpPr>
          <p:cNvPr id="23" name="Google Shape;23;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4" name="Google Shape;24;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25" name="Google Shape;25;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6"/>
        <p:cNvGrpSpPr/>
        <p:nvPr/>
      </p:nvGrpSpPr>
      <p:grpSpPr>
        <a:xfrm>
          <a:off x="0" y="0"/>
          <a:ext cx="0" cy="0"/>
          <a:chOff x="0" y="0"/>
          <a:chExt cx="0" cy="0"/>
        </a:xfrm>
      </p:grpSpPr>
      <p:sp>
        <p:nvSpPr>
          <p:cNvPr id="27" name="Google Shape;27;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panose="020F0502020204030204"/>
              <a:buNone/>
              <a:defRPr sz="4000" b="1"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panose="020B0604020202020204"/>
              <a:buNone/>
              <a:defRPr sz="2000" b="0" i="0" u="none" strike="noStrike" cap="none">
                <a:solidFill>
                  <a:srgbClr val="888888"/>
                </a:solidFill>
                <a:latin typeface="+mn-lt"/>
                <a:ea typeface="+mn-ea"/>
                <a:cs typeface="Calibri" panose="020F0502020204030204"/>
                <a:sym typeface="Calibri" panose="020F0502020204030204"/>
              </a:defRPr>
            </a:lvl1pPr>
            <a:lvl2pPr marL="914400" marR="0" lvl="1" indent="-228600" algn="l" rtl="0">
              <a:spcBef>
                <a:spcPts val="360"/>
              </a:spcBef>
              <a:spcAft>
                <a:spcPts val="0"/>
              </a:spcAft>
              <a:buClr>
                <a:srgbClr val="888888"/>
              </a:buClr>
              <a:buSzPts val="1800"/>
              <a:buFont typeface="Arial" panose="020B0604020202020204"/>
              <a:buNone/>
              <a:defRPr sz="18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2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280"/>
              </a:spcBef>
              <a:spcAft>
                <a:spcPts val="0"/>
              </a:spcAft>
              <a:buClr>
                <a:srgbClr val="888888"/>
              </a:buClr>
              <a:buSzPts val="1400"/>
              <a:buFont typeface="Arial" panose="020B0604020202020204"/>
              <a:buNone/>
              <a:defRPr sz="1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p:txBody>
      </p:sp>
      <p:sp>
        <p:nvSpPr>
          <p:cNvPr id="29" name="Google Shape;29;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0" name="Google Shape;30;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1" name="Google Shape;31;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2"/>
        <p:cNvGrpSpPr/>
        <p:nvPr/>
      </p:nvGrpSpPr>
      <p:grpSpPr>
        <a:xfrm>
          <a:off x="0" y="0"/>
          <a:ext cx="0" cy="0"/>
          <a:chOff x="0" y="0"/>
          <a:chExt cx="0" cy="0"/>
        </a:xfrm>
      </p:grpSpPr>
      <p:sp>
        <p:nvSpPr>
          <p:cNvPr id="33" name="Google Shape;33;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mn-lt"/>
                <a:ea typeface="+mn-ea"/>
                <a:cs typeface="Calibri" panose="020F0502020204030204"/>
                <a:sym typeface="Calibri" panose="020F0502020204030204"/>
              </a:defRPr>
            </a:lvl1pPr>
            <a:lvl2pPr marL="914400" marR="0" lvl="1"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5" name="Google Shape;35;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mn-lt"/>
                <a:ea typeface="+mn-ea"/>
                <a:cs typeface="Calibri" panose="020F0502020204030204"/>
                <a:sym typeface="Calibri" panose="020F0502020204030204"/>
              </a:defRPr>
            </a:lvl1pPr>
            <a:lvl2pPr marL="914400" marR="0" lvl="1"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6" name="Google Shape;3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7" name="Google Shape;3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8" name="Google Shape;3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9"/>
        <p:cNvGrpSpPr/>
        <p:nvPr/>
      </p:nvGrpSpPr>
      <p:grpSpPr>
        <a:xfrm>
          <a:off x="0" y="0"/>
          <a:ext cx="0" cy="0"/>
          <a:chOff x="0" y="0"/>
          <a:chExt cx="0" cy="0"/>
        </a:xfrm>
      </p:grpSpPr>
      <p:sp>
        <p:nvSpPr>
          <p:cNvPr id="40" name="Google Shape;4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panose="020B0604020202020204"/>
              <a:buNone/>
              <a:defRPr sz="2400" b="1" i="0" u="none" strike="noStrike" cap="none">
                <a:solidFill>
                  <a:schemeClr val="dk1"/>
                </a:solidFill>
                <a:latin typeface="+mn-lt"/>
                <a:ea typeface="+mn-ea"/>
                <a:cs typeface="Calibri" panose="020F0502020204030204"/>
                <a:sym typeface="Calibri" panose="020F0502020204030204"/>
              </a:defRPr>
            </a:lvl1pPr>
            <a:lvl2pPr marL="914400" marR="0" lvl="1" indent="-228600" algn="l" rtl="0">
              <a:spcBef>
                <a:spcPts val="4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 name="Google Shape;42;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mn-lt"/>
                <a:ea typeface="+mn-ea"/>
                <a:cs typeface="Calibri" panose="020F0502020204030204"/>
                <a:sym typeface="Calibri" panose="020F050202020403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3" name="Google Shape;43;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panose="020B0604020202020204"/>
              <a:buNone/>
              <a:defRPr sz="2400" b="1" i="0" u="none" strike="noStrike" cap="none">
                <a:solidFill>
                  <a:schemeClr val="dk1"/>
                </a:solidFill>
                <a:latin typeface="+mn-lt"/>
                <a:ea typeface="+mn-ea"/>
                <a:cs typeface="Calibri" panose="020F0502020204030204"/>
                <a:sym typeface="Calibri" panose="020F0502020204030204"/>
              </a:defRPr>
            </a:lvl1pPr>
            <a:lvl2pPr marL="914400" marR="0" lvl="1" indent="-228600" algn="l" rtl="0">
              <a:spcBef>
                <a:spcPts val="4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4" name="Google Shape;44;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mn-lt"/>
                <a:ea typeface="+mn-ea"/>
                <a:cs typeface="Calibri" panose="020F0502020204030204"/>
                <a:sym typeface="Calibri" panose="020F050202020403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5" name="Google Shape;4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6" name="Google Shape;4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7" name="Google Shape;4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0"/>
        <p:cNvGrpSpPr/>
        <p:nvPr/>
      </p:nvGrpSpPr>
      <p:grpSpPr>
        <a:xfrm>
          <a:off x="0" y="0"/>
          <a:ext cx="0" cy="0"/>
          <a:chOff x="0" y="0"/>
          <a:chExt cx="0" cy="0"/>
        </a:xfrm>
      </p:grpSpPr>
      <p:sp>
        <p:nvSpPr>
          <p:cNvPr id="61" name="Google Shape;61;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panose="020F0502020204030204"/>
              <a:buNone/>
              <a:defRPr sz="2000" b="1"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26"/>
          <p:cNvSpPr>
            <a:spLocks noGrp="1"/>
          </p:cNvSpPr>
          <p:nvPr>
            <p:ph type="pic" idx="2"/>
          </p:nvPr>
        </p:nvSpPr>
        <p:spPr>
          <a:xfrm>
            <a:off x="1792288" y="612775"/>
            <a:ext cx="5486400" cy="4114800"/>
          </a:xfrm>
          <a:prstGeom prst="rect">
            <a:avLst/>
          </a:prstGeom>
          <a:noFill/>
          <a:ln>
            <a:noFill/>
          </a:ln>
        </p:spPr>
      </p:sp>
      <p:sp>
        <p:nvSpPr>
          <p:cNvPr id="63" name="Google Shape;63;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panose="020B0604020202020204"/>
              <a:buNone/>
              <a:defRPr sz="1400" b="0" i="0" u="none" strike="noStrike" cap="none">
                <a:solidFill>
                  <a:schemeClr val="dk1"/>
                </a:solidFill>
                <a:latin typeface="+mn-lt"/>
                <a:ea typeface="+mn-ea"/>
                <a:cs typeface="Calibri" panose="020F0502020204030204"/>
                <a:sym typeface="Calibri" panose="020F0502020204030204"/>
              </a:defRPr>
            </a:lvl1pPr>
            <a:lvl2pPr marL="914400" marR="0" lvl="1" indent="-228600" algn="l" rtl="0">
              <a:spcBef>
                <a:spcPts val="24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2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180"/>
              </a:spcBef>
              <a:spcAft>
                <a:spcPts val="0"/>
              </a:spcAft>
              <a:buClr>
                <a:schemeClr val="dk1"/>
              </a:buClr>
              <a:buSzPts val="9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4" name="Google Shape;64;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5" name="Google Shape;65;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66" name="Google Shape;66;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7"/>
        <p:cNvGrpSpPr/>
        <p:nvPr/>
      </p:nvGrpSpPr>
      <p:grpSpPr>
        <a:xfrm>
          <a:off x="0" y="0"/>
          <a:ext cx="0" cy="0"/>
          <a:chOff x="0" y="0"/>
          <a:chExt cx="0" cy="0"/>
        </a:xfrm>
      </p:grpSpPr>
      <p:sp>
        <p:nvSpPr>
          <p:cNvPr id="68" name="Google Shape;68;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mn-lt"/>
                <a:ea typeface="+mn-ea"/>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0" name="Google Shape;7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1" name="Google Shape;7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2" name="Google Shape;7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mj-lt"/>
                <a:ea typeface="+mj-ea"/>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mn-lt"/>
                <a:ea typeface="+mn-ea"/>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6" name="Google Shape;76;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7" name="Google Shape;77;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8" name="Google Shape;7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mn-lt"/>
                <a:ea typeface="+mn-ea"/>
                <a:cs typeface="Calibri" panose="020F0502020204030204"/>
                <a:sym typeface="Calibri" panose="020F0502020204030204"/>
              </a:defRPr>
            </a:lvl1pPr>
            <a:lvl2pPr marL="0" marR="0" lvl="1"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8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lvl1pPr>
              <a:defRPr>
                <a:latin typeface="+mj-lt"/>
                <a:ea typeface="+mj-ea"/>
              </a:defRPr>
            </a:lvl1p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lvl1pPr>
              <a:defRPr>
                <a:latin typeface="+mn-lt"/>
                <a:ea typeface="+mn-ea"/>
              </a:defRPr>
            </a:lvl1pPr>
            <a:lvl2pPr>
              <a:defRPr>
                <a:latin typeface="+mn-lt"/>
                <a:ea typeface="+mn-ea"/>
              </a:defRPr>
            </a:lvl2pPr>
            <a:lvl3pPr>
              <a:defRPr>
                <a:latin typeface="+mn-lt"/>
                <a:ea typeface="+mn-ea"/>
              </a:defRPr>
            </a:lvl3pPr>
            <a:lvl4pPr>
              <a:defRPr>
                <a:latin typeface="+mn-lt"/>
                <a:ea typeface="+mn-ea"/>
              </a:defRPr>
            </a:lvl4pPr>
            <a:lvl5pPr>
              <a:defRPr>
                <a:latin typeface="+mn-lt"/>
                <a:ea typeface="+mn-ea"/>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p:spPr>
        <p:txBody>
          <a:bodyPr/>
          <a:lstStyle>
            <a:lvl1pPr>
              <a:defRPr>
                <a:latin typeface="+mn-lt"/>
                <a:ea typeface="+mn-ea"/>
              </a:defRPr>
            </a:lvl1p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lvl1pPr>
              <a:defRPr>
                <a:latin typeface="+mn-lt"/>
                <a:ea typeface="+mn-ea"/>
              </a:defRPr>
            </a:lvl1p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lvl1pPr>
              <a:defRPr>
                <a:latin typeface="+mn-lt"/>
                <a:ea typeface="+mn-ea"/>
              </a:defRPr>
            </a:lvl1p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5"/>
        <p:cNvGrpSpPr/>
        <p:nvPr/>
      </p:nvGrpSpPr>
      <p:grpSpPr>
        <a:xfrm>
          <a:off x="0" y="0"/>
          <a:ext cx="0" cy="0"/>
          <a:chOff x="0" y="0"/>
          <a:chExt cx="0" cy="0"/>
        </a:xfrm>
      </p:grpSpPr>
      <p:sp>
        <p:nvSpPr>
          <p:cNvPr id="86" name="Google Shape;86;p30"/>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atin typeface="+mn-lt"/>
                <a:ea typeface="+mn-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mn-lt"/>
                <a:ea typeface="+mn-e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8" name="Google Shape;88;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91"/>
        <p:cNvGrpSpPr/>
        <p:nvPr/>
      </p:nvGrpSpPr>
      <p:grpSpPr>
        <a:xfrm>
          <a:off x="0" y="0"/>
          <a:ext cx="0" cy="0"/>
          <a:chOff x="0" y="0"/>
          <a:chExt cx="0" cy="0"/>
        </a:xfrm>
      </p:grpSpPr>
      <p:sp>
        <p:nvSpPr>
          <p:cNvPr id="92" name="Google Shape;92;p3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4" name="Google Shape;94;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97"/>
        <p:cNvGrpSpPr/>
        <p:nvPr/>
      </p:nvGrpSpPr>
      <p:grpSpPr>
        <a:xfrm>
          <a:off x="0" y="0"/>
          <a:ext cx="0" cy="0"/>
          <a:chOff x="0" y="0"/>
          <a:chExt cx="0" cy="0"/>
        </a:xfrm>
      </p:grpSpPr>
      <p:sp>
        <p:nvSpPr>
          <p:cNvPr id="98" name="Google Shape;98;p32"/>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32"/>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mn-lt"/>
                <a:ea typeface="+mn-ea"/>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00" name="Google Shape;100;p3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03"/>
        <p:cNvGrpSpPr/>
        <p:nvPr/>
      </p:nvGrpSpPr>
      <p:grpSpPr>
        <a:xfrm>
          <a:off x="0" y="0"/>
          <a:ext cx="0" cy="0"/>
          <a:chOff x="0" y="0"/>
          <a:chExt cx="0" cy="0"/>
        </a:xfrm>
      </p:grpSpPr>
      <p:sp>
        <p:nvSpPr>
          <p:cNvPr id="104" name="Google Shape;104;p3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33"/>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06" name="Google Shape;106;p33"/>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07" name="Google Shape;107;p3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110"/>
        <p:cNvGrpSpPr/>
        <p:nvPr/>
      </p:nvGrpSpPr>
      <p:grpSpPr>
        <a:xfrm>
          <a:off x="0" y="0"/>
          <a:ext cx="0" cy="0"/>
          <a:chOff x="0" y="0"/>
          <a:chExt cx="0" cy="0"/>
        </a:xfrm>
      </p:grpSpPr>
      <p:sp>
        <p:nvSpPr>
          <p:cNvPr id="111" name="Google Shape;111;p34"/>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34"/>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mn-lt"/>
                <a:ea typeface="+mn-e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13" name="Google Shape;113;p34"/>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14" name="Google Shape;114;p34"/>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mn-lt"/>
                <a:ea typeface="+mn-e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15" name="Google Shape;115;p34"/>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16" name="Google Shape;116;p3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19"/>
        <p:cNvGrpSpPr/>
        <p:nvPr/>
      </p:nvGrpSpPr>
      <p:grpSpPr>
        <a:xfrm>
          <a:off x="0" y="0"/>
          <a:ext cx="0" cy="0"/>
          <a:chOff x="0" y="0"/>
          <a:chExt cx="0" cy="0"/>
        </a:xfrm>
      </p:grpSpPr>
      <p:sp>
        <p:nvSpPr>
          <p:cNvPr id="120" name="Google Shape;120;p3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3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24"/>
        <p:cNvGrpSpPr/>
        <p:nvPr/>
      </p:nvGrpSpPr>
      <p:grpSpPr>
        <a:xfrm>
          <a:off x="0" y="0"/>
          <a:ext cx="0" cy="0"/>
          <a:chOff x="0" y="0"/>
          <a:chExt cx="0" cy="0"/>
        </a:xfrm>
      </p:grpSpPr>
      <p:sp>
        <p:nvSpPr>
          <p:cNvPr id="125" name="Google Shape;125;p3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128"/>
        <p:cNvGrpSpPr/>
        <p:nvPr/>
      </p:nvGrpSpPr>
      <p:grpSpPr>
        <a:xfrm>
          <a:off x="0" y="0"/>
          <a:ext cx="0" cy="0"/>
          <a:chOff x="0" y="0"/>
          <a:chExt cx="0" cy="0"/>
        </a:xfrm>
      </p:grpSpPr>
      <p:sp>
        <p:nvSpPr>
          <p:cNvPr id="129" name="Google Shape;129;p3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37"/>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mn-lt"/>
                <a:ea typeface="+mn-ea"/>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131" name="Google Shape;131;p37"/>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mn-lt"/>
                <a:ea typeface="+mn-ea"/>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32" name="Google Shape;132;p3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135"/>
        <p:cNvGrpSpPr/>
        <p:nvPr/>
      </p:nvGrpSpPr>
      <p:grpSpPr>
        <a:xfrm>
          <a:off x="0" y="0"/>
          <a:ext cx="0" cy="0"/>
          <a:chOff x="0" y="0"/>
          <a:chExt cx="0" cy="0"/>
        </a:xfrm>
      </p:grpSpPr>
      <p:sp>
        <p:nvSpPr>
          <p:cNvPr id="136" name="Google Shape;136;p38"/>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38"/>
          <p:cNvSpPr>
            <a:spLocks noGrp="1"/>
          </p:cNvSpPr>
          <p:nvPr>
            <p:ph type="pic" idx="2"/>
          </p:nvPr>
        </p:nvSpPr>
        <p:spPr>
          <a:xfrm>
            <a:off x="3887788" y="987425"/>
            <a:ext cx="4629150" cy="4873625"/>
          </a:xfrm>
          <a:prstGeom prst="rect">
            <a:avLst/>
          </a:prstGeom>
          <a:noFill/>
          <a:ln>
            <a:noFill/>
          </a:ln>
        </p:spPr>
      </p:sp>
      <p:sp>
        <p:nvSpPr>
          <p:cNvPr id="138" name="Google Shape;138;p38"/>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mn-lt"/>
                <a:ea typeface="+mn-ea"/>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39" name="Google Shape;139;p3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142"/>
        <p:cNvGrpSpPr/>
        <p:nvPr/>
      </p:nvGrpSpPr>
      <p:grpSpPr>
        <a:xfrm>
          <a:off x="0" y="0"/>
          <a:ext cx="0" cy="0"/>
          <a:chOff x="0" y="0"/>
          <a:chExt cx="0" cy="0"/>
        </a:xfrm>
      </p:grpSpPr>
      <p:sp>
        <p:nvSpPr>
          <p:cNvPr id="143" name="Google Shape;143;p3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39"/>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45" name="Google Shape;145;p3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148"/>
        <p:cNvGrpSpPr/>
        <p:nvPr/>
      </p:nvGrpSpPr>
      <p:grpSpPr>
        <a:xfrm>
          <a:off x="0" y="0"/>
          <a:ext cx="0" cy="0"/>
          <a:chOff x="0" y="0"/>
          <a:chExt cx="0" cy="0"/>
        </a:xfrm>
      </p:grpSpPr>
      <p:sp>
        <p:nvSpPr>
          <p:cNvPr id="149" name="Google Shape;149;p40"/>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40"/>
          <p:cNvSpPr txBox="1">
            <a:spLocks noGrp="1"/>
          </p:cNvSpPr>
          <p:nvPr>
            <p:ph type="body" idx="1"/>
          </p:nvPr>
        </p:nvSpPr>
        <p:spPr>
          <a:xfrm rot="5400000">
            <a:off x="604044" y="389731"/>
            <a:ext cx="5811838" cy="57626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51" name="Google Shape;151;p4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4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60"/>
        <p:cNvGrpSpPr/>
        <p:nvPr/>
      </p:nvGrpSpPr>
      <p:grpSpPr>
        <a:xfrm>
          <a:off x="0" y="0"/>
          <a:ext cx="0" cy="0"/>
          <a:chOff x="0" y="0"/>
          <a:chExt cx="0" cy="0"/>
        </a:xfrm>
      </p:grpSpPr>
      <p:sp>
        <p:nvSpPr>
          <p:cNvPr id="161" name="Google Shape;161;p4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atin typeface="+mn-lt"/>
                <a:ea typeface="+mn-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4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mn-lt"/>
                <a:ea typeface="+mn-e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3" name="Google Shape;163;p4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4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4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66"/>
        <p:cNvGrpSpPr/>
        <p:nvPr/>
      </p:nvGrpSpPr>
      <p:grpSpPr>
        <a:xfrm>
          <a:off x="0" y="0"/>
          <a:ext cx="0" cy="0"/>
          <a:chOff x="0" y="0"/>
          <a:chExt cx="0" cy="0"/>
        </a:xfrm>
      </p:grpSpPr>
      <p:sp>
        <p:nvSpPr>
          <p:cNvPr id="167" name="Google Shape;167;p4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4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69" name="Google Shape;169;p4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72"/>
        <p:cNvGrpSpPr/>
        <p:nvPr/>
      </p:nvGrpSpPr>
      <p:grpSpPr>
        <a:xfrm>
          <a:off x="0" y="0"/>
          <a:ext cx="0" cy="0"/>
          <a:chOff x="0" y="0"/>
          <a:chExt cx="0" cy="0"/>
        </a:xfrm>
      </p:grpSpPr>
      <p:sp>
        <p:nvSpPr>
          <p:cNvPr id="173" name="Google Shape;173;p44"/>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44"/>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mn-lt"/>
                <a:ea typeface="+mn-ea"/>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75" name="Google Shape;175;p4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4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78"/>
        <p:cNvGrpSpPr/>
        <p:nvPr/>
      </p:nvGrpSpPr>
      <p:grpSpPr>
        <a:xfrm>
          <a:off x="0" y="0"/>
          <a:ext cx="0" cy="0"/>
          <a:chOff x="0" y="0"/>
          <a:chExt cx="0" cy="0"/>
        </a:xfrm>
      </p:grpSpPr>
      <p:sp>
        <p:nvSpPr>
          <p:cNvPr id="179" name="Google Shape;179;p4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45"/>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81" name="Google Shape;181;p45"/>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82" name="Google Shape;182;p4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4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185"/>
        <p:cNvGrpSpPr/>
        <p:nvPr/>
      </p:nvGrpSpPr>
      <p:grpSpPr>
        <a:xfrm>
          <a:off x="0" y="0"/>
          <a:ext cx="0" cy="0"/>
          <a:chOff x="0" y="0"/>
          <a:chExt cx="0" cy="0"/>
        </a:xfrm>
      </p:grpSpPr>
      <p:sp>
        <p:nvSpPr>
          <p:cNvPr id="186" name="Google Shape;186;p46"/>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46"/>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mn-lt"/>
                <a:ea typeface="+mn-e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88" name="Google Shape;188;p46"/>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89" name="Google Shape;189;p46"/>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mn-lt"/>
                <a:ea typeface="+mn-e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90" name="Google Shape;190;p46"/>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91" name="Google Shape;191;p4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4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94"/>
        <p:cNvGrpSpPr/>
        <p:nvPr/>
      </p:nvGrpSpPr>
      <p:grpSpPr>
        <a:xfrm>
          <a:off x="0" y="0"/>
          <a:ext cx="0" cy="0"/>
          <a:chOff x="0" y="0"/>
          <a:chExt cx="0" cy="0"/>
        </a:xfrm>
      </p:grpSpPr>
      <p:sp>
        <p:nvSpPr>
          <p:cNvPr id="195" name="Google Shape;195;p4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4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4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99"/>
        <p:cNvGrpSpPr/>
        <p:nvPr/>
      </p:nvGrpSpPr>
      <p:grpSpPr>
        <a:xfrm>
          <a:off x="0" y="0"/>
          <a:ext cx="0" cy="0"/>
          <a:chOff x="0" y="0"/>
          <a:chExt cx="0" cy="0"/>
        </a:xfrm>
      </p:grpSpPr>
      <p:sp>
        <p:nvSpPr>
          <p:cNvPr id="200" name="Google Shape;200;p4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4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4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203"/>
        <p:cNvGrpSpPr/>
        <p:nvPr/>
      </p:nvGrpSpPr>
      <p:grpSpPr>
        <a:xfrm>
          <a:off x="0" y="0"/>
          <a:ext cx="0" cy="0"/>
          <a:chOff x="0" y="0"/>
          <a:chExt cx="0" cy="0"/>
        </a:xfrm>
      </p:grpSpPr>
      <p:sp>
        <p:nvSpPr>
          <p:cNvPr id="204" name="Google Shape;204;p49"/>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49"/>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mn-lt"/>
                <a:ea typeface="+mn-ea"/>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206" name="Google Shape;206;p49"/>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mn-lt"/>
                <a:ea typeface="+mn-ea"/>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207" name="Google Shape;207;p4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4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4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210"/>
        <p:cNvGrpSpPr/>
        <p:nvPr/>
      </p:nvGrpSpPr>
      <p:grpSpPr>
        <a:xfrm>
          <a:off x="0" y="0"/>
          <a:ext cx="0" cy="0"/>
          <a:chOff x="0" y="0"/>
          <a:chExt cx="0" cy="0"/>
        </a:xfrm>
      </p:grpSpPr>
      <p:sp>
        <p:nvSpPr>
          <p:cNvPr id="211" name="Google Shape;211;p50"/>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50"/>
          <p:cNvSpPr>
            <a:spLocks noGrp="1"/>
          </p:cNvSpPr>
          <p:nvPr>
            <p:ph type="pic" idx="2"/>
          </p:nvPr>
        </p:nvSpPr>
        <p:spPr>
          <a:xfrm>
            <a:off x="3887788" y="987425"/>
            <a:ext cx="4629150" cy="4873625"/>
          </a:xfrm>
          <a:prstGeom prst="rect">
            <a:avLst/>
          </a:prstGeom>
          <a:noFill/>
          <a:ln>
            <a:noFill/>
          </a:ln>
        </p:spPr>
      </p:sp>
      <p:sp>
        <p:nvSpPr>
          <p:cNvPr id="213" name="Google Shape;213;p50"/>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mn-lt"/>
                <a:ea typeface="+mn-ea"/>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214" name="Google Shape;214;p5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5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217"/>
        <p:cNvGrpSpPr/>
        <p:nvPr/>
      </p:nvGrpSpPr>
      <p:grpSpPr>
        <a:xfrm>
          <a:off x="0" y="0"/>
          <a:ext cx="0" cy="0"/>
          <a:chOff x="0" y="0"/>
          <a:chExt cx="0" cy="0"/>
        </a:xfrm>
      </p:grpSpPr>
      <p:sp>
        <p:nvSpPr>
          <p:cNvPr id="218" name="Google Shape;218;p5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0" name="Google Shape;220;p5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5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5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223"/>
        <p:cNvGrpSpPr/>
        <p:nvPr/>
      </p:nvGrpSpPr>
      <p:grpSpPr>
        <a:xfrm>
          <a:off x="0" y="0"/>
          <a:ext cx="0" cy="0"/>
          <a:chOff x="0" y="0"/>
          <a:chExt cx="0" cy="0"/>
        </a:xfrm>
      </p:grpSpPr>
      <p:sp>
        <p:nvSpPr>
          <p:cNvPr id="224" name="Google Shape;224;p5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mj-lt"/>
                <a:ea typeface="+mj-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52"/>
          <p:cNvSpPr txBox="1">
            <a:spLocks noGrp="1"/>
          </p:cNvSpPr>
          <p:nvPr>
            <p:ph type="body" idx="1"/>
          </p:nvPr>
        </p:nvSpPr>
        <p:spPr>
          <a:xfrm rot="5400000">
            <a:off x="604044" y="389731"/>
            <a:ext cx="5811838" cy="57626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mn-lt"/>
                <a:ea typeface="+mn-e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6" name="Google Shape;226;p5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5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5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9144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 name="图片 2"/>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16630" y="0"/>
            <a:ext cx="9127370" cy="6858000"/>
          </a:xfrm>
          <a:prstGeom prst="rect">
            <a:avLst/>
          </a:prstGeom>
        </p:spPr>
      </p:pic>
      <p:pic>
        <p:nvPicPr>
          <p:cNvPr id="10" name="图片 9" descr="58585"/>
          <p:cNvPicPr>
            <a:picLocks noChangeAspect="1"/>
          </p:cNvPicPr>
          <p:nvPr>
            <p:custDataLst>
              <p:tags r:id="rId5"/>
            </p:custDataLst>
          </p:nvPr>
        </p:nvPicPr>
        <p:blipFill>
          <a:blip r:embed="rId6"/>
          <a:stretch>
            <a:fillRect/>
          </a:stretch>
        </p:blipFill>
        <p:spPr>
          <a:xfrm>
            <a:off x="7473791" y="606425"/>
            <a:ext cx="815816" cy="656590"/>
          </a:xfrm>
          <a:prstGeom prst="rect">
            <a:avLst/>
          </a:prstGeom>
        </p:spPr>
      </p:pic>
      <p:sp>
        <p:nvSpPr>
          <p:cNvPr id="9" name="署名"/>
          <p:cNvSpPr>
            <a:spLocks noGrp="1"/>
          </p:cNvSpPr>
          <p:nvPr>
            <p:ph type="body" idx="3" hasCustomPrompt="1"/>
            <p:custDataLst>
              <p:tags r:id="rId7"/>
            </p:custDataLst>
          </p:nvPr>
        </p:nvSpPr>
        <p:spPr>
          <a:xfrm>
            <a:off x="6746033" y="4309110"/>
            <a:ext cx="1618823" cy="51170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050" b="0" i="0" u="none" strike="noStrike" kern="1200" cap="none" spc="0" normalizeH="0" baseline="0" noProof="1" dirty="0">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8" name="副标题"/>
          <p:cNvSpPr txBox="1">
            <a:spLocks noGrp="1"/>
          </p:cNvSpPr>
          <p:nvPr>
            <p:ph type="body" idx="2" hasCustomPrompt="1"/>
            <p:custDataLst>
              <p:tags r:id="rId8"/>
            </p:custDataLst>
          </p:nvPr>
        </p:nvSpPr>
        <p:spPr>
          <a:xfrm>
            <a:off x="4488656" y="3815715"/>
            <a:ext cx="3922395" cy="429260"/>
          </a:xfrm>
          <a:prstGeom prst="rect">
            <a:avLst/>
          </a:prstGeom>
          <a:noFill/>
        </p:spPr>
        <p:txBody>
          <a:bodyPr wrap="square" lIns="0" tIns="0" rIns="71755" bIns="0" rtlCol="0" anchor="t" anchorCtr="0">
            <a:normAutofit/>
          </a:bodyPr>
          <a:lstStyle>
            <a:lvl1pPr marL="0" marR="0" lvl="0" algn="r" defTabSz="914400" rtl="0" eaLnBrk="1" fontAlgn="auto" latinLnBrk="0" hangingPunct="1">
              <a:lnSpc>
                <a:spcPct val="100000"/>
              </a:lnSpc>
              <a:buClrTx/>
              <a:buSzTx/>
              <a:buFontTx/>
              <a:buNone/>
              <a:defRPr kumimoji="0" sz="1050" b="0" i="0" u="none" strike="noStrike" kern="1200" cap="none" spc="0" normalizeH="0" baseline="0" noProof="1" dirty="0" err="1">
                <a:solidFill>
                  <a:schemeClr val="accent1">
                    <a:lumMod val="75000"/>
                  </a:schemeClr>
                </a:solidFill>
                <a:latin typeface="+mj-lt"/>
                <a:sym typeface="+mn-ea"/>
              </a:defRPr>
            </a:lvl1pPr>
          </a:lstStyle>
          <a:p>
            <a:pPr lvl="0" algn="r">
              <a:buClrTx/>
              <a:buSzTx/>
              <a:buFontTx/>
            </a:pPr>
            <a:r>
              <a:rPr dirty="0">
                <a:latin typeface="+mj-lt"/>
                <a:sym typeface="+mn-ea"/>
              </a:rPr>
              <a:t>Click to add text</a:t>
            </a:r>
            <a:endParaRPr dirty="0">
              <a:sym typeface="+mn-ea"/>
            </a:endParaRPr>
          </a:p>
        </p:txBody>
      </p:sp>
      <p:sp>
        <p:nvSpPr>
          <p:cNvPr id="7" name="标题" descr="7b0a20202020227461726765744d6f64756c65223a202270726f636573734f6e6c696e65466f6e7473220a7d0a"/>
          <p:cNvSpPr txBox="1">
            <a:spLocks noGrp="1"/>
          </p:cNvSpPr>
          <p:nvPr>
            <p:ph type="title" idx="1" hasCustomPrompt="1"/>
            <p:custDataLst>
              <p:tags r:id="rId9"/>
            </p:custDataLst>
          </p:nvPr>
        </p:nvSpPr>
        <p:spPr>
          <a:xfrm>
            <a:off x="3213735" y="984885"/>
            <a:ext cx="5197316" cy="2830830"/>
          </a:xfrm>
          <a:prstGeom prst="rect">
            <a:avLst/>
          </a:prstGeom>
          <a:noFill/>
        </p:spPr>
        <p:txBody>
          <a:bodyPr wrap="square" lIns="0" tIns="0" rIns="0" bIns="0" rtlCol="0" anchor="b" anchorCtr="0">
            <a:normAutofit/>
          </a:bodyPr>
          <a:lstStyle>
            <a:lvl1pPr marL="0" marR="0" lvl="0" algn="r"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0"/>
            </p:custDataLst>
          </p:nvPr>
        </p:nvSpPr>
        <p:spPr>
          <a:xfrm>
            <a:off x="459000" y="6314400"/>
            <a:ext cx="2025000" cy="316800"/>
          </a:xfrm>
        </p:spPr>
        <p:txBody>
          <a:bodyPr/>
          <a:lstStyle/>
          <a:p>
            <a:r>
              <a:rPr lang="en-US"/>
              <a:t>Date Area</a:t>
            </a:r>
            <a:endParaRPr lang="en-US"/>
          </a:p>
        </p:txBody>
      </p:sp>
      <p:sp>
        <p:nvSpPr>
          <p:cNvPr id="5" name="页脚占位符 4"/>
          <p:cNvSpPr>
            <a:spLocks noGrp="1"/>
          </p:cNvSpPr>
          <p:nvPr>
            <p:ph type="ftr" sz="quarter" idx="11"/>
            <p:custDataLst>
              <p:tags r:id="rId11"/>
            </p:custDataLst>
          </p:nvPr>
        </p:nvSpPr>
        <p:spPr>
          <a:xfrm>
            <a:off x="3087000" y="6314400"/>
            <a:ext cx="2970000" cy="316800"/>
          </a:xfrm>
        </p:spPr>
        <p:txBody>
          <a:bodyPr/>
          <a:lstStyle/>
          <a:p>
            <a:endParaRPr lang="en-US" dirty="0"/>
          </a:p>
        </p:txBody>
      </p:sp>
      <p:sp>
        <p:nvSpPr>
          <p:cNvPr id="6" name="灯片编号占位符 5"/>
          <p:cNvSpPr>
            <a:spLocks noGrp="1"/>
          </p:cNvSpPr>
          <p:nvPr>
            <p:ph type="sldNum" sz="quarter" idx="12"/>
            <p:custDataLst>
              <p:tags r:id="rId12"/>
            </p:custDataLst>
          </p:nvPr>
        </p:nvSpPr>
        <p:spPr>
          <a:xfrm>
            <a:off x="6658200" y="6314400"/>
            <a:ext cx="2025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lvl1pPr>
              <a:defRPr baseline="0">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6"/>
            </p:custDataLst>
          </p:nvPr>
        </p:nvSpPr>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a:blip r:embed="rId3">
            <a:duotone>
              <a:prstClr val="black"/>
              <a:schemeClr val="bg2">
                <a:tint val="45000"/>
                <a:satMod val="400000"/>
              </a:schemeClr>
            </a:duotone>
            <a:extLst>
              <a:ext uri="{28A0092B-C50C-407E-A947-70E740481C1C}">
                <a14:useLocalDpi xmlns:a14="http://schemas.microsoft.com/office/drawing/2010/main" val="0"/>
              </a:ext>
            </a:extLst>
          </a:blip>
          <a:srcRect t="735"/>
          <a:stretch>
            <a:fillRect/>
          </a:stretch>
        </p:blipFill>
        <p:spPr>
          <a:xfrm>
            <a:off x="1" y="0"/>
            <a:ext cx="9143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
        <p:nvSpPr>
          <p:cNvPr id="14" name="矩形 13"/>
          <p:cNvSpPr/>
          <p:nvPr>
            <p:custDataLst>
              <p:tags r:id="rId4"/>
            </p:custDataLst>
          </p:nvPr>
        </p:nvSpPr>
        <p:spPr>
          <a:xfrm>
            <a:off x="0" y="0"/>
            <a:ext cx="9144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6" name="图片 35" descr="363"/>
          <p:cNvPicPr>
            <a:picLocks noChangeAspect="1"/>
          </p:cNvPicPr>
          <p:nvPr>
            <p:custDataLst>
              <p:tags r:id="rId5"/>
            </p:custDataLst>
          </p:nvPr>
        </p:nvPicPr>
        <p:blipFill>
          <a:blip r:embed="rId6"/>
          <a:stretch>
            <a:fillRect/>
          </a:stretch>
        </p:blipFill>
        <p:spPr>
          <a:xfrm>
            <a:off x="8157686" y="1054100"/>
            <a:ext cx="481965" cy="335915"/>
          </a:xfrm>
          <a:prstGeom prst="rect">
            <a:avLst/>
          </a:prstGeom>
        </p:spPr>
      </p:pic>
      <p:pic>
        <p:nvPicPr>
          <p:cNvPr id="37" name="图片 36" descr="363"/>
          <p:cNvPicPr>
            <a:picLocks noChangeAspect="1"/>
          </p:cNvPicPr>
          <p:nvPr>
            <p:custDataLst>
              <p:tags r:id="rId7"/>
            </p:custDataLst>
          </p:nvPr>
        </p:nvPicPr>
        <p:blipFill>
          <a:blip r:embed="rId6"/>
          <a:stretch>
            <a:fillRect/>
          </a:stretch>
        </p:blipFill>
        <p:spPr>
          <a:xfrm>
            <a:off x="6142673" y="3277235"/>
            <a:ext cx="336709" cy="234950"/>
          </a:xfrm>
          <a:prstGeom prst="rect">
            <a:avLst/>
          </a:prstGeom>
        </p:spPr>
      </p:pic>
      <p:pic>
        <p:nvPicPr>
          <p:cNvPr id="9" name="图片 8" descr="ggg"/>
          <p:cNvPicPr>
            <a:picLocks noChangeAspect="1"/>
          </p:cNvPicPr>
          <p:nvPr>
            <p:custDataLst>
              <p:tags r:id="rId8"/>
            </p:custDataLst>
          </p:nvPr>
        </p:nvPicPr>
        <p:blipFill>
          <a:blip r:embed="rId9"/>
          <a:stretch>
            <a:fillRect/>
          </a:stretch>
        </p:blipFill>
        <p:spPr>
          <a:xfrm>
            <a:off x="7968139" y="4663440"/>
            <a:ext cx="614363" cy="1224915"/>
          </a:xfrm>
          <a:prstGeom prst="rect">
            <a:avLst/>
          </a:prstGeom>
        </p:spPr>
      </p:pic>
      <p:sp>
        <p:nvSpPr>
          <p:cNvPr id="6" name="标题"/>
          <p:cNvSpPr txBox="1">
            <a:spLocks noGrp="1"/>
          </p:cNvSpPr>
          <p:nvPr>
            <p:ph type="title" idx="1" hasCustomPrompt="1"/>
            <p:custDataLst>
              <p:tags r:id="rId10"/>
            </p:custDataLst>
          </p:nvPr>
        </p:nvSpPr>
        <p:spPr>
          <a:xfrm>
            <a:off x="591502" y="835660"/>
            <a:ext cx="5701529" cy="1198880"/>
          </a:xfrm>
          <a:prstGeom prst="rect">
            <a:avLst/>
          </a:prstGeom>
          <a:noFill/>
        </p:spPr>
        <p:txBody>
          <a:bodyPr wrap="square" lIns="91440" tIns="45720" rIns="91440" bIns="45720" rtlCol="0" anchor="t">
            <a:normAutofit/>
          </a:bodyPr>
          <a:lstStyle>
            <a:lvl1pPr marL="0" marR="0" lvl="0" algn="l" defTabSz="914400" rtl="0" eaLnBrk="1" fontAlgn="auto" latinLnBrk="0" hangingPunct="1">
              <a:lnSpc>
                <a:spcPct val="100000"/>
              </a:lnSpc>
              <a:buClrTx/>
              <a:buSzTx/>
              <a:buFontTx/>
              <a:buNone/>
              <a:defRPr kumimoji="0" lang="en-US" sz="4950" b="0" i="0" u="none" strike="noStrike" kern="1200" cap="none" spc="0" normalizeH="0" baseline="0" noProof="1" dirty="0">
                <a:solidFill>
                  <a:schemeClr val="dk1">
                    <a:lumMod val="100000"/>
                  </a:schemeClr>
                </a:solidFill>
                <a:effectLst/>
                <a:latin typeface="+mj-lt"/>
                <a:sym typeface="+mn-ea"/>
              </a:defRPr>
            </a:lvl1pPr>
          </a:lstStyle>
          <a:p>
            <a:pPr lvl="0" algn="l">
              <a:buClrTx/>
              <a:buSzTx/>
              <a:buFontTx/>
            </a:pPr>
            <a:r>
              <a:rPr lang="en-US" dirty="0">
                <a:latin typeface="+mj-lt"/>
                <a:sym typeface="+mn-ea"/>
              </a:rPr>
              <a:t>Click to add title</a:t>
            </a:r>
            <a:endParaRPr lang="en-US" dirty="0">
              <a:sym typeface="+mn-ea"/>
            </a:endParaRPr>
          </a:p>
        </p:txBody>
      </p:sp>
      <p:sp>
        <p:nvSpPr>
          <p:cNvPr id="3" name="日期占位符 2"/>
          <p:cNvSpPr>
            <a:spLocks noGrp="1"/>
          </p:cNvSpPr>
          <p:nvPr>
            <p:ph type="dt" sz="half" idx="10"/>
            <p:custDataLst>
              <p:tags r:id="rId11"/>
            </p:custDataLst>
          </p:nvPr>
        </p:nvSpPr>
        <p:spPr>
          <a:xfrm>
            <a:off x="459000" y="6314400"/>
            <a:ext cx="2025000" cy="316800"/>
          </a:xfrm>
        </p:spPr>
        <p:txBody>
          <a:bodyPr/>
          <a:lstStyle/>
          <a:p>
            <a:r>
              <a:rPr lang="en-US"/>
              <a:t>Date Area</a:t>
            </a:r>
            <a:endParaRPr lang="en-US"/>
          </a:p>
        </p:txBody>
      </p:sp>
      <p:sp>
        <p:nvSpPr>
          <p:cNvPr id="4" name="页脚占位符 3"/>
          <p:cNvSpPr>
            <a:spLocks noGrp="1"/>
          </p:cNvSpPr>
          <p:nvPr>
            <p:ph type="ftr" sz="quarter" idx="11"/>
            <p:custDataLst>
              <p:tags r:id="rId12"/>
            </p:custDataLst>
          </p:nvPr>
        </p:nvSpPr>
        <p:spPr>
          <a:xfrm>
            <a:off x="3087000" y="6314400"/>
            <a:ext cx="2970000" cy="316800"/>
          </a:xfrm>
        </p:spPr>
        <p:txBody>
          <a:bodyPr/>
          <a:lstStyle/>
          <a:p>
            <a:endParaRPr lang="en-US" dirty="0"/>
          </a:p>
        </p:txBody>
      </p:sp>
      <p:sp>
        <p:nvSpPr>
          <p:cNvPr id="5" name="灯片编号占位符 4"/>
          <p:cNvSpPr>
            <a:spLocks noGrp="1"/>
          </p:cNvSpPr>
          <p:nvPr>
            <p:ph type="sldNum" sz="quarter" idx="12"/>
            <p:custDataLst>
              <p:tags r:id="rId13"/>
            </p:custDataLst>
          </p:nvPr>
        </p:nvSpPr>
        <p:spPr>
          <a:xfrm>
            <a:off x="6658200" y="6314400"/>
            <a:ext cx="2025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9144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 name="图片 2"/>
          <p:cNvPicPr>
            <a:picLocks noChangeAspect="1"/>
          </p:cNvPicPr>
          <p:nvPr>
            <p:custDataLst>
              <p:tags r:id="rId3"/>
            </p:custDataLst>
          </p:nvPr>
        </p:nvPicPr>
        <p:blipFill>
          <a:blip r:embed="rId4">
            <a:alphaModFix amt="75000"/>
            <a:duotone>
              <a:prstClr val="black"/>
              <a:schemeClr val="bg2">
                <a:tint val="45000"/>
                <a:satMod val="400000"/>
              </a:schemeClr>
            </a:duotone>
            <a:extLst>
              <a:ext uri="{BEBA8EAE-BF5A-486C-A8C5-ECC9F3942E4B}">
                <a14:imgProps xmlns:a14="http://schemas.microsoft.com/office/drawing/2010/main">
                  <a14:imgLayer r:embed="rId5">
                    <a14:imgEffect>
                      <a14:brightnessContrast bright="7000"/>
                    </a14:imgEffect>
                    <a14:imgEffect>
                      <a14:saturation sat="169000"/>
                    </a14:imgEffect>
                  </a14:imgLayer>
                </a14:imgProps>
              </a:ext>
              <a:ext uri="{28A0092B-C50C-407E-A947-70E740481C1C}">
                <a14:useLocalDpi xmlns:a14="http://schemas.microsoft.com/office/drawing/2010/main" val="0"/>
              </a:ext>
            </a:extLst>
          </a:blip>
          <a:stretch>
            <a:fillRect/>
          </a:stretch>
        </p:blipFill>
        <p:spPr>
          <a:xfrm>
            <a:off x="7143" y="0"/>
            <a:ext cx="9136856" cy="6858000"/>
          </a:xfrm>
          <a:prstGeom prst="rect">
            <a:avLst/>
          </a:prstGeom>
        </p:spPr>
      </p:pic>
      <p:pic>
        <p:nvPicPr>
          <p:cNvPr id="9" name="图片 8" descr="矢量智能对象"/>
          <p:cNvPicPr>
            <a:picLocks noChangeAspect="1"/>
          </p:cNvPicPr>
          <p:nvPr>
            <p:custDataLst>
              <p:tags r:id="rId6"/>
            </p:custDataLst>
          </p:nvPr>
        </p:nvPicPr>
        <p:blipFill>
          <a:blip r:embed="rId7"/>
          <a:stretch>
            <a:fillRect/>
          </a:stretch>
        </p:blipFill>
        <p:spPr>
          <a:xfrm>
            <a:off x="5482114" y="2189480"/>
            <a:ext cx="585311" cy="897255"/>
          </a:xfrm>
          <a:prstGeom prst="rect">
            <a:avLst/>
          </a:prstGeom>
        </p:spPr>
      </p:pic>
      <p:pic>
        <p:nvPicPr>
          <p:cNvPr id="10" name="图片 9" descr="363"/>
          <p:cNvPicPr>
            <a:picLocks noChangeAspect="1"/>
          </p:cNvPicPr>
          <p:nvPr>
            <p:custDataLst>
              <p:tags r:id="rId8"/>
            </p:custDataLst>
          </p:nvPr>
        </p:nvPicPr>
        <p:blipFill>
          <a:blip r:embed="rId9"/>
          <a:stretch>
            <a:fillRect/>
          </a:stretch>
        </p:blipFill>
        <p:spPr>
          <a:xfrm>
            <a:off x="6873240" y="1170305"/>
            <a:ext cx="481965" cy="335915"/>
          </a:xfrm>
          <a:prstGeom prst="rect">
            <a:avLst/>
          </a:prstGeom>
        </p:spPr>
      </p:pic>
      <p:sp>
        <p:nvSpPr>
          <p:cNvPr id="7" name="标题"/>
          <p:cNvSpPr txBox="1">
            <a:spLocks noGrp="1"/>
          </p:cNvSpPr>
          <p:nvPr>
            <p:ph type="title" idx="1" hasCustomPrompt="1"/>
            <p:custDataLst>
              <p:tags r:id="rId10"/>
            </p:custDataLst>
          </p:nvPr>
        </p:nvSpPr>
        <p:spPr>
          <a:xfrm>
            <a:off x="526732" y="2189480"/>
            <a:ext cx="5103360" cy="1948815"/>
          </a:xfrm>
          <a:prstGeom prst="rect">
            <a:avLst/>
          </a:prstGeom>
          <a:noFill/>
        </p:spPr>
        <p:txBody>
          <a:bodyPr wrap="square" lIns="91440" tIns="0" rIns="91440" bIns="0" rtlCol="0" anchor="ctr" anchorCtr="0">
            <a:normAutofit/>
          </a:bodyPr>
          <a:lstStyle>
            <a:lvl1pPr marL="0" marR="0" lvl="0" algn="l"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l">
              <a:buClrTx/>
              <a:buSzTx/>
              <a:buFontTx/>
            </a:pPr>
            <a:r>
              <a:rPr lang="en-US" dirty="0">
                <a:latin typeface="+mj-lt"/>
                <a:sym typeface="+mn-ea"/>
              </a:rPr>
              <a:t>Click to add title</a:t>
            </a:r>
            <a:endParaRPr dirty="0">
              <a:sym typeface="+mn-ea"/>
            </a:endParaRPr>
          </a:p>
        </p:txBody>
      </p:sp>
      <p:sp>
        <p:nvSpPr>
          <p:cNvPr id="4" name="日期占位符 3"/>
          <p:cNvSpPr>
            <a:spLocks noGrp="1"/>
          </p:cNvSpPr>
          <p:nvPr>
            <p:ph type="dt" sz="half" idx="10"/>
            <p:custDataLst>
              <p:tags r:id="rId11"/>
            </p:custDataLst>
          </p:nvPr>
        </p:nvSpPr>
        <p:spPr>
          <a:xfrm>
            <a:off x="459000" y="6314400"/>
            <a:ext cx="2025000" cy="316800"/>
          </a:xfrm>
        </p:spPr>
        <p:txBody>
          <a:bodyPr/>
          <a:lstStyle/>
          <a:p>
            <a:r>
              <a:rPr lang="en-US"/>
              <a:t>Date Area</a:t>
            </a:r>
            <a:endParaRPr lang="en-US"/>
          </a:p>
        </p:txBody>
      </p:sp>
      <p:sp>
        <p:nvSpPr>
          <p:cNvPr id="5" name="页脚占位符 4"/>
          <p:cNvSpPr>
            <a:spLocks noGrp="1"/>
          </p:cNvSpPr>
          <p:nvPr>
            <p:ph type="ftr" sz="quarter" idx="11"/>
            <p:custDataLst>
              <p:tags r:id="rId12"/>
            </p:custDataLst>
          </p:nvPr>
        </p:nvSpPr>
        <p:spPr>
          <a:xfrm>
            <a:off x="3087000" y="6314400"/>
            <a:ext cx="2970000" cy="316800"/>
          </a:xfrm>
        </p:spPr>
        <p:txBody>
          <a:bodyPr/>
          <a:lstStyle/>
          <a:p>
            <a:endParaRPr lang="en-US" dirty="0"/>
          </a:p>
        </p:txBody>
      </p:sp>
      <p:sp>
        <p:nvSpPr>
          <p:cNvPr id="6" name="灯片编号占位符 5"/>
          <p:cNvSpPr>
            <a:spLocks noGrp="1"/>
          </p:cNvSpPr>
          <p:nvPr>
            <p:ph type="sldNum" sz="quarter" idx="12"/>
            <p:custDataLst>
              <p:tags r:id="rId13"/>
            </p:custDataLst>
          </p:nvPr>
        </p:nvSpPr>
        <p:spPr>
          <a:xfrm>
            <a:off x="6658200" y="6314400"/>
            <a:ext cx="2025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6" name="页脚占位符 5"/>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7" name="灯片编号占位符 6"/>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vert="horz" wrap="square" lIns="0" tIns="0" rIns="0" bIns="0" rtlCol="0" anchor="b">
            <a:normAutofit/>
          </a:bodyPr>
          <a:lstStyle>
            <a:lvl1pPr>
              <a:defRPr lang="en-US" baseline="0"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6"/>
            </p:custDataLst>
          </p:nvPr>
        </p:nvSpPr>
        <p:spPr>
          <a:xfrm>
            <a:off x="521970" y="1301750"/>
            <a:ext cx="399288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7"/>
            </p:custDataLst>
          </p:nvPr>
        </p:nvSpPr>
        <p:spPr>
          <a:xfrm>
            <a:off x="4629150" y="1301750"/>
            <a:ext cx="399288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521732" y="360000"/>
            <a:ext cx="8100298" cy="864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521970" y="1301750"/>
            <a:ext cx="3992880" cy="411303"/>
          </a:xfrm>
        </p:spPr>
        <p:txBody>
          <a:bodyPr wrap="square" anchor="b">
            <a:normAutofit/>
          </a:bodyPr>
          <a:lstStyle>
            <a:lvl1pPr marL="0" indent="0">
              <a:buNone/>
              <a:defRPr sz="1800" b="1"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521970" y="1875099"/>
            <a:ext cx="3992880" cy="4300276"/>
          </a:xfrm>
        </p:spPr>
        <p:txBody>
          <a:bodyPr wrap="square">
            <a:normAutofit/>
          </a:bodyPr>
          <a:lstStyle>
            <a:lvl1pPr>
              <a:defRPr sz="165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4629150" y="1301750"/>
            <a:ext cx="3992880" cy="411303"/>
          </a:xfrm>
        </p:spPr>
        <p:txBody>
          <a:bodyPr wrap="square" anchor="b">
            <a:normAutofit/>
          </a:bodyPr>
          <a:lstStyle>
            <a:lvl1pPr marL="0" indent="0">
              <a:buNone/>
              <a:defRPr sz="1800" b="1"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4629150" y="1875099"/>
            <a:ext cx="3992880" cy="4300276"/>
          </a:xfrm>
        </p:spPr>
        <p:txBody>
          <a:bodyPr wrap="square">
            <a:normAutofit/>
          </a:bodyPr>
          <a:lstStyle>
            <a:lvl1pPr>
              <a:defRPr sz="165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p>
            <a:r>
              <a:rPr lang="en-US" dirty="0">
                <a:latin typeface="+mj-lt"/>
              </a:rPr>
              <a:t>Click to add title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3" name="内容占位符 1"/>
          <p:cNvSpPr>
            <a:spLocks noGrp="1"/>
          </p:cNvSpPr>
          <p:nvPr>
            <p:ph idx="1" hasCustomPrompt="1"/>
            <p:custDataLst>
              <p:tags r:id="rId5"/>
            </p:custDataLst>
          </p:nvPr>
        </p:nvSpPr>
        <p:spPr>
          <a:xfrm>
            <a:off x="521970" y="360045"/>
            <a:ext cx="8101489" cy="5817870"/>
          </a:xfrm>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459000" y="6314400"/>
            <a:ext cx="2025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3087000" y="6314400"/>
            <a:ext cx="297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6658200" y="6314400"/>
            <a:ext cx="2025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521732" y="360000"/>
            <a:ext cx="8099315" cy="864000"/>
          </a:xfrm>
        </p:spPr>
        <p:txBody>
          <a:bodyPr wrap="square">
            <a:normAutofit/>
          </a:bodyPr>
          <a:lstStyle/>
          <a:p>
            <a:r>
              <a:rPr lang="en-US" dirty="0">
                <a:latin typeface="+mj-lt"/>
              </a:rPr>
              <a:t>Click to add title</a:t>
            </a:r>
            <a:endParaRPr lang="en-US" dirty="0"/>
          </a:p>
        </p:txBody>
      </p:sp>
      <p:sp>
        <p:nvSpPr>
          <p:cNvPr id="8" name="文本占位符 7"/>
          <p:cNvSpPr>
            <a:spLocks noGrp="1"/>
          </p:cNvSpPr>
          <p:nvPr>
            <p:ph type="body" idx="1" hasCustomPrompt="1"/>
            <p:custDataLst>
              <p:tags r:id="rId6"/>
            </p:custDataLst>
          </p:nvPr>
        </p:nvSpPr>
        <p:spPr>
          <a:xfrm>
            <a:off x="521970" y="1301750"/>
            <a:ext cx="8099316" cy="405553"/>
          </a:xfrm>
        </p:spPr>
        <p:txBody>
          <a:bodyPr wrap="square" anchor="t">
            <a:normAutofit/>
          </a:bodyPr>
          <a:lstStyle>
            <a:lvl1pPr marL="0" indent="0">
              <a:buNone/>
              <a:defRPr sz="1800" b="0" u="none" strike="noStrike" kern="1200" cap="none" spc="0" normalizeH="0">
                <a:solidFill>
                  <a:srgbClr val="253A3F"/>
                </a:solidFill>
                <a:uFillTx/>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r>
              <a:rPr lang="en-US" dirty="0">
                <a:latin typeface="+mj-lt"/>
              </a:rPr>
              <a:t>Click to add text</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9144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1" name="图片 10"/>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9146343" cy="6858000"/>
          </a:xfrm>
          <a:prstGeom prst="rect">
            <a:avLst/>
          </a:prstGeom>
        </p:spPr>
      </p:pic>
      <p:pic>
        <p:nvPicPr>
          <p:cNvPr id="9" name="图片 8" descr="58585"/>
          <p:cNvPicPr>
            <a:picLocks noChangeAspect="1"/>
          </p:cNvPicPr>
          <p:nvPr>
            <p:custDataLst>
              <p:tags r:id="rId5"/>
            </p:custDataLst>
          </p:nvPr>
        </p:nvPicPr>
        <p:blipFill>
          <a:blip r:embed="rId6"/>
          <a:stretch>
            <a:fillRect/>
          </a:stretch>
        </p:blipFill>
        <p:spPr>
          <a:xfrm>
            <a:off x="7473791" y="606425"/>
            <a:ext cx="815816" cy="656590"/>
          </a:xfrm>
          <a:prstGeom prst="rect">
            <a:avLst/>
          </a:prstGeom>
        </p:spPr>
      </p:pic>
      <p:sp>
        <p:nvSpPr>
          <p:cNvPr id="8" name="署名"/>
          <p:cNvSpPr>
            <a:spLocks noGrp="1"/>
          </p:cNvSpPr>
          <p:nvPr>
            <p:ph type="body" idx="2" hasCustomPrompt="1"/>
            <p:custDataLst>
              <p:tags r:id="rId7"/>
            </p:custDataLst>
          </p:nvPr>
        </p:nvSpPr>
        <p:spPr>
          <a:xfrm>
            <a:off x="6732037" y="4321810"/>
            <a:ext cx="1632818" cy="48656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050" b="0" i="0" u="none" strike="noStrike" kern="1200" cap="none" spc="0" normalizeH="0" baseline="0" noProof="1">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7" name="标题"/>
          <p:cNvSpPr txBox="1">
            <a:spLocks noGrp="1"/>
          </p:cNvSpPr>
          <p:nvPr>
            <p:ph type="title" idx="1" hasCustomPrompt="1"/>
            <p:custDataLst>
              <p:tags r:id="rId8"/>
            </p:custDataLst>
          </p:nvPr>
        </p:nvSpPr>
        <p:spPr>
          <a:xfrm>
            <a:off x="3794760" y="2042795"/>
            <a:ext cx="4616291" cy="2093595"/>
          </a:xfrm>
          <a:prstGeom prst="rect">
            <a:avLst/>
          </a:prstGeom>
          <a:noFill/>
        </p:spPr>
        <p:txBody>
          <a:bodyPr wrap="square" lIns="0" tIns="0" rIns="0" bIns="0" rtlCol="0" anchor="ctr" anchorCtr="0">
            <a:normAutofit/>
          </a:bodyPr>
          <a:lstStyle>
            <a:lvl1pPr marL="0" marR="0" lvl="0" algn="r" defTabSz="914400" rtl="0" eaLnBrk="1" fontAlgn="auto" latinLnBrk="0" hangingPunct="1">
              <a:lnSpc>
                <a:spcPct val="100000"/>
              </a:lnSpc>
              <a:buClrTx/>
              <a:buSzTx/>
              <a:buFontTx/>
              <a:buNone/>
              <a:defRPr kumimoji="0" lang="en-US" sz="405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9"/>
            </p:custDataLst>
          </p:nvPr>
        </p:nvSpPr>
        <p:spPr>
          <a:xfrm>
            <a:off x="459000" y="6314400"/>
            <a:ext cx="2025000" cy="316800"/>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3087000" y="6314400"/>
            <a:ext cx="2970000" cy="316800"/>
          </a:xfrm>
        </p:spPr>
        <p:txBody>
          <a:bodyPr/>
          <a:lstStyle/>
          <a:p>
            <a:endParaRPr lang="en-US" dirty="0"/>
          </a:p>
        </p:txBody>
      </p:sp>
      <p:sp>
        <p:nvSpPr>
          <p:cNvPr id="6" name="灯片编号占位符 5"/>
          <p:cNvSpPr>
            <a:spLocks noGrp="1"/>
          </p:cNvSpPr>
          <p:nvPr>
            <p:ph type="sldNum" sz="quarter" idx="12"/>
            <p:custDataLst>
              <p:tags r:id="rId11"/>
            </p:custDataLst>
          </p:nvPr>
        </p:nvSpPr>
        <p:spPr>
          <a:xfrm>
            <a:off x="6658200" y="6314400"/>
            <a:ext cx="2025000" cy="316800"/>
          </a:xfrm>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2.png"/><Relationship Id="rId10" Type="http://schemas.openxmlformats.org/officeDocument/2006/relationships/image" Target="../media/image1.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2" Type="http://schemas.openxmlformats.org/officeDocument/2006/relationships/theme" Target="../theme/theme2.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2" Type="http://schemas.openxmlformats.org/officeDocument/2006/relationships/theme" Target="../theme/theme3.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2" Type="http://schemas.openxmlformats.org/officeDocument/2006/relationships/theme" Target="../theme/theme4.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slideLayout" Target="../slideLayouts/slideLayout33.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image" Target="../media/image11.png"/><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slideLayout" Target="../slideLayouts/slideLayout42.xml"/><Relationship Id="rId10" Type="http://schemas.openxmlformats.org/officeDocument/2006/relationships/slideLayout" Target="../slideLayouts/slideLayout41.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7"/>
          <p:cNvPicPr preferRelativeResize="0"/>
          <p:nvPr/>
        </p:nvPicPr>
        <p:blipFill rotWithShape="1">
          <a:blip r:embed="rId10"/>
          <a:srcRect/>
          <a:stretch>
            <a:fillRect/>
          </a:stretch>
        </p:blipFill>
        <p:spPr>
          <a:xfrm rot="10800000">
            <a:off x="0" y="6505599"/>
            <a:ext cx="9152280" cy="352398"/>
          </a:xfrm>
          <a:prstGeom prst="rect">
            <a:avLst/>
          </a:prstGeom>
          <a:noFill/>
          <a:ln>
            <a:noFill/>
          </a:ln>
        </p:spPr>
      </p:pic>
      <p:pic>
        <p:nvPicPr>
          <p:cNvPr id="7" name="Google Shape;7;p17"/>
          <p:cNvPicPr preferRelativeResize="0"/>
          <p:nvPr/>
        </p:nvPicPr>
        <p:blipFill rotWithShape="1">
          <a:blip r:embed="rId10"/>
          <a:srcRect/>
          <a:stretch>
            <a:fillRect/>
          </a:stretch>
        </p:blipFill>
        <p:spPr>
          <a:xfrm>
            <a:off x="0" y="-6073"/>
            <a:ext cx="9108504" cy="626761"/>
          </a:xfrm>
          <a:prstGeom prst="rect">
            <a:avLst/>
          </a:prstGeom>
          <a:noFill/>
          <a:ln>
            <a:noFill/>
          </a:ln>
        </p:spPr>
      </p:pic>
      <p:pic>
        <p:nvPicPr>
          <p:cNvPr id="8" name="Google Shape;8;p17"/>
          <p:cNvPicPr preferRelativeResize="0"/>
          <p:nvPr/>
        </p:nvPicPr>
        <p:blipFill rotWithShape="1">
          <a:blip r:embed="rId11"/>
          <a:srcRect/>
          <a:stretch>
            <a:fillRect/>
          </a:stretch>
        </p:blipFill>
        <p:spPr>
          <a:xfrm>
            <a:off x="8374776" y="-6073"/>
            <a:ext cx="763856" cy="626761"/>
          </a:xfrm>
          <a:prstGeom prst="rect">
            <a:avLst/>
          </a:prstGeom>
          <a:noFill/>
          <a:ln>
            <a:noFill/>
          </a:ln>
        </p:spPr>
      </p:pic>
      <p:sp>
        <p:nvSpPr>
          <p:cNvPr id="9" name="Google Shape;9;p17"/>
          <p:cNvSpPr txBox="1"/>
          <p:nvPr/>
        </p:nvSpPr>
        <p:spPr>
          <a:xfrm>
            <a:off x="251520" y="6488666"/>
            <a:ext cx="4752528"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66092"/>
                </a:solidFill>
                <a:latin typeface="+mn-lt"/>
                <a:ea typeface="+mn-ea"/>
                <a:cs typeface="Times New Roman" panose="02020603050405020304"/>
                <a:sym typeface="Times New Roman" panose="02020603050405020304"/>
              </a:rPr>
              <a:t>Zeal Group of Management Institutes</a:t>
            </a:r>
            <a:endParaRPr lang="en-US" sz="1800" b="1" i="0" u="none" strike="noStrike" cap="none">
              <a:solidFill>
                <a:srgbClr val="366092"/>
              </a:solidFill>
              <a:latin typeface="+mn-lt"/>
              <a:ea typeface="+mn-ea"/>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1" name="Google Shape;81;p2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2" name="Google Shape;82;p2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3" name="Google Shape;83;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4" name="Google Shape;84;p2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mn-lt"/>
                <a:ea typeface="+mn-ea"/>
                <a:cs typeface="Calibri" panose="020F0502020204030204"/>
                <a:sym typeface="Calibri" panose="020F0502020204030204"/>
              </a:defRPr>
            </a:lvl1pPr>
            <a:lvl2pPr marL="0" marR="0" lvl="1"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mj-lt"/>
          <a:ea typeface="+mj-ea"/>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mn-lt"/>
          <a:ea typeface="+mn-ea"/>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154"/>
        <p:cNvGrpSpPr/>
        <p:nvPr/>
      </p:nvGrpSpPr>
      <p:grpSpPr>
        <a:xfrm>
          <a:off x="0" y="0"/>
          <a:ext cx="0" cy="0"/>
          <a:chOff x="0" y="0"/>
          <a:chExt cx="0" cy="0"/>
        </a:xfrm>
      </p:grpSpPr>
      <p:sp>
        <p:nvSpPr>
          <p:cNvPr id="155" name="Google Shape;155;p4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4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7" name="Google Shape;157;p4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8" name="Google Shape;158;p4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mn-lt"/>
                <a:ea typeface="+mn-ea"/>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9" name="Google Shape;159;p4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mn-lt"/>
                <a:ea typeface="+mn-ea"/>
                <a:cs typeface="Calibri" panose="020F0502020204030204"/>
                <a:sym typeface="Calibri" panose="020F0502020204030204"/>
              </a:defRPr>
            </a:lvl1pPr>
            <a:lvl2pPr marL="0" marR="0" lvl="1"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mj-lt"/>
          <a:ea typeface="+mj-ea"/>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mn-lt"/>
          <a:ea typeface="+mn-ea"/>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 name="矩形 3"/>
          <p:cNvSpPr/>
          <p:nvPr>
            <p:custDataLst>
              <p:tags r:id="rId12"/>
            </p:custDataLst>
          </p:nvPr>
        </p:nvSpPr>
        <p:spPr>
          <a:xfrm>
            <a:off x="0" y="0"/>
            <a:ext cx="9144000" cy="6858000"/>
          </a:xfrm>
          <a:prstGeom prst="rect">
            <a:avLst/>
          </a:prstGeom>
          <a:solidFill>
            <a:schemeClr val="accent1">
              <a:lumMod val="8000"/>
              <a:lumOff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Arial" panose="020B0604020202020204" pitchFamily="34" charset="0"/>
            </a:endParaRPr>
          </a:p>
        </p:txBody>
      </p:sp>
      <p:pic>
        <p:nvPicPr>
          <p:cNvPr id="6" name="图片 5"/>
          <p:cNvPicPr>
            <a:picLocks noChangeAspect="1"/>
          </p:cNvPicPr>
          <p:nvPr>
            <p:custDataLst>
              <p:tags r:id="rId13"/>
            </p:custDataLst>
          </p:nvPr>
        </p:nvPicPr>
        <p:blipFill>
          <a:blip r:embed="rId14">
            <a:alphaModFix amt="47000"/>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9129713" cy="6858000"/>
          </a:xfrm>
          <a:prstGeom prst="rect">
            <a:avLst/>
          </a:prstGeom>
        </p:spPr>
      </p:pic>
      <p:sp>
        <p:nvSpPr>
          <p:cNvPr id="8" name="日期占位符 7"/>
          <p:cNvSpPr>
            <a:spLocks noGrp="1"/>
          </p:cNvSpPr>
          <p:nvPr>
            <p:ph type="dt" sz="half" idx="10"/>
            <p:custDataLst>
              <p:tags r:id="rId15"/>
            </p:custDataLst>
          </p:nvPr>
        </p:nvSpPr>
        <p:spPr>
          <a:xfrm>
            <a:off x="521970" y="6356350"/>
            <a:ext cx="2057400" cy="365125"/>
          </a:xfrm>
        </p:spPr>
        <p:txBody>
          <a:bodyPr/>
          <a:lstStyle>
            <a:lvl1pPr>
              <a:defRPr>
                <a:latin typeface="Arial" panose="020B0604020202020204" pitchFamily="34" charset="0"/>
              </a:defRPr>
            </a:lvl1pPr>
          </a:lstStyle>
          <a:p>
            <a:r>
              <a:rPr lang="en-US"/>
              <a:t>Date Area</a:t>
            </a:r>
            <a:endParaRPr lang="en-US"/>
          </a:p>
        </p:txBody>
      </p:sp>
      <p:sp>
        <p:nvSpPr>
          <p:cNvPr id="9" name="页脚占位符 8"/>
          <p:cNvSpPr>
            <a:spLocks noGrp="1"/>
          </p:cNvSpPr>
          <p:nvPr>
            <p:ph type="ftr" sz="quarter" idx="11"/>
            <p:custDataLst>
              <p:tags r:id="rId16"/>
            </p:custDataLst>
          </p:nvPr>
        </p:nvSpPr>
        <p:spPr>
          <a:xfrm>
            <a:off x="3028950" y="6356350"/>
            <a:ext cx="3086100" cy="365125"/>
          </a:xfrm>
        </p:spPr>
        <p:txBody>
          <a:bodyPr/>
          <a:lstStyle>
            <a:lvl1pPr>
              <a:defRPr>
                <a:latin typeface="Arial" panose="020B0604020202020204" pitchFamily="34" charset="0"/>
              </a:defRPr>
            </a:lvl1pPr>
          </a:lstStyle>
          <a:p>
            <a:endParaRPr lang="en-US" dirty="0"/>
          </a:p>
        </p:txBody>
      </p:sp>
      <p:sp>
        <p:nvSpPr>
          <p:cNvPr id="10" name="灯片编号占位符 9"/>
          <p:cNvSpPr>
            <a:spLocks noGrp="1"/>
          </p:cNvSpPr>
          <p:nvPr>
            <p:ph type="sldNum" sz="quarter" idx="12"/>
            <p:custDataLst>
              <p:tags r:id="rId17"/>
            </p:custDataLst>
          </p:nvPr>
        </p:nvSpPr>
        <p:spPr>
          <a:xfrm>
            <a:off x="6565487" y="6356350"/>
            <a:ext cx="20574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7" name="标题占位符 1"/>
          <p:cNvSpPr>
            <a:spLocks noGrp="1"/>
          </p:cNvSpPr>
          <p:nvPr>
            <p:ph type="title"/>
            <p:custDataLst>
              <p:tags r:id="rId18"/>
            </p:custDataLst>
          </p:nvPr>
        </p:nvSpPr>
        <p:spPr>
          <a:xfrm>
            <a:off x="521970" y="360000"/>
            <a:ext cx="81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11" name="文本占位符 10"/>
          <p:cNvSpPr>
            <a:spLocks noGrp="1"/>
          </p:cNvSpPr>
          <p:nvPr>
            <p:ph type="body" idx="1"/>
            <p:custDataLst>
              <p:tags r:id="rId19"/>
            </p:custDataLst>
          </p:nvPr>
        </p:nvSpPr>
        <p:spPr>
          <a:xfrm>
            <a:off x="521970" y="1301749"/>
            <a:ext cx="81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50"/>
          </a:p>
        </p:txBody>
      </p:sp>
    </p:spTree>
    <p:custDataLst>
      <p:tags r:id="rId21"/>
    </p:custData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685800" rtl="0" eaLnBrk="1" fontAlgn="auto" latinLnBrk="0" hangingPunct="1">
        <a:lnSpc>
          <a:spcPct val="100000"/>
        </a:lnSpc>
        <a:spcBef>
          <a:spcPct val="0"/>
        </a:spcBef>
        <a:buNone/>
        <a:defRPr kumimoji="0" lang="en-US" sz="2400" b="0" i="0" u="none" strike="noStrike" kern="1200" cap="none" spc="0" normalizeH="0" baseline="0" dirty="0" smtClean="0">
          <a:solidFill>
            <a:srgbClr val="253A3F"/>
          </a:solidFill>
          <a:uFillTx/>
          <a:latin typeface="Arial" panose="020B0604020202020204" pitchFamily="34" charset="0"/>
          <a:sym typeface="Arial" panose="020B0604020202020204" pitchFamily="34" charset="0"/>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350" u="none" strike="noStrike" kern="1200" cap="none" spc="0" normalizeH="0" baseline="0">
          <a:solidFill>
            <a:srgbClr val="253A3F"/>
          </a:solidFill>
          <a:uFillTx/>
          <a:latin typeface="Arial" panose="020B0604020202020204" pitchFamily="34" charset="0"/>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135" algn="l"/>
          <a:tab pos="1207135" algn="l"/>
          <a:tab pos="1207135" algn="l"/>
          <a:tab pos="1207135" algn="l"/>
        </a:tabLst>
        <a:defRPr sz="1200" u="none" strike="noStrike" kern="1200" cap="none" spc="150" normalizeH="0" baseline="0">
          <a:solidFill>
            <a:srgbClr val="253A3F"/>
          </a:solidFill>
          <a:uFillTx/>
          <a:latin typeface="+mn-lt"/>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sz="1200" u="none" strike="noStrike" kern="1200" cap="none" spc="150" normalizeH="0" baseline="0">
          <a:solidFill>
            <a:srgbClr val="253A3F"/>
          </a:solidFill>
          <a:uFillTx/>
          <a:latin typeface="+mn-lt"/>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rgbClr val="253A3F"/>
          </a:solidFill>
          <a:uFillTx/>
          <a:latin typeface="+mn-lt"/>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sz="1050" u="none" strike="noStrike" kern="1200" cap="none" spc="150" normalizeH="0" baseline="0">
          <a:solidFill>
            <a:srgbClr val="253A3F"/>
          </a:solidFill>
          <a:uFillTx/>
          <a:latin typeface="+mn-lt"/>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defRPr>
      </a:lvl1pPr>
      <a:lvl2pPr marL="342900" algn="l" defTabSz="685800" rtl="0" eaLnBrk="1" latinLnBrk="0" hangingPunct="1">
        <a:defRPr sz="1350" kern="1200">
          <a:solidFill>
            <a:schemeClr val="tx1"/>
          </a:solidFill>
          <a:latin typeface="+mn-lt"/>
        </a:defRPr>
      </a:lvl2pPr>
      <a:lvl3pPr marL="685800" algn="l" defTabSz="685800" rtl="0" eaLnBrk="1" latinLnBrk="0" hangingPunct="1">
        <a:defRPr sz="1350" kern="1200">
          <a:solidFill>
            <a:schemeClr val="tx1"/>
          </a:solidFill>
          <a:latin typeface="+mn-lt"/>
        </a:defRPr>
      </a:lvl3pPr>
      <a:lvl4pPr marL="1028700" algn="l" defTabSz="685800" rtl="0" eaLnBrk="1" latinLnBrk="0" hangingPunct="1">
        <a:defRPr sz="1350" kern="1200">
          <a:solidFill>
            <a:schemeClr val="tx1"/>
          </a:solidFill>
          <a:latin typeface="+mn-lt"/>
        </a:defRPr>
      </a:lvl4pPr>
      <a:lvl5pPr marL="1371600" algn="l" defTabSz="685800" rtl="0" eaLnBrk="1" latinLnBrk="0" hangingPunct="1">
        <a:defRPr sz="1350" kern="1200">
          <a:solidFill>
            <a:schemeClr val="tx1"/>
          </a:solidFill>
          <a:latin typeface="+mn-lt"/>
        </a:defRPr>
      </a:lvl5pPr>
      <a:lvl6pPr marL="1714500" algn="l" defTabSz="685800" rtl="0" eaLnBrk="1" latinLnBrk="0" hangingPunct="1">
        <a:defRPr sz="1350" kern="1200">
          <a:solidFill>
            <a:schemeClr val="tx1"/>
          </a:solidFill>
          <a:latin typeface="+mn-lt"/>
        </a:defRPr>
      </a:lvl6pPr>
      <a:lvl7pPr marL="2057400" algn="l" defTabSz="685800" rtl="0" eaLnBrk="1" latinLnBrk="0" hangingPunct="1">
        <a:defRPr sz="1350" kern="1200">
          <a:solidFill>
            <a:schemeClr val="tx1"/>
          </a:solidFill>
          <a:latin typeface="+mn-lt"/>
        </a:defRPr>
      </a:lvl7pPr>
      <a:lvl8pPr marL="2400300" algn="l" defTabSz="685800" rtl="0" eaLnBrk="1" latinLnBrk="0" hangingPunct="1">
        <a:defRPr sz="1350" kern="1200">
          <a:solidFill>
            <a:schemeClr val="tx1"/>
          </a:solidFill>
          <a:latin typeface="+mn-lt"/>
        </a:defRPr>
      </a:lvl8pPr>
      <a:lvl9pPr marL="2743200" algn="l" defTabSz="685800" rtl="0" eaLnBrk="1" latinLnBrk="0" hangingPunct="1">
        <a:defRPr sz="135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3.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3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12.jpeg"/><Relationship Id="rId2" Type="http://schemas.openxmlformats.org/officeDocument/2006/relationships/tags" Target="../tags/tag85.xml"/><Relationship Id="rId1" Type="http://schemas.openxmlformats.org/officeDocument/2006/relationships/tags" Target="../tags/tag8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13.xml"/><Relationship Id="rId1" Type="http://schemas.openxmlformats.org/officeDocument/2006/relationships/tags" Target="../tags/tag1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15.xml"/><Relationship Id="rId1" Type="http://schemas.openxmlformats.org/officeDocument/2006/relationships/tags" Target="../tags/tag11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17.xml"/><Relationship Id="rId1" Type="http://schemas.openxmlformats.org/officeDocument/2006/relationships/tags" Target="../tags/tag11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19.xml"/><Relationship Id="rId1" Type="http://schemas.openxmlformats.org/officeDocument/2006/relationships/tags" Target="../tags/tag11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1.xml"/><Relationship Id="rId1" Type="http://schemas.openxmlformats.org/officeDocument/2006/relationships/tags" Target="../tags/tag12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3.xml"/><Relationship Id="rId1" Type="http://schemas.openxmlformats.org/officeDocument/2006/relationships/tags" Target="../tags/tag12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5.xml"/><Relationship Id="rId1" Type="http://schemas.openxmlformats.org/officeDocument/2006/relationships/tags" Target="../tags/tag12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7.xml"/><Relationship Id="rId1" Type="http://schemas.openxmlformats.org/officeDocument/2006/relationships/tags" Target="../tags/tag12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9.xml"/><Relationship Id="rId1" Type="http://schemas.openxmlformats.org/officeDocument/2006/relationships/tags" Target="../tags/tag12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31.xml"/><Relationship Id="rId1" Type="http://schemas.openxmlformats.org/officeDocument/2006/relationships/tags" Target="../tags/tag13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39.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51.xml"/><Relationship Id="rId1" Type="http://schemas.openxmlformats.org/officeDocument/2006/relationships/tags" Target="../tags/tag15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53.xml"/><Relationship Id="rId1" Type="http://schemas.openxmlformats.org/officeDocument/2006/relationships/tags" Target="../tags/tag15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55.xml"/><Relationship Id="rId1" Type="http://schemas.openxmlformats.org/officeDocument/2006/relationships/tags" Target="../tags/tag154.xml"/></Relationships>
</file>

<file path=ppt/slides/_rels/slide30.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4" Type="http://schemas.openxmlformats.org/officeDocument/2006/relationships/slideLayout" Target="../slideLayouts/slideLayout39.xml"/><Relationship Id="rId23" Type="http://schemas.openxmlformats.org/officeDocument/2006/relationships/tags" Target="../tags/tag178.xml"/><Relationship Id="rId22" Type="http://schemas.openxmlformats.org/officeDocument/2006/relationships/tags" Target="../tags/tag177.xml"/><Relationship Id="rId21" Type="http://schemas.openxmlformats.org/officeDocument/2006/relationships/tags" Target="../tags/tag176.xml"/><Relationship Id="rId20" Type="http://schemas.openxmlformats.org/officeDocument/2006/relationships/tags" Target="../tags/tag175.xml"/><Relationship Id="rId2" Type="http://schemas.openxmlformats.org/officeDocument/2006/relationships/tags" Target="../tags/tag157.xml"/><Relationship Id="rId19" Type="http://schemas.openxmlformats.org/officeDocument/2006/relationships/tags" Target="../tags/tag174.xml"/><Relationship Id="rId18" Type="http://schemas.openxmlformats.org/officeDocument/2006/relationships/tags" Target="../tags/tag173.xml"/><Relationship Id="rId17" Type="http://schemas.openxmlformats.org/officeDocument/2006/relationships/tags" Target="../tags/tag172.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5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38.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86.xml"/><Relationship Id="rId1" Type="http://schemas.openxmlformats.org/officeDocument/2006/relationships/tags" Target="../tags/tag185.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9.xml"/><Relationship Id="rId2" Type="http://schemas.openxmlformats.org/officeDocument/2006/relationships/tags" Target="../tags/tag188.xml"/><Relationship Id="rId1" Type="http://schemas.openxmlformats.org/officeDocument/2006/relationships/tags" Target="../tags/tag18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8" name="Google Shape;233;p1"/>
          <p:cNvSpPr txBox="1">
            <a:spLocks noGrp="1"/>
          </p:cNvSpPr>
          <p:nvPr>
            <p:custDataLst>
              <p:tags r:id="rId1"/>
            </p:custDataLst>
          </p:nvPr>
        </p:nvSpPr>
        <p:spPr>
          <a:xfrm>
            <a:off x="457200" y="1502864"/>
            <a:ext cx="8505190" cy="4470927"/>
          </a:xfrm>
          <a:prstGeom prst="rect">
            <a:avLst/>
          </a:prstGeom>
          <a:noFill/>
          <a:ln>
            <a:noFill/>
          </a:ln>
        </p:spPr>
        <p:txBody>
          <a:bodyPr wrap="square" lIns="91425" tIns="45700" rIns="91425" bIns="45700" anchor="t" anchorCtr="0">
            <a:normAutofit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gn="l">
              <a:buSzPts val="2800"/>
            </a:pPr>
            <a:r>
              <a:rPr lang="en-US" sz="2000" dirty="0">
                <a:solidFill>
                  <a:schemeClr val="tx1"/>
                </a:solidFill>
                <a:latin typeface="Times New Roman" panose="02020603050405020304" pitchFamily="18" charset="0"/>
                <a:ea typeface="+mn-ea"/>
                <a:cs typeface="Times New Roman" panose="02020603050405020304" pitchFamily="18" charset="0"/>
              </a:rPr>
              <a:t>1. </a:t>
            </a:r>
            <a:r>
              <a:rPr lang="en-US" altLang="en-US" sz="2000" dirty="0">
                <a:solidFill>
                  <a:schemeClr val="tx1"/>
                </a:solidFill>
                <a:latin typeface="Times New Roman" panose="02020603050405020304" pitchFamily="18" charset="0"/>
                <a:ea typeface="+mn-ea"/>
                <a:cs typeface="Times New Roman" panose="02020603050405020304" pitchFamily="18" charset="0"/>
              </a:rPr>
              <a:t>The basic concepts related to Accounting, Financial Statements, Cost Accounting, Marginal Costing, Budgetary Control</a:t>
            </a:r>
            <a:endParaRPr lang="en-US" altLang="en-US" sz="2000" dirty="0">
              <a:solidFill>
                <a:schemeClr val="tx1"/>
              </a:solidFill>
              <a:latin typeface="Times New Roman" panose="02020603050405020304" pitchFamily="18" charset="0"/>
              <a:ea typeface="+mn-ea"/>
              <a:cs typeface="Times New Roman" panose="02020603050405020304" pitchFamily="18" charset="0"/>
            </a:endParaRPr>
          </a:p>
          <a:p>
            <a:pPr lvl="0" algn="l">
              <a:buSzPts val="2800"/>
            </a:pP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2. </a:t>
            </a:r>
            <a:r>
              <a:rPr lang="en-US" alt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Managerial accounting techniques to support managerial decision making process.</a:t>
            </a:r>
            <a:endParaRPr lang="en-US" alt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endParaRPr>
          </a:p>
          <a:p>
            <a:pPr lvl="0" algn="l">
              <a:buSzPts val="2800"/>
            </a:pP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3. </a:t>
            </a:r>
            <a:r>
              <a:rPr lang="en-US" alt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Perform all the necessary calculations through the relevant numerical problems.</a:t>
            </a: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4. </a:t>
            </a:r>
            <a:r>
              <a:rPr lang="en-US" alt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Analyze and interpret financial statements to access financial health of the organization.</a:t>
            </a: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b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br>
            <a:r>
              <a:rPr 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5. </a:t>
            </a:r>
            <a:r>
              <a:rPr lang="en-US" altLang="en-US" sz="2000" dirty="0">
                <a:solidFill>
                  <a:schemeClr val="tx1"/>
                </a:solidFill>
                <a:latin typeface="Times New Roman" panose="02020603050405020304" pitchFamily="18" charset="0"/>
                <a:ea typeface="+mn-ea"/>
                <a:cs typeface="Times New Roman" panose="02020603050405020304" pitchFamily="18" charset="0"/>
                <a:sym typeface="Times New Roman" panose="02020603050405020304"/>
              </a:rPr>
              <a:t>Understand  fundamental principles and practices of cost accounting techniques and application</a:t>
            </a:r>
            <a:r>
              <a:rPr lang="en-US" sz="2000" dirty="0">
                <a:solidFill>
                  <a:schemeClr val="tx1"/>
                </a:solidFill>
                <a:latin typeface="Times New Roman" panose="02020603050405020304" pitchFamily="18" charset="0"/>
                <a:ea typeface="+mn-ea"/>
                <a:cs typeface="Times New Roman" panose="02020603050405020304" pitchFamily="18" charset="0"/>
              </a:rPr>
              <a:t>.</a:t>
            </a:r>
            <a:endParaRPr lang="en-US" sz="2000" dirty="0">
              <a:solidFill>
                <a:schemeClr val="tx1"/>
              </a:solidFill>
              <a:latin typeface="Times New Roman" panose="02020603050405020304" pitchFamily="18" charset="0"/>
              <a:ea typeface="+mn-ea"/>
              <a:cs typeface="Times New Roman" panose="02020603050405020304" pitchFamily="18" charset="0"/>
            </a:endParaRPr>
          </a:p>
          <a:p>
            <a:pPr lvl="0" algn="l">
              <a:buSzPts val="2800"/>
            </a:pPr>
            <a:br>
              <a:rPr lang="en-US" sz="2000" dirty="0">
                <a:solidFill>
                  <a:schemeClr val="tx1"/>
                </a:solidFill>
                <a:latin typeface="Times New Roman" panose="02020603050405020304" pitchFamily="18" charset="0"/>
                <a:ea typeface="+mn-ea"/>
                <a:cs typeface="Times New Roman" panose="02020603050405020304" pitchFamily="18" charset="0"/>
              </a:rPr>
            </a:br>
            <a:r>
              <a:rPr lang="en-US" sz="2000" dirty="0">
                <a:solidFill>
                  <a:schemeClr val="tx1"/>
                </a:solidFill>
                <a:latin typeface="Times New Roman" panose="02020603050405020304" pitchFamily="18" charset="0"/>
                <a:ea typeface="+mn-ea"/>
                <a:cs typeface="Times New Roman" panose="02020603050405020304" pitchFamily="18" charset="0"/>
              </a:rPr>
              <a:t>6. </a:t>
            </a:r>
            <a:r>
              <a:rPr lang="en-US" altLang="en-US" sz="2000" dirty="0">
                <a:solidFill>
                  <a:schemeClr val="tx1"/>
                </a:solidFill>
                <a:latin typeface="Times New Roman" panose="02020603050405020304" pitchFamily="18" charset="0"/>
                <a:ea typeface="+mn-ea"/>
                <a:cs typeface="Times New Roman" panose="02020603050405020304" pitchFamily="18" charset="0"/>
              </a:rPr>
              <a:t>Various formats and statements as per accounting standards.</a:t>
            </a:r>
            <a:br>
              <a:rPr lang="en-US" sz="2000" dirty="0">
                <a:solidFill>
                  <a:schemeClr val="tx1"/>
                </a:solidFill>
                <a:latin typeface="Times New Roman" panose="02020603050405020304" pitchFamily="18" charset="0"/>
                <a:ea typeface="+mn-ea"/>
                <a:cs typeface="Times New Roman" panose="02020603050405020304" pitchFamily="18" charset="0"/>
              </a:rPr>
            </a:br>
            <a:endParaRPr lang="en-US" sz="2000" dirty="0">
              <a:solidFill>
                <a:schemeClr val="tx1"/>
              </a:solidFill>
              <a:latin typeface="Times New Roman" panose="02020603050405020304" pitchFamily="18" charset="0"/>
              <a:ea typeface="+mn-ea"/>
              <a:cs typeface="Times New Roman" panose="02020603050405020304" pitchFamily="18" charset="0"/>
            </a:endParaRPr>
          </a:p>
        </p:txBody>
      </p:sp>
      <p:sp>
        <p:nvSpPr>
          <p:cNvPr id="234" name="Google Shape;234;p1"/>
          <p:cNvSpPr/>
          <p:nvPr>
            <p:custDataLst>
              <p:tags r:id="rId2"/>
            </p:custDataLst>
          </p:nvPr>
        </p:nvSpPr>
        <p:spPr>
          <a:xfrm>
            <a:off x="301978" y="2840937"/>
            <a:ext cx="9144000" cy="3670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tx1"/>
              </a:solidFill>
              <a:latin typeface="Calibri" panose="020F0502020204030204"/>
              <a:ea typeface="Calibri" panose="020F0502020204030204"/>
              <a:cs typeface="Calibri" panose="020F0502020204030204"/>
              <a:sym typeface="Calibri" panose="020F0502020204030204"/>
            </a:endParaRPr>
          </a:p>
        </p:txBody>
      </p:sp>
      <p:cxnSp>
        <p:nvCxnSpPr>
          <p:cNvPr id="235" name="Google Shape;235;p1"/>
          <p:cNvCxnSpPr/>
          <p:nvPr>
            <p:custDataLst>
              <p:tags r:id="rId3"/>
            </p:custDataLst>
          </p:nvPr>
        </p:nvCxnSpPr>
        <p:spPr>
          <a:xfrm>
            <a:off x="7847965" y="11251565"/>
            <a:ext cx="1114425" cy="0"/>
          </a:xfrm>
          <a:prstGeom prst="straightConnector1">
            <a:avLst/>
          </a:prstGeom>
          <a:noFill/>
          <a:ln w="9525" cap="flat" cmpd="sng">
            <a:solidFill>
              <a:schemeClr val="accent1"/>
            </a:solidFill>
            <a:prstDash val="solid"/>
            <a:round/>
            <a:headEnd type="none" w="sm" len="sm"/>
            <a:tailEnd type="triangle" w="med" len="med"/>
          </a:ln>
        </p:spPr>
      </p:cxnSp>
      <p:sp>
        <p:nvSpPr>
          <p:cNvPr id="9" name="Title 8"/>
          <p:cNvSpPr>
            <a:spLocks noGrp="1"/>
          </p:cNvSpPr>
          <p:nvPr>
            <p:ph type="title"/>
            <p:custDataLst>
              <p:tags r:id="rId4"/>
            </p:custDataLst>
          </p:nvPr>
        </p:nvSpPr>
        <p:spPr/>
        <p:txBody>
          <a:bodyPr vert="horz" wrap="square" lIns="0" tIns="0" rIns="0" bIns="0" rtlCol="0" anchor="b">
            <a:normAutofit/>
          </a:bodyPr>
          <a:lstStyle>
            <a:lvl1pPr>
              <a:defRPr baseline="0">
                <a:latin typeface="+mj-lt"/>
              </a:defRPr>
            </a:lvl1pPr>
          </a:lstStyle>
          <a:p>
            <a:pPr lvl="0" algn="l">
              <a:buClrTx/>
              <a:buSzTx/>
              <a:buFontTx/>
            </a:pPr>
            <a:r>
              <a:rPr>
                <a:solidFill>
                  <a:schemeClr val="tx1"/>
                </a:solidFill>
                <a:latin typeface="Times New Roman" panose="02020603050405020304" pitchFamily="18" charset="0"/>
                <a:cs typeface="Times New Roman" panose="02020603050405020304" pitchFamily="18" charset="0"/>
                <a:sym typeface="+mn-ea"/>
              </a:rPr>
              <a:t>106 Managerial Accounting</a:t>
            </a:r>
            <a:endParaRPr>
              <a:solidFill>
                <a:schemeClr val="tx1"/>
              </a:solidFill>
              <a:latin typeface="Times New Roman" panose="02020603050405020304" pitchFamily="18" charset="0"/>
              <a:cs typeface="Times New Roman" panose="02020603050405020304" pitchFamily="18" charset="0"/>
              <a:sym typeface="+mn-ea"/>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496290" y="1507606"/>
            <a:ext cx="5874327" cy="4281054"/>
            <a:chOff x="0" y="0"/>
            <a:chExt cx="2791079" cy="2290775"/>
          </a:xfrm>
        </p:grpSpPr>
        <p:sp>
          <p:nvSpPr>
            <p:cNvPr id="5" name="Shape 22253"/>
            <p:cNvSpPr/>
            <p:nvPr>
              <p:custDataLst>
                <p:tags r:id="rId1"/>
              </p:custDataLst>
            </p:nvPr>
          </p:nvSpPr>
          <p:spPr>
            <a:xfrm>
              <a:off x="0" y="0"/>
              <a:ext cx="1192378" cy="12192"/>
            </a:xfrm>
            <a:custGeom>
              <a:avLst/>
              <a:gdLst/>
              <a:ahLst/>
              <a:cxnLst/>
              <a:rect l="0" t="0" r="0" b="0"/>
              <a:pathLst>
                <a:path w="1192378" h="12192">
                  <a:moveTo>
                    <a:pt x="0" y="0"/>
                  </a:moveTo>
                  <a:lnTo>
                    <a:pt x="1192378" y="0"/>
                  </a:lnTo>
                  <a:lnTo>
                    <a:pt x="1192378" y="12192"/>
                  </a:lnTo>
                  <a:lnTo>
                    <a:pt x="0" y="12192"/>
                  </a:lnTo>
                  <a:lnTo>
                    <a:pt x="0" y="0"/>
                  </a:lnTo>
                </a:path>
              </a:pathLst>
            </a:custGeom>
          </p:spPr>
          <p:style>
            <a:lnRef idx="2">
              <a:schemeClr val="accent1"/>
            </a:lnRef>
            <a:fillRef idx="0">
              <a:srgbClr val="FFFFFF"/>
            </a:fillRef>
            <a:effectRef idx="0">
              <a:srgbClr val="FFFFFF"/>
            </a:effectRef>
            <a:fontRef idx="minor">
              <a:schemeClr val="tx1"/>
            </a:fontRef>
          </p:style>
          <p:txBody>
            <a:bodyPr/>
            <a:lstStyle/>
            <a:p>
              <a:endParaRPr lang="en-IN">
                <a:solidFill>
                  <a:schemeClr val="tx1"/>
                </a:solidFill>
              </a:endParaRPr>
            </a:p>
          </p:txBody>
        </p:sp>
        <p:pic>
          <p:nvPicPr>
            <p:cNvPr id="6" name="Picture 5"/>
            <p:cNvPicPr/>
            <p:nvPr>
              <p:custDataLst>
                <p:tags r:id="rId2"/>
              </p:custDataLst>
            </p:nvPr>
          </p:nvPicPr>
          <p:blipFill>
            <a:blip r:embed="rId3"/>
            <a:stretch>
              <a:fillRect/>
            </a:stretch>
          </p:blipFill>
          <p:spPr>
            <a:xfrm>
              <a:off x="254" y="268935"/>
              <a:ext cx="2790825" cy="2021840"/>
            </a:xfrm>
            <a:prstGeom prst="rect">
              <a:avLst/>
            </a:prstGeom>
          </p:spPr>
          <p:style>
            <a:lnRef idx="2">
              <a:schemeClr val="accent1"/>
            </a:lnRef>
            <a:fillRef idx="0">
              <a:srgbClr val="FFFFFF"/>
            </a:fillRef>
            <a:effectRef idx="0">
              <a:srgbClr val="FFFFFF"/>
            </a:effectRef>
            <a:fontRef idx="minor">
              <a:schemeClr val="tx1"/>
            </a:fontRef>
          </p:style>
        </p:pic>
      </p:grpSp>
      <p:sp>
        <p:nvSpPr>
          <p:cNvPr id="9" name="Title 8"/>
          <p:cNvSpPr>
            <a:spLocks noGrp="1"/>
          </p:cNvSpPr>
          <p:nvPr>
            <p:ph type="title"/>
            <p:custDataLst>
              <p:tags r:id="rId4"/>
            </p:custDataLst>
          </p:nvPr>
        </p:nvSpPr>
        <p:spPr>
          <a:xfrm>
            <a:off x="594995" y="632460"/>
            <a:ext cx="5473700" cy="720090"/>
          </a:xfrm>
        </p:spPr>
        <p:txBody>
          <a:bodyPr vert="horz" wrap="square" lIns="0" tIns="0" rIns="0" bIns="0" rtlCol="0" anchor="b">
            <a:noAutofit/>
          </a:bodyPr>
          <a:lstStyle/>
          <a:p>
            <a:pPr lvl="0" algn="ctr">
              <a:buClrTx/>
              <a:buSzTx/>
              <a:buFontTx/>
            </a:pPr>
            <a:r>
              <a:rPr>
                <a:solidFill>
                  <a:schemeClr val="tx1"/>
                </a:solidFill>
                <a:latin typeface="+mj-lt"/>
                <a:cs typeface="+mn-ea"/>
                <a:sym typeface="+mn-ea"/>
              </a:rPr>
              <a:t>Basic Concepts
Forms of Business Organization</a:t>
            </a:r>
            <a:endParaRPr>
              <a:solidFill>
                <a:schemeClr val="tx1"/>
              </a:solidFill>
              <a:latin typeface="+mj-lt"/>
              <a:cs typeface="+mn-ea"/>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Sole Proprietorship</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287779"/>
            <a:ext cx="8100000" cy="48736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IN" dirty="0">
                <a:solidFill>
                  <a:schemeClr val="tx1"/>
                </a:solidFill>
                <a:latin typeface="Times New Roman" panose="02020603050405020304" pitchFamily="18" charset="0"/>
                <a:ea typeface="+mn-ea"/>
                <a:cs typeface="Times New Roman" panose="02020603050405020304" pitchFamily="18" charset="0"/>
              </a:rPr>
              <a:t>A popular form of business organization in which the business is owned, managed, and controlled by an individual is known as a sole proprietorship. </a:t>
            </a:r>
            <a:endParaRPr lang="en-IN" dirty="0">
              <a:solidFill>
                <a:schemeClr val="tx1"/>
              </a:solidFill>
              <a:latin typeface="Times New Roman" panose="02020603050405020304" pitchFamily="18" charset="0"/>
              <a:ea typeface="+mn-ea"/>
              <a:cs typeface="Times New Roman" panose="02020603050405020304" pitchFamily="18" charset="0"/>
            </a:endParaRPr>
          </a:p>
          <a:p>
            <a:pPr algn="just"/>
            <a:r>
              <a:rPr lang="en-IN" dirty="0">
                <a:solidFill>
                  <a:schemeClr val="tx1"/>
                </a:solidFill>
                <a:latin typeface="Times New Roman" panose="02020603050405020304" pitchFamily="18" charset="0"/>
                <a:ea typeface="+mn-ea"/>
                <a:cs typeface="Times New Roman" panose="02020603050405020304" pitchFamily="18" charset="0"/>
              </a:rPr>
              <a:t>Here, the word sole means only and proprietor means owner; hence, the only owner of the business</a:t>
            </a:r>
            <a:endParaRPr lang="en-IN" dirty="0">
              <a:solidFill>
                <a:schemeClr val="tx1"/>
              </a:solidFill>
              <a:latin typeface="Times New Roman" panose="02020603050405020304" pitchFamily="18" charset="0"/>
              <a:ea typeface="+mn-ea"/>
              <a:cs typeface="Times New Roman" panose="02020603050405020304" pitchFamily="18" charset="0"/>
            </a:endParaRPr>
          </a:p>
          <a:p>
            <a:pPr algn="just"/>
            <a:r>
              <a:rPr lang="en-IN" dirty="0">
                <a:solidFill>
                  <a:schemeClr val="tx1"/>
                </a:solidFill>
                <a:latin typeface="Times New Roman" panose="02020603050405020304" pitchFamily="18" charset="0"/>
                <a:ea typeface="+mn-ea"/>
                <a:cs typeface="Times New Roman" panose="02020603050405020304" pitchFamily="18" charset="0"/>
              </a:rPr>
              <a:t>The owner is not separate from the business; hence, no separate legal entity</a:t>
            </a:r>
            <a:endParaRPr lang="en-IN"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Joint Hindu Family Business</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228724"/>
            <a:ext cx="8100000" cy="4873625"/>
          </a:xfrm>
          <a:prstGeom prst="rect">
            <a:avLst/>
          </a:prstGeom>
          <a:noFill/>
          <a:ln>
            <a:noFill/>
          </a:ln>
        </p:spPr>
        <p:txBody>
          <a:bodyPr wrap="square" lIns="91425" tIns="45700" rIns="91425" bIns="45700" anchor="t" anchorCtr="0">
            <a:normAutofit fontScale="90000" lnSpcReduction="1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IN" sz="2800" dirty="0">
                <a:solidFill>
                  <a:schemeClr val="tx1"/>
                </a:solidFill>
                <a:latin typeface="Times New Roman" panose="02020603050405020304" pitchFamily="18" charset="0"/>
                <a:ea typeface="+mn-ea"/>
                <a:cs typeface="Times New Roman" panose="02020603050405020304" pitchFamily="18" charset="0"/>
              </a:rPr>
              <a:t>A form of business organization found only in India in which the business is owned and carried on by the HUF(Hindu Undivided Family) members is known as Joint Hindu Family Business.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It is one of the oldest forms of business organization in India. This form is governed by the ‘Hindu Law’.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The eldest member and head of the family, also known as “Karta</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The two conditions for the existence of a Joint Hindu Family Business are: there must be some ancestral property, and a minimum of two male members must be in the family</a:t>
            </a:r>
            <a:r>
              <a:rPr lang="en-IN" dirty="0">
                <a:solidFill>
                  <a:schemeClr val="tx1"/>
                </a:solidFill>
                <a:latin typeface="Times New Roman" panose="02020603050405020304" pitchFamily="18" charset="0"/>
                <a:ea typeface="+mn-ea"/>
                <a:cs typeface="Times New Roman" panose="02020603050405020304" pitchFamily="18" charset="0"/>
              </a:rPr>
              <a:t>. </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latin typeface="Times New Roman" panose="02020603050405020304" pitchFamily="18" charset="0"/>
                <a:cs typeface="Times New Roman" panose="02020603050405020304" pitchFamily="18" charset="0"/>
                <a:sym typeface="+mn-ea"/>
              </a:rPr>
              <a:t>Partnership</a:t>
            </a:r>
            <a:endParaRPr sz="2800">
              <a:solidFill>
                <a:schemeClr val="tx1"/>
              </a:solidFill>
              <a:latin typeface="Times New Roman" panose="02020603050405020304" pitchFamily="18" charset="0"/>
              <a:cs typeface="Times New Roman" panose="02020603050405020304" pitchFamily="18" charset="0"/>
              <a:sym typeface="+mn-ea"/>
            </a:endParaRPr>
          </a:p>
        </p:txBody>
      </p:sp>
      <p:sp>
        <p:nvSpPr>
          <p:cNvPr id="9" name="Text Placeholder 2"/>
          <p:cNvSpPr>
            <a:spLocks noGrp="1"/>
          </p:cNvSpPr>
          <p:nvPr>
            <p:custDataLst>
              <p:tags r:id="rId2"/>
            </p:custDataLst>
          </p:nvPr>
        </p:nvSpPr>
        <p:spPr>
          <a:xfrm>
            <a:off x="434975" y="1332229"/>
            <a:ext cx="8100000" cy="48736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dirty="0">
                <a:solidFill>
                  <a:schemeClr val="tx1"/>
                </a:solidFill>
                <a:latin typeface="Times New Roman" panose="02020603050405020304" pitchFamily="18" charset="0"/>
                <a:ea typeface="+mn-ea"/>
                <a:cs typeface="Times New Roman" panose="02020603050405020304" pitchFamily="18" charset="0"/>
              </a:rPr>
              <a:t>According to the Indian Partnership Act, 1932, a partnership is a form of business organization in which there is a relation between two or more people with an agreement to share the firm’s profits carried on by every partner or any one of the partners acting for all. </a:t>
            </a:r>
            <a:endParaRPr lang="en-IN"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Cooperative Society</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360169"/>
            <a:ext cx="8100000" cy="48736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IN" dirty="0">
                <a:solidFill>
                  <a:schemeClr val="tx1"/>
                </a:solidFill>
                <a:latin typeface="Times New Roman" panose="02020603050405020304" pitchFamily="18" charset="0"/>
                <a:ea typeface="+mn-ea"/>
                <a:cs typeface="Times New Roman" panose="02020603050405020304" pitchFamily="18" charset="0"/>
              </a:rPr>
              <a:t>A voluntary association of people joining together with the main objective of members’ welfare is known as a cooperative society. </a:t>
            </a:r>
            <a:endParaRPr lang="en-IN" dirty="0">
              <a:solidFill>
                <a:schemeClr val="tx1"/>
              </a:solidFill>
              <a:latin typeface="Times New Roman" panose="02020603050405020304" pitchFamily="18" charset="0"/>
              <a:ea typeface="+mn-ea"/>
              <a:cs typeface="Times New Roman" panose="02020603050405020304" pitchFamily="18" charset="0"/>
            </a:endParaRPr>
          </a:p>
          <a:p>
            <a:pPr algn="just"/>
            <a:r>
              <a:rPr lang="en-IN" dirty="0">
                <a:solidFill>
                  <a:schemeClr val="tx1"/>
                </a:solidFill>
                <a:latin typeface="Times New Roman" panose="02020603050405020304" pitchFamily="18" charset="0"/>
                <a:ea typeface="+mn-ea"/>
                <a:cs typeface="Times New Roman" panose="02020603050405020304" pitchFamily="18" charset="0"/>
              </a:rPr>
              <a:t>As the name suggests, people in this form of business organization work together and with other people for the accomplishment of a common purpose</a:t>
            </a:r>
            <a:endParaRPr lang="en-IN"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a:xfrm>
            <a:off x="521970" y="237490"/>
            <a:ext cx="8100060" cy="482600"/>
          </a:xfrm>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Joint Stock Company</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991869"/>
            <a:ext cx="8100000" cy="4873625"/>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IN" sz="2800" dirty="0">
                <a:solidFill>
                  <a:schemeClr val="tx1"/>
                </a:solidFill>
                <a:latin typeface="Times New Roman" panose="02020603050405020304" pitchFamily="18" charset="0"/>
                <a:ea typeface="+mn-ea"/>
                <a:cs typeface="Times New Roman" panose="02020603050405020304" pitchFamily="18" charset="0"/>
              </a:rPr>
              <a:t>The Joint Stock Company form of organization is governed by the Companies Act, 2013.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The shareholders of the company are its owners; however, the Board of Directors is elected by the shareholders and is the chief managing body of the company.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Usually, the shareholders or the owners of the company have indirect control over its operations.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dirty="0">
                <a:solidFill>
                  <a:schemeClr val="tx1"/>
                </a:solidFill>
                <a:latin typeface="Times New Roman" panose="02020603050405020304" pitchFamily="18" charset="0"/>
                <a:ea typeface="+mn-ea"/>
                <a:cs typeface="Times New Roman" panose="02020603050405020304" pitchFamily="18" charset="0"/>
              </a:rPr>
              <a:t>A company can be either private or a public company</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Importance of Accounting</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434975" y="1390014"/>
            <a:ext cx="8100000" cy="48736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lvl="0"/>
            <a:r>
              <a:rPr lang="en-IN" dirty="0">
                <a:solidFill>
                  <a:schemeClr val="tx1"/>
                </a:solidFill>
                <a:latin typeface="Times New Roman" panose="02020603050405020304" pitchFamily="18" charset="0"/>
                <a:ea typeface="+mn-ea"/>
                <a:cs typeface="Times New Roman" panose="02020603050405020304" pitchFamily="18" charset="0"/>
              </a:rPr>
              <a:t>Keeps a record of business transactions </a:t>
            </a:r>
            <a:endParaRPr lang="en-IN" dirty="0">
              <a:solidFill>
                <a:schemeClr val="tx1"/>
              </a:solidFill>
              <a:latin typeface="Times New Roman" panose="02020603050405020304" pitchFamily="18" charset="0"/>
              <a:ea typeface="+mn-ea"/>
              <a:cs typeface="Times New Roman" panose="02020603050405020304" pitchFamily="18" charset="0"/>
            </a:endParaRPr>
          </a:p>
          <a:p>
            <a:pPr lvl="0"/>
            <a:r>
              <a:rPr lang="en-IN" dirty="0">
                <a:solidFill>
                  <a:schemeClr val="tx1"/>
                </a:solidFill>
                <a:latin typeface="Times New Roman" panose="02020603050405020304" pitchFamily="18" charset="0"/>
                <a:ea typeface="+mn-ea"/>
                <a:cs typeface="Times New Roman" panose="02020603050405020304" pitchFamily="18" charset="0"/>
              </a:rPr>
              <a:t>Facilitates decision-making for management </a:t>
            </a:r>
            <a:endParaRPr lang="en-IN" dirty="0">
              <a:solidFill>
                <a:schemeClr val="tx1"/>
              </a:solidFill>
              <a:latin typeface="Times New Roman" panose="02020603050405020304" pitchFamily="18" charset="0"/>
              <a:ea typeface="+mn-ea"/>
              <a:cs typeface="Times New Roman" panose="02020603050405020304" pitchFamily="18" charset="0"/>
            </a:endParaRPr>
          </a:p>
          <a:p>
            <a:r>
              <a:rPr lang="en-IN" dirty="0">
                <a:solidFill>
                  <a:schemeClr val="tx1"/>
                </a:solidFill>
                <a:latin typeface="Times New Roman" panose="02020603050405020304" pitchFamily="18" charset="0"/>
                <a:ea typeface="+mn-ea"/>
                <a:cs typeface="Times New Roman" panose="02020603050405020304" pitchFamily="18" charset="0"/>
              </a:rPr>
              <a:t>Communicates results </a:t>
            </a:r>
            <a:endParaRPr lang="en-IN" dirty="0">
              <a:solidFill>
                <a:schemeClr val="tx1"/>
              </a:solidFill>
              <a:latin typeface="Times New Roman" panose="02020603050405020304" pitchFamily="18" charset="0"/>
              <a:ea typeface="+mn-ea"/>
              <a:cs typeface="Times New Roman" panose="02020603050405020304" pitchFamily="18" charset="0"/>
            </a:endParaRPr>
          </a:p>
          <a:p>
            <a:r>
              <a:rPr lang="en-IN" dirty="0">
                <a:solidFill>
                  <a:schemeClr val="tx1"/>
                </a:solidFill>
                <a:latin typeface="Times New Roman" panose="02020603050405020304" pitchFamily="18" charset="0"/>
                <a:ea typeface="+mn-ea"/>
                <a:cs typeface="Times New Roman" panose="02020603050405020304" pitchFamily="18" charset="0"/>
              </a:rPr>
              <a:t>Meets legal requirements </a:t>
            </a:r>
            <a:endParaRPr lang="en-IN"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1. Basic Terms</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287779"/>
            <a:ext cx="8100000" cy="4873625"/>
          </a:xfrm>
          <a:prstGeom prst="rect">
            <a:avLst/>
          </a:prstGeom>
          <a:noFill/>
          <a:ln>
            <a:noFill/>
          </a:ln>
        </p:spPr>
        <p:txBody>
          <a:bodyPr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US" sz="2400" dirty="0">
                <a:solidFill>
                  <a:schemeClr val="tx1"/>
                </a:solidFill>
                <a:latin typeface="+mn-lt"/>
                <a:ea typeface="+mn-ea"/>
                <a:cs typeface="Times New Roman" panose="02020603050405020304" pitchFamily="18" charset="0"/>
              </a:rPr>
              <a:t>D</a:t>
            </a:r>
            <a:r>
              <a:rPr lang="en-US" sz="2400" dirty="0">
                <a:solidFill>
                  <a:schemeClr val="tx1"/>
                </a:solidFill>
                <a:latin typeface="Times New Roman" panose="02020603050405020304" pitchFamily="18" charset="0"/>
                <a:ea typeface="+mn-ea"/>
                <a:cs typeface="Times New Roman" panose="02020603050405020304" pitchFamily="18" charset="0"/>
              </a:rPr>
              <a:t>efinition:</a:t>
            </a:r>
            <a:endParaRPr lang="en-US"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400" dirty="0">
                <a:solidFill>
                  <a:schemeClr val="tx1"/>
                </a:solidFill>
                <a:latin typeface="Times New Roman" panose="02020603050405020304" pitchFamily="18" charset="0"/>
                <a:ea typeface="+mn-ea"/>
                <a:cs typeface="Times New Roman" panose="02020603050405020304" pitchFamily="18" charset="0"/>
              </a:rPr>
              <a:t>Accounting often is called the language of business. The basic function of any language is to serve as a means of communication. In this context, the purpose of accounting is to communicate or report the results of business operations and the financial health of the organization.</a:t>
            </a:r>
            <a:endParaRPr lang="en-US"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400" dirty="0">
                <a:solidFill>
                  <a:schemeClr val="tx1"/>
                </a:solidFill>
                <a:latin typeface="Times New Roman" panose="02020603050405020304" pitchFamily="18" charset="0"/>
                <a:ea typeface="+mn-ea"/>
                <a:cs typeface="Times New Roman" panose="02020603050405020304" pitchFamily="18" charset="0"/>
              </a:rPr>
              <a:t>The most apt definition of Accounting has been given by the ‘American Institute of Certified Public Accountants’, which is as under:</a:t>
            </a:r>
            <a:endParaRPr lang="en-US"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400" dirty="0">
                <a:solidFill>
                  <a:schemeClr val="tx1"/>
                </a:solidFill>
                <a:latin typeface="Times New Roman" panose="02020603050405020304" pitchFamily="18" charset="0"/>
                <a:ea typeface="+mn-ea"/>
                <a:cs typeface="Times New Roman" panose="02020603050405020304" pitchFamily="18" charset="0"/>
              </a:rPr>
              <a:t>“Accounting is the art of recording, classifying and summarizing in a significant manner and in terms of money, transactions and events which are, in part at least, of a financial character, and interpreting the result thereof</a:t>
            </a:r>
            <a:endParaRPr lang="en-US" sz="24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l">
              <a:buClrTx/>
              <a:buSzTx/>
              <a:buFontTx/>
            </a:pPr>
            <a:r>
              <a:rPr sz="2800">
                <a:solidFill>
                  <a:schemeClr val="tx1"/>
                </a:solidFill>
                <a:cs typeface="+mn-ea"/>
                <a:sym typeface="+mn-ea"/>
              </a:rPr>
              <a:t>Basic Accounting Terms</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316989"/>
            <a:ext cx="8100000" cy="4873625"/>
          </a:xfrm>
          <a:prstGeom prst="rect">
            <a:avLst/>
          </a:prstGeom>
          <a:noFill/>
          <a:ln>
            <a:noFill/>
          </a:ln>
        </p:spPr>
        <p:txBody>
          <a:bodyPr wrap="square" lIns="91425" tIns="45700" rIns="91425" bIns="45700" anchor="t" anchorCtr="0">
            <a:normAutofit lnSpcReduction="2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IN" sz="2800" b="1" dirty="0">
                <a:solidFill>
                  <a:schemeClr val="tx1"/>
                </a:solidFill>
                <a:latin typeface="Times New Roman" panose="02020603050405020304" pitchFamily="18" charset="0"/>
                <a:ea typeface="+mn-ea"/>
                <a:cs typeface="Times New Roman" panose="02020603050405020304" pitchFamily="18" charset="0"/>
              </a:rPr>
              <a:t>Transaction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It means an event or a business activity which involves exchange of money or money’s worth between parties</a:t>
            </a:r>
            <a:endParaRPr lang="en-IN" sz="2800" dirty="0">
              <a:solidFill>
                <a:schemeClr val="tx1"/>
              </a:solidFill>
              <a:latin typeface="Times New Roman" panose="02020603050405020304" pitchFamily="18" charset="0"/>
              <a:ea typeface="+mn-ea"/>
              <a:cs typeface="Times New Roman" panose="02020603050405020304" pitchFamily="18" charset="0"/>
            </a:endParaRPr>
          </a:p>
          <a:p>
            <a:r>
              <a:rPr lang="en-IN" sz="2800" b="1" dirty="0">
                <a:solidFill>
                  <a:schemeClr val="tx1"/>
                </a:solidFill>
                <a:latin typeface="Times New Roman" panose="02020603050405020304" pitchFamily="18" charset="0"/>
                <a:ea typeface="+mn-ea"/>
                <a:cs typeface="Times New Roman" panose="02020603050405020304" pitchFamily="18" charset="0"/>
              </a:rPr>
              <a:t>Profit: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excess of Revenue Income over expense is called profit. It could be calculated for each transaction or for business as a whole</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b="1" dirty="0">
                <a:solidFill>
                  <a:schemeClr val="tx1"/>
                </a:solidFill>
                <a:latin typeface="Times New Roman" panose="02020603050405020304" pitchFamily="18" charset="0"/>
                <a:ea typeface="+mn-ea"/>
                <a:cs typeface="Times New Roman" panose="02020603050405020304" pitchFamily="18" charset="0"/>
              </a:rPr>
              <a:t>Loss:</a:t>
            </a:r>
            <a:r>
              <a:rPr lang="en-IN" sz="2800" dirty="0">
                <a:solidFill>
                  <a:schemeClr val="tx1"/>
                </a:solidFill>
                <a:latin typeface="Times New Roman" panose="02020603050405020304" pitchFamily="18" charset="0"/>
                <a:ea typeface="+mn-ea"/>
                <a:cs typeface="Times New Roman" panose="02020603050405020304" pitchFamily="18" charset="0"/>
              </a:rPr>
              <a:t>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excess of expense over income is called loss. It could be calculated for each transaction or for business as a whole</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01781" y="699654"/>
            <a:ext cx="8229600" cy="4634346"/>
          </a:xfrm>
          <a:prstGeom prst="rect">
            <a:avLst/>
          </a:prstGeom>
          <a:noFill/>
          <a:ln>
            <a:noFill/>
          </a:ln>
        </p:spPr>
        <p:txBody>
          <a:bodyPr wrap="square" lIns="91425" tIns="45700" rIns="91425" bIns="45700" anchor="t" anchorCtr="0">
            <a:normAutofit lnSpcReduction="2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IN" b="1" dirty="0">
                <a:solidFill>
                  <a:schemeClr val="tx1"/>
                </a:solidFill>
                <a:latin typeface="Times New Roman" panose="02020603050405020304" pitchFamily="18" charset="0"/>
                <a:ea typeface="+mn-ea"/>
                <a:cs typeface="Times New Roman" panose="02020603050405020304" pitchFamily="18" charset="0"/>
              </a:rPr>
              <a:t>Asset</a:t>
            </a:r>
            <a:r>
              <a:rPr lang="en-IN" dirty="0">
                <a:solidFill>
                  <a:schemeClr val="tx1"/>
                </a:solidFill>
                <a:latin typeface="Times New Roman" panose="02020603050405020304" pitchFamily="18" charset="0"/>
                <a:ea typeface="+mn-ea"/>
                <a:cs typeface="Times New Roman" panose="02020603050405020304" pitchFamily="18" charset="0"/>
              </a:rPr>
              <a:t>:  </a:t>
            </a:r>
            <a:endParaRPr lang="en-IN"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dirty="0">
                <a:solidFill>
                  <a:schemeClr val="tx1"/>
                </a:solidFill>
                <a:latin typeface="Times New Roman" panose="02020603050405020304" pitchFamily="18" charset="0"/>
                <a:ea typeface="+mn-ea"/>
                <a:cs typeface="Times New Roman" panose="02020603050405020304" pitchFamily="18" charset="0"/>
              </a:rPr>
              <a:t>Asset is a resource owned by the business with the purpose of using it for generating future profits. Assets can be Tangible and Intangible</a:t>
            </a:r>
            <a:endParaRPr lang="en-IN"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endParaRPr lang="en-IN" dirty="0">
              <a:solidFill>
                <a:schemeClr val="tx1"/>
              </a:solidFill>
              <a:latin typeface="Times New Roman" panose="02020603050405020304" pitchFamily="18" charset="0"/>
              <a:ea typeface="+mn-ea"/>
              <a:cs typeface="Times New Roman" panose="02020603050405020304" pitchFamily="18" charset="0"/>
            </a:endParaRPr>
          </a:p>
          <a:p>
            <a:pPr algn="just"/>
            <a:r>
              <a:rPr lang="en-IN" b="1" dirty="0">
                <a:solidFill>
                  <a:schemeClr val="tx1"/>
                </a:solidFill>
                <a:latin typeface="Times New Roman" panose="02020603050405020304" pitchFamily="18" charset="0"/>
                <a:ea typeface="+mn-ea"/>
                <a:cs typeface="Times New Roman" panose="02020603050405020304" pitchFamily="18" charset="0"/>
              </a:rPr>
              <a:t>Liability :</a:t>
            </a:r>
            <a:endParaRPr lang="en-IN"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dirty="0">
                <a:solidFill>
                  <a:schemeClr val="tx1"/>
                </a:solidFill>
                <a:latin typeface="Times New Roman" panose="02020603050405020304" pitchFamily="18" charset="0"/>
                <a:ea typeface="+mn-ea"/>
                <a:cs typeface="Times New Roman" panose="02020603050405020304" pitchFamily="18" charset="0"/>
              </a:rPr>
              <a:t>It is an obligation of financial nature to be settled at a future date. It represents amount of money that the business owes to the other parties. </a:t>
            </a:r>
            <a:endParaRPr lang="en-IN"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p:cNvSpPr>
            <a:spLocks noGrp="1"/>
          </p:cNvSpPr>
          <p:nvPr>
            <p:custDataLst>
              <p:tags r:id="rId1"/>
            </p:custDataLst>
          </p:nvPr>
        </p:nvSpPr>
        <p:spPr>
          <a:xfrm>
            <a:off x="290830" y="551815"/>
            <a:ext cx="8229600" cy="5791200"/>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ltLang="en-US" sz="2800" b="1">
                <a:solidFill>
                  <a:schemeClr val="tx1"/>
                </a:solidFill>
                <a:latin typeface="Times New Roman" panose="02020603050405020304" pitchFamily="18" charset="0"/>
                <a:ea typeface="+mn-ea"/>
                <a:cs typeface="Times New Roman" panose="02020603050405020304" pitchFamily="18" charset="0"/>
              </a:rPr>
              <a:t>Goodwill</a:t>
            </a:r>
            <a:r>
              <a:rPr lang="en-IN" altLang="en-US" sz="2800" b="1">
                <a:solidFill>
                  <a:schemeClr val="tx1"/>
                </a:solidFill>
                <a:latin typeface="Times New Roman" panose="02020603050405020304" pitchFamily="18" charset="0"/>
                <a:ea typeface="+mn-ea"/>
                <a:cs typeface="Times New Roman" panose="02020603050405020304" pitchFamily="18" charset="0"/>
              </a:rPr>
              <a:t>:</a:t>
            </a:r>
            <a:r>
              <a:rPr lang="en-US" altLang="en-US" sz="2800">
                <a:solidFill>
                  <a:schemeClr val="tx1"/>
                </a:solidFill>
                <a:latin typeface="Times New Roman" panose="02020603050405020304" pitchFamily="18" charset="0"/>
                <a:ea typeface="+mn-ea"/>
                <a:cs typeface="Times New Roman" panose="02020603050405020304" pitchFamily="18" charset="0"/>
              </a:rPr>
              <a:t> </a:t>
            </a:r>
            <a:endParaRPr lang="en-US" altLang="en-US" sz="280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altLang="en-US" sz="2800">
                <a:solidFill>
                  <a:schemeClr val="tx1"/>
                </a:solidFill>
                <a:latin typeface="Times New Roman" panose="02020603050405020304" pitchFamily="18" charset="0"/>
                <a:ea typeface="+mn-ea"/>
                <a:cs typeface="Times New Roman" panose="02020603050405020304" pitchFamily="18" charset="0"/>
              </a:rPr>
              <a:t>I</a:t>
            </a:r>
            <a:r>
              <a:rPr lang="en-US" altLang="en-US" sz="2800">
                <a:solidFill>
                  <a:schemeClr val="tx1"/>
                </a:solidFill>
                <a:latin typeface="Times New Roman" panose="02020603050405020304" pitchFamily="18" charset="0"/>
                <a:ea typeface="+mn-ea"/>
                <a:cs typeface="Times New Roman" panose="02020603050405020304" pitchFamily="18" charset="0"/>
              </a:rPr>
              <a:t>s an intangible asset that represents the value of a business over and above its net tangible assets.</a:t>
            </a:r>
            <a:endParaRPr lang="en-US" altLang="en-US" sz="2800">
              <a:solidFill>
                <a:schemeClr val="tx1"/>
              </a:solidFill>
              <a:latin typeface="Times New Roman" panose="02020603050405020304" pitchFamily="18" charset="0"/>
              <a:ea typeface="+mn-ea"/>
              <a:cs typeface="Times New Roman" panose="02020603050405020304" pitchFamily="18" charset="0"/>
            </a:endParaRPr>
          </a:p>
          <a:p>
            <a:pPr algn="just"/>
            <a:r>
              <a:rPr lang="en-IN" altLang="en-US" sz="2800" b="1">
                <a:solidFill>
                  <a:schemeClr val="tx1"/>
                </a:solidFill>
                <a:latin typeface="Times New Roman" panose="02020603050405020304" pitchFamily="18" charset="0"/>
                <a:ea typeface="+mn-ea"/>
                <a:cs typeface="Times New Roman" panose="02020603050405020304" pitchFamily="18" charset="0"/>
              </a:rPr>
              <a:t>Patent:</a:t>
            </a:r>
            <a:endParaRPr lang="en-IN" altLang="en-US" sz="280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altLang="en-US" sz="2800">
                <a:solidFill>
                  <a:schemeClr val="tx1"/>
                </a:solidFill>
                <a:latin typeface="Times New Roman" panose="02020603050405020304" pitchFamily="18" charset="0"/>
                <a:ea typeface="+mn-ea"/>
                <a:cs typeface="Times New Roman" panose="02020603050405020304" pitchFamily="18" charset="0"/>
              </a:rPr>
              <a:t>In accounting, a Patent is treated as an Intangible Asset because it provides long-term benefits but has no physical form.</a:t>
            </a:r>
            <a:endParaRPr lang="en-US" altLang="en-US" sz="2800">
              <a:solidFill>
                <a:schemeClr val="tx1"/>
              </a:solidFill>
              <a:latin typeface="Times New Roman" panose="02020603050405020304" pitchFamily="18" charset="0"/>
              <a:ea typeface="+mn-ea"/>
              <a:cs typeface="Times New Roman" panose="02020603050405020304" pitchFamily="18" charset="0"/>
            </a:endParaRPr>
          </a:p>
          <a:p>
            <a:pPr algn="just"/>
            <a:r>
              <a:rPr lang="en-US" altLang="en-US" sz="2800" b="1">
                <a:solidFill>
                  <a:schemeClr val="tx1"/>
                </a:solidFill>
                <a:latin typeface="Times New Roman" panose="02020603050405020304" pitchFamily="18" charset="0"/>
                <a:ea typeface="+mn-ea"/>
                <a:cs typeface="Times New Roman" panose="02020603050405020304" pitchFamily="18" charset="0"/>
                <a:sym typeface="+mn-ea"/>
              </a:rPr>
              <a:t>Copyright</a:t>
            </a:r>
            <a:r>
              <a:rPr lang="en-IN" altLang="en-US" sz="2800" b="1">
                <a:solidFill>
                  <a:schemeClr val="tx1"/>
                </a:solidFill>
                <a:latin typeface="Times New Roman" panose="02020603050405020304" pitchFamily="18" charset="0"/>
                <a:ea typeface="+mn-ea"/>
                <a:cs typeface="Times New Roman" panose="02020603050405020304" pitchFamily="18" charset="0"/>
                <a:sym typeface="+mn-ea"/>
              </a:rPr>
              <a:t>:</a:t>
            </a:r>
            <a:endParaRPr lang="en-IN" altLang="en-US" sz="2800">
              <a:solidFill>
                <a:schemeClr val="tx1"/>
              </a:solidFill>
              <a:latin typeface="Times New Roman" panose="02020603050405020304" pitchFamily="18" charset="0"/>
              <a:ea typeface="+mn-ea"/>
              <a:cs typeface="Times New Roman" panose="02020603050405020304" pitchFamily="18" charset="0"/>
              <a:sym typeface="+mn-ea"/>
            </a:endParaRPr>
          </a:p>
          <a:p>
            <a:pPr marL="25400" indent="0" algn="just">
              <a:buNone/>
            </a:pPr>
            <a:r>
              <a:rPr lang="en-US" altLang="en-US" sz="2800">
                <a:solidFill>
                  <a:schemeClr val="tx1"/>
                </a:solidFill>
                <a:latin typeface="Times New Roman" panose="02020603050405020304" pitchFamily="18" charset="0"/>
                <a:ea typeface="+mn-ea"/>
                <a:cs typeface="Times New Roman" panose="02020603050405020304" pitchFamily="18" charset="0"/>
              </a:rPr>
              <a:t>In accounting, a Copyright is treated as an Intangible Asset because it provides future economic benefits but has no physical form</a:t>
            </a:r>
            <a:endParaRPr lang="en-US" altLang="en-US" sz="280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p:cNvSpPr>
            <a:spLocks noGrp="1"/>
          </p:cNvSpPr>
          <p:nvPr>
            <p:custDataLst>
              <p:tags r:id="rId1"/>
            </p:custDataLst>
          </p:nvPr>
        </p:nvSpPr>
        <p:spPr>
          <a:xfrm>
            <a:off x="290830" y="684530"/>
            <a:ext cx="8512175" cy="532447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ltLang="en-US" sz="2800" b="1">
                <a:solidFill>
                  <a:schemeClr val="tx1"/>
                </a:solidFill>
                <a:latin typeface="Times New Roman" panose="02020603050405020304" pitchFamily="18" charset="0"/>
                <a:ea typeface="+mn-ea"/>
                <a:cs typeface="Times New Roman" panose="02020603050405020304" pitchFamily="18" charset="0"/>
                <a:sym typeface="+mn-ea"/>
              </a:rPr>
              <a:t>Bad Debt</a:t>
            </a:r>
            <a:r>
              <a:rPr lang="en-IN" altLang="en-US" sz="2800" b="1">
                <a:solidFill>
                  <a:schemeClr val="tx1"/>
                </a:solidFill>
                <a:latin typeface="Times New Roman" panose="02020603050405020304" pitchFamily="18" charset="0"/>
                <a:ea typeface="+mn-ea"/>
                <a:cs typeface="Times New Roman" panose="02020603050405020304" pitchFamily="18" charset="0"/>
                <a:sym typeface="+mn-ea"/>
              </a:rPr>
              <a:t>:</a:t>
            </a:r>
            <a:endParaRPr lang="en-IN" altLang="en-US" sz="2800" b="1">
              <a:solidFill>
                <a:schemeClr val="tx1"/>
              </a:solidFill>
              <a:latin typeface="Times New Roman" panose="02020603050405020304" pitchFamily="18" charset="0"/>
              <a:ea typeface="+mn-ea"/>
              <a:cs typeface="Times New Roman" panose="02020603050405020304" pitchFamily="18" charset="0"/>
              <a:sym typeface="+mn-ea"/>
            </a:endParaRPr>
          </a:p>
          <a:p>
            <a:pPr marL="25400" indent="0" algn="just">
              <a:buNone/>
            </a:pPr>
            <a:r>
              <a:rPr lang="en-US" altLang="en-US" sz="2800">
                <a:solidFill>
                  <a:schemeClr val="tx1"/>
                </a:solidFill>
                <a:latin typeface="Times New Roman" panose="02020603050405020304" pitchFamily="18" charset="0"/>
                <a:ea typeface="+mn-ea"/>
                <a:cs typeface="Times New Roman" panose="02020603050405020304" pitchFamily="18" charset="0"/>
              </a:rPr>
              <a:t>"Bad Debt" refers to the portion of accounts receivable (money owed to a business by customers) that is no longer collectible because the debtor is unable or unwilling to pay. It represents a loss to the business and is usually written off in the financial statements.</a:t>
            </a:r>
            <a:endParaRPr lang="en-US" altLang="en-US" sz="2800">
              <a:solidFill>
                <a:schemeClr val="tx1"/>
              </a:solidFill>
              <a:latin typeface="Times New Roman" panose="02020603050405020304" pitchFamily="18" charset="0"/>
              <a:ea typeface="+mn-ea"/>
              <a:cs typeface="Times New Roman" panose="02020603050405020304" pitchFamily="18" charset="0"/>
            </a:endParaRPr>
          </a:p>
          <a:p>
            <a:pPr algn="just"/>
            <a:r>
              <a:rPr lang="en-US" altLang="en-US" sz="2800" b="1">
                <a:solidFill>
                  <a:schemeClr val="tx1"/>
                </a:solidFill>
                <a:latin typeface="Times New Roman" panose="02020603050405020304" pitchFamily="18" charset="0"/>
                <a:ea typeface="+mn-ea"/>
                <a:cs typeface="Times New Roman" panose="02020603050405020304" pitchFamily="18" charset="0"/>
              </a:rPr>
              <a:t>RDD</a:t>
            </a:r>
            <a:r>
              <a:rPr lang="en-IN" altLang="en-US" sz="2800" b="1">
                <a:solidFill>
                  <a:schemeClr val="tx1"/>
                </a:solidFill>
                <a:latin typeface="Times New Roman" panose="02020603050405020304" pitchFamily="18" charset="0"/>
                <a:ea typeface="+mn-ea"/>
                <a:cs typeface="Times New Roman" panose="02020603050405020304" pitchFamily="18" charset="0"/>
              </a:rPr>
              <a:t>:</a:t>
            </a:r>
            <a:endParaRPr lang="en-IN" altLang="en-US" sz="280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altLang="en-US" sz="2800">
                <a:solidFill>
                  <a:schemeClr val="tx1"/>
                </a:solidFill>
                <a:latin typeface="Times New Roman" panose="02020603050405020304" pitchFamily="18" charset="0"/>
                <a:ea typeface="+mn-ea"/>
                <a:cs typeface="Times New Roman" panose="02020603050405020304" pitchFamily="18" charset="0"/>
              </a:rPr>
              <a:t>S</a:t>
            </a:r>
            <a:r>
              <a:rPr lang="en-US" altLang="en-US" sz="2800">
                <a:solidFill>
                  <a:schemeClr val="tx1"/>
                </a:solidFill>
                <a:latin typeface="Times New Roman" panose="02020603050405020304" pitchFamily="18" charset="0"/>
                <a:ea typeface="+mn-ea"/>
                <a:cs typeface="Times New Roman" panose="02020603050405020304" pitchFamily="18" charset="0"/>
              </a:rPr>
              <a:t>tands for Reserve for Doubtful Debts (also called Provision for Doubtful Debts or Allowance for Bad Debts).</a:t>
            </a:r>
            <a:endParaRPr lang="en-US" altLang="en-US" sz="280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01781" y="491836"/>
            <a:ext cx="8229600" cy="4525963"/>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IN" sz="2800" b="1" dirty="0">
                <a:solidFill>
                  <a:schemeClr val="tx1"/>
                </a:solidFill>
                <a:latin typeface="Times New Roman" panose="02020603050405020304" pitchFamily="18" charset="0"/>
                <a:ea typeface="+mn-ea"/>
                <a:cs typeface="Times New Roman" panose="02020603050405020304" pitchFamily="18" charset="0"/>
              </a:rPr>
              <a:t>Capital</a:t>
            </a:r>
            <a:r>
              <a:rPr lang="en-IN" sz="2800" dirty="0">
                <a:solidFill>
                  <a:schemeClr val="tx1"/>
                </a:solidFill>
                <a:latin typeface="Times New Roman" panose="02020603050405020304" pitchFamily="18" charset="0"/>
                <a:ea typeface="+mn-ea"/>
                <a:cs typeface="Times New Roman" panose="02020603050405020304" pitchFamily="18" charset="0"/>
              </a:rPr>
              <a:t>  :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It is amount invested in the business by its owners. It may be in the form of cash ,goods ,or any other asset which the proprietor or partners of business invest in the business activity</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b="1" dirty="0">
                <a:solidFill>
                  <a:schemeClr val="tx1"/>
                </a:solidFill>
                <a:latin typeface="Times New Roman" panose="02020603050405020304" pitchFamily="18" charset="0"/>
                <a:ea typeface="+mn-ea"/>
                <a:cs typeface="Times New Roman" panose="02020603050405020304" pitchFamily="18" charset="0"/>
              </a:rPr>
              <a:t>Debtor</a:t>
            </a:r>
            <a:r>
              <a:rPr lang="en-IN" sz="2800" dirty="0">
                <a:solidFill>
                  <a:schemeClr val="tx1"/>
                </a:solidFill>
                <a:latin typeface="Times New Roman" panose="02020603050405020304" pitchFamily="18" charset="0"/>
                <a:ea typeface="+mn-ea"/>
                <a:cs typeface="Times New Roman" panose="02020603050405020304" pitchFamily="18" charset="0"/>
              </a:rPr>
              <a:t>: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sum total or aggregate of the amounts which the customer owe to the business for purchasing goods on credit or services rendered or in respect of other contractual obligations, is known as Sundry Debtors or Trade Debtors, or Trade Payable, or Book-Debts or Debtors</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374073" y="595744"/>
            <a:ext cx="8229600" cy="4973783"/>
          </a:xfrm>
          <a:prstGeom prst="rect">
            <a:avLst/>
          </a:prstGeom>
          <a:noFill/>
          <a:ln>
            <a:noFill/>
          </a:ln>
        </p:spPr>
        <p:txBody>
          <a:bodyPr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IN" sz="2800" b="1" dirty="0">
                <a:solidFill>
                  <a:schemeClr val="tx1"/>
                </a:solidFill>
                <a:latin typeface="Times New Roman" panose="02020603050405020304" pitchFamily="18" charset="0"/>
                <a:ea typeface="+mn-ea"/>
                <a:cs typeface="Times New Roman" panose="02020603050405020304" pitchFamily="18" charset="0"/>
              </a:rPr>
              <a:t>Creditor</a:t>
            </a:r>
            <a:r>
              <a:rPr lang="en-IN" sz="2800" dirty="0">
                <a:solidFill>
                  <a:schemeClr val="tx1"/>
                </a:solidFill>
                <a:latin typeface="Times New Roman" panose="02020603050405020304" pitchFamily="18" charset="0"/>
                <a:ea typeface="+mn-ea"/>
                <a:cs typeface="Times New Roman" panose="02020603050405020304" pitchFamily="18" charset="0"/>
              </a:rPr>
              <a:t>: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A creditor is a person to whom the business owes money or money’s worth</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algn="just"/>
            <a:r>
              <a:rPr lang="en-IN" sz="2800" b="1" dirty="0">
                <a:solidFill>
                  <a:schemeClr val="tx1"/>
                </a:solidFill>
                <a:latin typeface="Times New Roman" panose="02020603050405020304" pitchFamily="18" charset="0"/>
                <a:ea typeface="+mn-ea"/>
                <a:cs typeface="Times New Roman" panose="02020603050405020304" pitchFamily="18" charset="0"/>
              </a:rPr>
              <a:t>Capital Expenditure</a:t>
            </a:r>
            <a:r>
              <a:rPr lang="en-IN" sz="2800" dirty="0">
                <a:solidFill>
                  <a:schemeClr val="tx1"/>
                </a:solidFill>
                <a:latin typeface="Times New Roman" panose="02020603050405020304" pitchFamily="18" charset="0"/>
                <a:ea typeface="+mn-ea"/>
                <a:cs typeface="Times New Roman" panose="02020603050405020304" pitchFamily="18" charset="0"/>
              </a:rPr>
              <a:t> :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This represents expenditure incurred for the purpose of acquiring a fixed asset which is intended to be used over long term for earning profits there from</a:t>
            </a:r>
            <a:endParaRPr lang="en-IN" sz="2800" dirty="0">
              <a:solidFill>
                <a:schemeClr val="tx1"/>
              </a:solidFill>
              <a:latin typeface="Times New Roman" panose="02020603050405020304" pitchFamily="18" charset="0"/>
              <a:ea typeface="+mn-ea"/>
              <a:cs typeface="Times New Roman" panose="02020603050405020304" pitchFamily="18" charset="0"/>
            </a:endParaRPr>
          </a:p>
          <a:p>
            <a:r>
              <a:rPr lang="en-IN" sz="2800" b="1" dirty="0">
                <a:solidFill>
                  <a:schemeClr val="tx1"/>
                </a:solidFill>
                <a:latin typeface="Times New Roman" panose="02020603050405020304" pitchFamily="18" charset="0"/>
                <a:ea typeface="+mn-ea"/>
                <a:cs typeface="Times New Roman" panose="02020603050405020304" pitchFamily="18" charset="0"/>
              </a:rPr>
              <a:t>Revenue expenditure :</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buNone/>
            </a:pPr>
            <a:r>
              <a:rPr lang="en-IN" sz="2800" dirty="0">
                <a:solidFill>
                  <a:schemeClr val="tx1"/>
                </a:solidFill>
                <a:latin typeface="Times New Roman" panose="02020603050405020304" pitchFamily="18" charset="0"/>
                <a:ea typeface="+mn-ea"/>
                <a:cs typeface="Times New Roman" panose="02020603050405020304" pitchFamily="18" charset="0"/>
              </a:rPr>
              <a:t>This represents expenditure incurred to earn revenue of the current period</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15636" y="741218"/>
            <a:ext cx="8229600" cy="4525963"/>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IN" sz="2400" b="1" dirty="0">
                <a:solidFill>
                  <a:schemeClr val="tx1"/>
                </a:solidFill>
                <a:latin typeface="Times New Roman" panose="02020603050405020304" pitchFamily="18" charset="0"/>
                <a:ea typeface="+mn-ea"/>
                <a:cs typeface="Times New Roman" panose="02020603050405020304" pitchFamily="18" charset="0"/>
              </a:rPr>
              <a:t>Balance Sheet </a:t>
            </a:r>
            <a:r>
              <a:rPr lang="en-IN" sz="2400" dirty="0">
                <a:solidFill>
                  <a:schemeClr val="tx1"/>
                </a:solidFill>
                <a:latin typeface="Times New Roman" panose="02020603050405020304" pitchFamily="18" charset="0"/>
                <a:ea typeface="+mn-ea"/>
                <a:cs typeface="Times New Roman" panose="02020603050405020304" pitchFamily="18" charset="0"/>
              </a:rPr>
              <a:t>: </a:t>
            </a:r>
            <a:endParaRPr lang="en-IN"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400" dirty="0">
                <a:solidFill>
                  <a:schemeClr val="tx1"/>
                </a:solidFill>
                <a:latin typeface="Times New Roman" panose="02020603050405020304" pitchFamily="18" charset="0"/>
                <a:ea typeface="+mn-ea"/>
                <a:cs typeface="Times New Roman" panose="02020603050405020304" pitchFamily="18" charset="0"/>
              </a:rPr>
              <a:t>It is the statement of financial position of the business entity on a particular date. It lists all assets, liabilities and capital. It is important to note that this statement exhibits the state of affairs of the business as on a particular date only</a:t>
            </a:r>
            <a:endParaRPr lang="en-IN" sz="2400" dirty="0">
              <a:solidFill>
                <a:schemeClr val="tx1"/>
              </a:solidFill>
              <a:latin typeface="Times New Roman" panose="02020603050405020304" pitchFamily="18" charset="0"/>
              <a:ea typeface="+mn-ea"/>
              <a:cs typeface="Times New Roman" panose="02020603050405020304" pitchFamily="18" charset="0"/>
            </a:endParaRPr>
          </a:p>
          <a:p>
            <a:pPr algn="just"/>
            <a:r>
              <a:rPr lang="en-IN" sz="2400" b="1" dirty="0">
                <a:solidFill>
                  <a:schemeClr val="tx1"/>
                </a:solidFill>
                <a:latin typeface="Times New Roman" panose="02020603050405020304" pitchFamily="18" charset="0"/>
                <a:ea typeface="+mn-ea"/>
                <a:cs typeface="Times New Roman" panose="02020603050405020304" pitchFamily="18" charset="0"/>
              </a:rPr>
              <a:t>Profit and Loss Account or Income Statement</a:t>
            </a:r>
            <a:r>
              <a:rPr lang="en-IN" sz="2400" dirty="0">
                <a:solidFill>
                  <a:schemeClr val="tx1"/>
                </a:solidFill>
                <a:latin typeface="Times New Roman" panose="02020603050405020304" pitchFamily="18" charset="0"/>
                <a:ea typeface="+mn-ea"/>
                <a:cs typeface="Times New Roman" panose="02020603050405020304" pitchFamily="18" charset="0"/>
              </a:rPr>
              <a:t>: </a:t>
            </a:r>
            <a:endParaRPr lang="en-IN"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400" dirty="0">
                <a:solidFill>
                  <a:schemeClr val="tx1"/>
                </a:solidFill>
                <a:latin typeface="Times New Roman" panose="02020603050405020304" pitchFamily="18" charset="0"/>
                <a:ea typeface="+mn-ea"/>
                <a:cs typeface="Times New Roman" panose="02020603050405020304" pitchFamily="18" charset="0"/>
              </a:rPr>
              <a:t>This account shows the revenue earned by the business and the expenses incurred by the business to earn that revenue. This is prepared usually for a particular accounting period, which could be a month, quarter, a half year or a year</a:t>
            </a:r>
            <a:endParaRPr lang="en-IN" sz="24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152400" y="850900"/>
            <a:ext cx="8839200" cy="5156200"/>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sz="2400" b="1" dirty="0">
                <a:solidFill>
                  <a:schemeClr val="tx1"/>
                </a:solidFill>
                <a:latin typeface="Times New Roman" panose="02020603050405020304" pitchFamily="18" charset="0"/>
                <a:ea typeface="+mn-ea"/>
                <a:cs typeface="Times New Roman" panose="02020603050405020304" pitchFamily="18" charset="0"/>
              </a:rPr>
              <a:t>Proprietor:</a:t>
            </a:r>
            <a:endParaRPr lang="en-US" sz="24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400" dirty="0">
                <a:solidFill>
                  <a:schemeClr val="tx1"/>
                </a:solidFill>
                <a:latin typeface="Times New Roman" panose="02020603050405020304" pitchFamily="18" charset="0"/>
                <a:ea typeface="+mn-ea"/>
                <a:cs typeface="Times New Roman" panose="02020603050405020304" pitchFamily="18" charset="0"/>
              </a:rPr>
              <a:t>In accounting, a proprietor is the individual owner of a business structured as a sole proprietorship. This owner, also known as a sole proprietor or sole trader, manages and controls the business, receives all profits, and bears all debts and liabilities, meaning there is no legal distinction between the owner and the business.</a:t>
            </a:r>
            <a:endParaRPr lang="en-US" sz="2400" dirty="0">
              <a:solidFill>
                <a:schemeClr val="tx1"/>
              </a:solidFill>
              <a:latin typeface="Times New Roman" panose="02020603050405020304" pitchFamily="18" charset="0"/>
              <a:ea typeface="+mn-ea"/>
              <a:cs typeface="Times New Roman" panose="02020603050405020304" pitchFamily="18" charset="0"/>
            </a:endParaRPr>
          </a:p>
          <a:p>
            <a:pPr algn="just"/>
            <a:r>
              <a:rPr lang="en-US" sz="2400" b="1" dirty="0">
                <a:solidFill>
                  <a:schemeClr val="tx1"/>
                </a:solidFill>
                <a:latin typeface="Times New Roman" panose="02020603050405020304" pitchFamily="18" charset="0"/>
                <a:ea typeface="+mn-ea"/>
                <a:cs typeface="Times New Roman" panose="02020603050405020304" pitchFamily="18" charset="0"/>
              </a:rPr>
              <a:t>Drawings:</a:t>
            </a:r>
            <a:endParaRPr lang="en-US" sz="24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400" dirty="0">
                <a:solidFill>
                  <a:schemeClr val="tx1"/>
                </a:solidFill>
                <a:latin typeface="Times New Roman" panose="02020603050405020304" pitchFamily="18" charset="0"/>
                <a:ea typeface="+mn-ea"/>
                <a:cs typeface="Times New Roman" panose="02020603050405020304" pitchFamily="18" charset="0"/>
              </a:rPr>
              <a:t>The Money withdrawn from the business or the goods taken for personal use by the proprietor is referred to as Drawings.</a:t>
            </a:r>
            <a:endParaRPr lang="en-US" sz="24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57200" y="922866"/>
            <a:ext cx="8229600" cy="5376334"/>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US" sz="2800" b="1" dirty="0">
                <a:solidFill>
                  <a:schemeClr val="tx1"/>
                </a:solidFill>
                <a:latin typeface="Times New Roman" panose="02020603050405020304" pitchFamily="18" charset="0"/>
                <a:ea typeface="+mn-ea"/>
                <a:cs typeface="Times New Roman" panose="02020603050405020304" pitchFamily="18" charset="0"/>
              </a:rPr>
              <a:t>Revenue :</a:t>
            </a:r>
            <a:r>
              <a:rPr lang="en-US" sz="2800" dirty="0">
                <a:solidFill>
                  <a:schemeClr val="tx1"/>
                </a:solidFill>
                <a:latin typeface="Times New Roman" panose="02020603050405020304" pitchFamily="18" charset="0"/>
                <a:ea typeface="+mn-ea"/>
                <a:cs typeface="Times New Roman" panose="02020603050405020304" pitchFamily="18" charset="0"/>
              </a:rPr>
              <a:t> </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The earning of a business by making available services to its clients or by way of selling the products manufactured by it are referred to as Revenue.</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algn="just"/>
            <a:r>
              <a:rPr lang="en-US" sz="2800" b="1" dirty="0">
                <a:solidFill>
                  <a:schemeClr val="tx1"/>
                </a:solidFill>
                <a:latin typeface="Times New Roman" panose="02020603050405020304" pitchFamily="18" charset="0"/>
                <a:ea typeface="+mn-ea"/>
                <a:cs typeface="Times New Roman" panose="02020603050405020304" pitchFamily="18" charset="0"/>
              </a:rPr>
              <a:t>Expenses:</a:t>
            </a:r>
            <a:endParaRPr lang="en-US" sz="28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The Amount of money spent by a business organization during the conduct of its business are called as Expenses.</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endParaRPr lang="en-US" dirty="0">
              <a:solidFill>
                <a:schemeClr val="tx1"/>
              </a:solidFill>
              <a:latin typeface="+mn-lt"/>
              <a:ea typeface="+mn-ea"/>
              <a:cs typeface="Times New Roman" panose="02020603050405020304" pitchFamily="18" charset="0"/>
            </a:endParaRPr>
          </a:p>
          <a:p>
            <a:endParaRPr lang="en-US" dirty="0">
              <a:solidFill>
                <a:schemeClr val="tx1"/>
              </a:solidFill>
              <a:latin typeface="+mn-lt"/>
              <a:ea typeface="+mn-ea"/>
              <a:cs typeface="Times New Roman" panose="02020603050405020304" pitchFamily="18"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57200" y="736600"/>
            <a:ext cx="8229600" cy="5308600"/>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US" sz="2800" b="1" dirty="0">
                <a:solidFill>
                  <a:schemeClr val="tx1"/>
                </a:solidFill>
                <a:latin typeface="Times New Roman" panose="02020603050405020304" pitchFamily="18" charset="0"/>
                <a:ea typeface="+mn-ea"/>
                <a:cs typeface="Times New Roman" panose="02020603050405020304" pitchFamily="18" charset="0"/>
              </a:rPr>
              <a:t>Purchases:</a:t>
            </a:r>
            <a:endParaRPr lang="en-US" sz="28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Goods acquired either on credit or on cash payment for the own use of business entity or for resale are referred to as Purchases.</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algn="just"/>
            <a:r>
              <a:rPr lang="en-US" sz="2800" b="1" dirty="0">
                <a:solidFill>
                  <a:schemeClr val="tx1"/>
                </a:solidFill>
                <a:latin typeface="Times New Roman" panose="02020603050405020304" pitchFamily="18" charset="0"/>
                <a:ea typeface="+mn-ea"/>
                <a:cs typeface="Times New Roman" panose="02020603050405020304" pitchFamily="18" charset="0"/>
              </a:rPr>
              <a:t>Purchase Return </a:t>
            </a:r>
            <a:r>
              <a:rPr lang="en-US" sz="2800" dirty="0">
                <a:solidFill>
                  <a:schemeClr val="tx1"/>
                </a:solidFill>
                <a:latin typeface="Times New Roman" panose="02020603050405020304" pitchFamily="18" charset="0"/>
                <a:ea typeface="+mn-ea"/>
                <a:cs typeface="Times New Roman" panose="02020603050405020304" pitchFamily="18" charset="0"/>
              </a:rPr>
              <a:t>:</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Purchases made in excess of the required level or surplus purchases and purchases that have defect that returned to the supplier are referred to as Purchase Return or Return Outward.</a:t>
            </a:r>
            <a:endParaRPr lang="en-US"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262466" y="584200"/>
            <a:ext cx="8619067" cy="4986867"/>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lgn="just"/>
            <a:r>
              <a:rPr lang="en-US" sz="2800" b="1" dirty="0">
                <a:solidFill>
                  <a:schemeClr val="tx1"/>
                </a:solidFill>
                <a:latin typeface="Times New Roman" panose="02020603050405020304" pitchFamily="18" charset="0"/>
                <a:ea typeface="+mn-ea"/>
                <a:cs typeface="Times New Roman" panose="02020603050405020304" pitchFamily="18" charset="0"/>
              </a:rPr>
              <a:t>Sales:</a:t>
            </a:r>
            <a:endParaRPr lang="en-US" sz="28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The Total amount of goods or services extended by a business organization to its clients/customers are known as Sales.</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algn="just"/>
            <a:r>
              <a:rPr lang="en-US" sz="2800" b="1" dirty="0">
                <a:solidFill>
                  <a:schemeClr val="tx1"/>
                </a:solidFill>
                <a:latin typeface="Times New Roman" panose="02020603050405020304" pitchFamily="18" charset="0"/>
                <a:ea typeface="+mn-ea"/>
                <a:cs typeface="Times New Roman" panose="02020603050405020304" pitchFamily="18" charset="0"/>
              </a:rPr>
              <a:t>Sales Return:</a:t>
            </a:r>
            <a:endParaRPr lang="en-US" sz="28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At client's end when the goods supplied are in excess of required level and that have defect, the goods are returned by them are known as sales Return or Return Inward.</a:t>
            </a:r>
            <a:endParaRPr lang="en-US"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a:xfrm>
            <a:off x="1781175" y="870585"/>
            <a:ext cx="5429250" cy="720090"/>
          </a:xfrm>
        </p:spPr>
        <p:txBody>
          <a:bodyPr vert="horz" wrap="square" lIns="0" tIns="0" rIns="0" bIns="0" rtlCol="0" anchor="b">
            <a:normAutofit fontScale="90000"/>
          </a:bodyPr>
          <a:lstStyle>
            <a:lvl1pPr>
              <a:defRPr baseline="0">
                <a:latin typeface="+mj-lt"/>
              </a:defRPr>
            </a:lvl1pPr>
          </a:lstStyle>
          <a:p>
            <a:pPr lvl="0" algn="ctr">
              <a:buClrTx/>
              <a:buSzTx/>
              <a:buFontTx/>
            </a:pPr>
            <a:r>
              <a:rPr sz="3100">
                <a:cs typeface="+mn-ea"/>
                <a:sym typeface="+mn-ea"/>
              </a:rPr>
              <a:t>Accounting Concepts</a:t>
            </a:r>
            <a:r>
              <a:rPr>
                <a:cs typeface="+mn-ea"/>
                <a:sym typeface="+mn-ea"/>
              </a:rPr>
              <a:t> </a:t>
            </a:r>
            <a:br>
              <a:rPr>
                <a:cs typeface="+mn-ea"/>
                <a:sym typeface="+mn-ea"/>
              </a:rPr>
            </a:br>
            <a:br>
              <a:rPr>
                <a:cs typeface="+mn-ea"/>
                <a:sym typeface="+mn-ea"/>
              </a:rPr>
            </a:br>
            <a:r>
              <a:rPr sz="2700">
                <a:solidFill>
                  <a:schemeClr val="tx1"/>
                </a:solidFill>
                <a:latin typeface="Times New Roman" panose="02020603050405020304" pitchFamily="18" charset="0"/>
                <a:cs typeface="Times New Roman" panose="02020603050405020304" pitchFamily="18" charset="0"/>
                <a:sym typeface="+mn-ea"/>
              </a:rPr>
              <a:t>Business Entity Concept</a:t>
            </a:r>
            <a:endParaRPr sz="2700">
              <a:solidFill>
                <a:schemeClr val="tx1"/>
              </a:solidFill>
              <a:latin typeface="Times New Roman" panose="02020603050405020304" pitchFamily="18" charset="0"/>
              <a:cs typeface="Times New Roman" panose="02020603050405020304" pitchFamily="18" charset="0"/>
              <a:sym typeface="+mn-ea"/>
            </a:endParaRPr>
          </a:p>
        </p:txBody>
      </p:sp>
      <p:sp>
        <p:nvSpPr>
          <p:cNvPr id="9" name="Text Placeholder 2"/>
          <p:cNvSpPr>
            <a:spLocks noGrp="1"/>
          </p:cNvSpPr>
          <p:nvPr>
            <p:custDataLst>
              <p:tags r:id="rId2"/>
            </p:custDataLst>
          </p:nvPr>
        </p:nvSpPr>
        <p:spPr>
          <a:xfrm>
            <a:off x="521970" y="2037715"/>
            <a:ext cx="8100060" cy="3714750"/>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business entity concept states that the business enterprise is separate from its owner. In simple terms, for accounting purposes, the business and its owners are treated separately</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endParaRPr lang="en-US"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Example, the amount of 1,00,000 in ABC Ltd. by its owner Raj will be considered a liability to the business</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ctr">
              <a:buClrTx/>
              <a:buSzTx/>
              <a:buFontTx/>
            </a:pPr>
            <a:r>
              <a:rPr sz="2800">
                <a:solidFill>
                  <a:schemeClr val="tx1"/>
                </a:solidFill>
                <a:cs typeface="+mn-ea"/>
                <a:sym typeface="+mn-ea"/>
              </a:rPr>
              <a:t>Money Measurement Concept</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434975" y="1431925"/>
            <a:ext cx="8100060" cy="36417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money measurement concept says that a business should record only those transactions which can be expressed in monetary terms</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Example:</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Such as ₹ 13 lakh for land, ₹ 15 lakh for computers, and ₹2 lakh for chairs, etc., in the books of accounts</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ctr">
              <a:buClrTx/>
              <a:buSzTx/>
              <a:buFontTx/>
            </a:pPr>
            <a:r>
              <a:rPr sz="2800" b="1">
                <a:solidFill>
                  <a:schemeClr val="tx1"/>
                </a:solidFill>
                <a:cs typeface="+mn-ea"/>
                <a:sym typeface="+mn-ea"/>
              </a:rPr>
              <a:t>Going Concern Concept</a:t>
            </a:r>
            <a:endParaRPr sz="2800" b="1">
              <a:solidFill>
                <a:schemeClr val="tx1"/>
              </a:solidFill>
              <a:cs typeface="+mn-ea"/>
              <a:sym typeface="+mn-ea"/>
            </a:endParaRPr>
          </a:p>
        </p:txBody>
      </p:sp>
      <p:sp>
        <p:nvSpPr>
          <p:cNvPr id="9" name="Text Placeholder 2"/>
          <p:cNvSpPr>
            <a:spLocks noGrp="1"/>
          </p:cNvSpPr>
          <p:nvPr>
            <p:custDataLst>
              <p:tags r:id="rId2"/>
            </p:custDataLst>
          </p:nvPr>
        </p:nvSpPr>
        <p:spPr>
          <a:xfrm>
            <a:off x="521970" y="1170939"/>
            <a:ext cx="8100000" cy="4873625"/>
          </a:xfrm>
          <a:prstGeom prst="rect">
            <a:avLst/>
          </a:prstGeom>
          <a:noFill/>
          <a:ln>
            <a:noFill/>
          </a:ln>
        </p:spPr>
        <p:txBody>
          <a:bodyPr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400" dirty="0">
                <a:solidFill>
                  <a:schemeClr val="tx1"/>
                </a:solidFill>
                <a:latin typeface="Times New Roman" panose="02020603050405020304" pitchFamily="18" charset="0"/>
                <a:ea typeface="+mn-ea"/>
                <a:cs typeface="Times New Roman" panose="02020603050405020304" pitchFamily="18" charset="0"/>
              </a:rPr>
              <a:t>The going concern concept assumes that an organization would continue its business operations indefinitely. It means that it is assumed that the business will run for a long period of time, and will not liquidate in the foreseeable future</a:t>
            </a:r>
            <a:endParaRPr lang="en-IN" sz="24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400" dirty="0">
                <a:solidFill>
                  <a:schemeClr val="tx1"/>
                </a:solidFill>
                <a:latin typeface="Times New Roman" panose="02020603050405020304" pitchFamily="18" charset="0"/>
                <a:ea typeface="+mn-ea"/>
                <a:cs typeface="Times New Roman" panose="02020603050405020304" pitchFamily="18" charset="0"/>
              </a:rPr>
              <a:t>For example, if an organization purchases machinery for ₹1,00,000, it would not be fair to show the full amount of the machinery in one year, as the company will be getting service or production with the help of machinery for several years. Therefore, the going concern concept by assuming that the business will not liquidate in the foreseeable future states that the firm should record the machinery’s value for its estimated life span. Let’s say, the life span of the said machinery is 10 years. Now, the firm may charge </a:t>
            </a:r>
            <a:r>
              <a:rPr lang="en-US" altLang="en-IN" sz="2400" dirty="0">
                <a:solidFill>
                  <a:schemeClr val="tx1"/>
                </a:solidFill>
                <a:latin typeface="Times New Roman" panose="02020603050405020304" pitchFamily="18" charset="0"/>
                <a:ea typeface="+mn-ea"/>
                <a:cs typeface="Times New Roman" panose="02020603050405020304" pitchFamily="18" charset="0"/>
              </a:rPr>
              <a:t>depreciation </a:t>
            </a:r>
            <a:r>
              <a:rPr lang="en-IN" sz="2400" dirty="0">
                <a:solidFill>
                  <a:schemeClr val="tx1"/>
                </a:solidFill>
                <a:latin typeface="Times New Roman" panose="02020603050405020304" pitchFamily="18" charset="0"/>
                <a:ea typeface="+mn-ea"/>
                <a:cs typeface="Times New Roman" panose="02020603050405020304" pitchFamily="18" charset="0"/>
              </a:rPr>
              <a:t>₹10,000 for 10 years from the profit and loss account</a:t>
            </a:r>
            <a:endParaRPr lang="en-IN" sz="24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ctr">
              <a:buClrTx/>
              <a:buSzTx/>
              <a:buFontTx/>
            </a:pPr>
            <a:r>
              <a:rPr sz="2800" b="1">
                <a:solidFill>
                  <a:schemeClr val="tx1"/>
                </a:solidFill>
                <a:cs typeface="+mn-ea"/>
                <a:sym typeface="+mn-ea"/>
              </a:rPr>
              <a:t>Accounting Period Concept</a:t>
            </a:r>
            <a:endParaRPr sz="2800" b="1">
              <a:solidFill>
                <a:schemeClr val="tx1"/>
              </a:solidFill>
              <a:cs typeface="+mn-ea"/>
              <a:sym typeface="+mn-ea"/>
            </a:endParaRPr>
          </a:p>
        </p:txBody>
      </p:sp>
      <p:sp>
        <p:nvSpPr>
          <p:cNvPr id="9" name="Text Placeholder 2"/>
          <p:cNvSpPr>
            <a:spLocks noGrp="1"/>
          </p:cNvSpPr>
          <p:nvPr>
            <p:custDataLst>
              <p:tags r:id="rId2"/>
            </p:custDataLst>
          </p:nvPr>
        </p:nvSpPr>
        <p:spPr>
          <a:xfrm>
            <a:off x="521970" y="1288415"/>
            <a:ext cx="8100060" cy="3511550"/>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accounting period concept defines the time span at the end of which an organization has to prepare its financial statements to determine whether they have earned profits or incurred losses during a specified time span</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normal interval for the preparation of the financial statements is one year</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custDataLst>
              <p:tags r:id="rId1"/>
            </p:custDataLst>
          </p:nvPr>
        </p:nvSpPr>
        <p:spPr>
          <a:xfrm>
            <a:off x="2576945" y="0"/>
            <a:ext cx="4502728" cy="692727"/>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sz="3600" b="1" dirty="0">
                <a:solidFill>
                  <a:schemeClr val="tx1"/>
                </a:solidFill>
                <a:latin typeface="Times New Roman" panose="02020603050405020304" pitchFamily="18" charset="0"/>
                <a:ea typeface="+mn-ea"/>
                <a:cs typeface="Times New Roman" panose="02020603050405020304" pitchFamily="18" charset="0"/>
              </a:rPr>
              <a:t>Cost Concept</a:t>
            </a:r>
            <a:r>
              <a:rPr lang="en-IN" sz="3600" dirty="0">
                <a:solidFill>
                  <a:schemeClr val="tx1"/>
                </a:solidFill>
                <a:latin typeface="Times New Roman" panose="02020603050405020304" pitchFamily="18" charset="0"/>
                <a:ea typeface="+mn-ea"/>
                <a:cs typeface="Times New Roman" panose="02020603050405020304" pitchFamily="18" charset="0"/>
              </a:rPr>
              <a:t> </a:t>
            </a:r>
            <a:br>
              <a:rPr lang="en-IN" dirty="0">
                <a:solidFill>
                  <a:schemeClr val="tx1"/>
                </a:solidFill>
                <a:latin typeface="+mn-lt"/>
                <a:ea typeface="+mn-ea"/>
              </a:rPr>
            </a:br>
            <a:endParaRPr lang="en-IN" dirty="0">
              <a:solidFill>
                <a:schemeClr val="tx1"/>
              </a:solidFill>
              <a:latin typeface="+mn-lt"/>
              <a:ea typeface="+mn-ea"/>
            </a:endParaRPr>
          </a:p>
        </p:txBody>
      </p:sp>
      <p:sp>
        <p:nvSpPr>
          <p:cNvPr id="6" name="Text Placeholder 2"/>
          <p:cNvSpPr>
            <a:spLocks noGrp="1"/>
          </p:cNvSpPr>
          <p:nvPr>
            <p:custDataLst>
              <p:tags r:id="rId2"/>
            </p:custDataLst>
          </p:nvPr>
        </p:nvSpPr>
        <p:spPr>
          <a:xfrm>
            <a:off x="512618" y="893618"/>
            <a:ext cx="8229600" cy="4525963"/>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The cost concept of accounting states that an organization should record all of its assets at their purchase price in the books of accounts</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For example, </a:t>
            </a:r>
            <a:r>
              <a:rPr lang="en-IN" sz="2800" dirty="0" err="1">
                <a:solidFill>
                  <a:schemeClr val="tx1"/>
                </a:solidFill>
                <a:latin typeface="Times New Roman" panose="02020603050405020304" pitchFamily="18" charset="0"/>
                <a:ea typeface="+mn-ea"/>
                <a:cs typeface="Times New Roman" panose="02020603050405020304" pitchFamily="18" charset="0"/>
              </a:rPr>
              <a:t>Radha</a:t>
            </a:r>
            <a:r>
              <a:rPr lang="en-IN" sz="2800" dirty="0">
                <a:solidFill>
                  <a:schemeClr val="tx1"/>
                </a:solidFill>
                <a:latin typeface="Times New Roman" panose="02020603050405020304" pitchFamily="18" charset="0"/>
                <a:ea typeface="+mn-ea"/>
                <a:cs typeface="Times New Roman" panose="02020603050405020304" pitchFamily="18" charset="0"/>
              </a:rPr>
              <a:t> Ltd. purchased machinery for ₹60 lakh in July 202</a:t>
            </a:r>
            <a:r>
              <a:rPr lang="en-US" altLang="en-IN" sz="2800" dirty="0">
                <a:solidFill>
                  <a:schemeClr val="tx1"/>
                </a:solidFill>
                <a:latin typeface="Times New Roman" panose="02020603050405020304" pitchFamily="18" charset="0"/>
                <a:ea typeface="+mn-ea"/>
                <a:cs typeface="Times New Roman" panose="02020603050405020304" pitchFamily="18" charset="0"/>
              </a:rPr>
              <a:t>6</a:t>
            </a:r>
            <a:r>
              <a:rPr lang="en-IN" sz="2800" dirty="0">
                <a:solidFill>
                  <a:schemeClr val="tx1"/>
                </a:solidFill>
                <a:latin typeface="Times New Roman" panose="02020603050405020304" pitchFamily="18" charset="0"/>
                <a:ea typeface="+mn-ea"/>
                <a:cs typeface="Times New Roman" panose="02020603050405020304" pitchFamily="18" charset="0"/>
              </a:rPr>
              <a:t>. It has also spent a sum of ₹10,000 on transportation, ₹20,000 on its installation, and ₹15,000 on making it ready to use. The total amount at which the organization will record the value of machinery in the books of account would be ₹60,45,000. </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custDataLst>
              <p:tags r:id="rId1"/>
            </p:custDataLst>
          </p:nvPr>
        </p:nvSpPr>
        <p:spPr/>
        <p:txBody>
          <a:bodyPr vert="horz" wrap="square" lIns="0" tIns="0" rIns="0" bIns="0" rtlCol="0" anchor="b">
            <a:normAutofit/>
          </a:bodyPr>
          <a:lstStyle>
            <a:lvl1pPr>
              <a:defRPr baseline="0">
                <a:latin typeface="+mj-lt"/>
              </a:defRPr>
            </a:lvl1pPr>
          </a:lstStyle>
          <a:p>
            <a:pPr lvl="0" algn="ctr">
              <a:buClrTx/>
              <a:buSzTx/>
              <a:buFontTx/>
            </a:pPr>
            <a:r>
              <a:rPr sz="2800">
                <a:solidFill>
                  <a:schemeClr val="tx1"/>
                </a:solidFill>
                <a:cs typeface="+mn-ea"/>
                <a:sym typeface="+mn-ea"/>
              </a:rPr>
              <a:t>Dual Aspect or Duality Concept</a:t>
            </a:r>
            <a:endParaRPr sz="2800">
              <a:solidFill>
                <a:schemeClr val="tx1"/>
              </a:solidFill>
              <a:cs typeface="+mn-ea"/>
              <a:sym typeface="+mn-ea"/>
            </a:endParaRPr>
          </a:p>
        </p:txBody>
      </p:sp>
      <p:sp>
        <p:nvSpPr>
          <p:cNvPr id="9" name="Text Placeholder 2"/>
          <p:cNvSpPr>
            <a:spLocks noGrp="1"/>
          </p:cNvSpPr>
          <p:nvPr>
            <p:custDataLst>
              <p:tags r:id="rId2"/>
            </p:custDataLst>
          </p:nvPr>
        </p:nvSpPr>
        <p:spPr>
          <a:xfrm>
            <a:off x="521970" y="1287144"/>
            <a:ext cx="8100000" cy="487362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According to the concept, every transaction of the business has a two-fold effect. Hence, it should record every transaction in two places.</a:t>
            </a:r>
            <a:endParaRPr lang="en-IN" sz="2800"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IN" sz="2800" dirty="0">
                <a:solidFill>
                  <a:schemeClr val="tx1"/>
                </a:solidFill>
                <a:latin typeface="Times New Roman" panose="02020603050405020304" pitchFamily="18" charset="0"/>
                <a:ea typeface="+mn-ea"/>
                <a:cs typeface="Times New Roman" panose="02020603050405020304" pitchFamily="18" charset="0"/>
              </a:rPr>
              <a:t>For example, Rohan started a business by investing a sum of ₹1 crore. This amount will increase the cash (asset side) of the business, and will also increase its capital by the same amount, i.e., ₹1 crore. Therefore, the effect of the transaction will be shown in two accounts, i.e., cash and capital account. The dual concept forms the base of the Double Entry System of Accounting</a:t>
            </a:r>
            <a:endParaRPr lang="en-IN"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457200" y="744855"/>
            <a:ext cx="8229600" cy="431355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buNone/>
            </a:pPr>
            <a:r>
              <a:rPr lang="en-US" sz="2800" b="1" dirty="0">
                <a:solidFill>
                  <a:schemeClr val="tx1"/>
                </a:solidFill>
                <a:latin typeface="Times New Roman" panose="02020603050405020304" pitchFamily="18" charset="0"/>
                <a:ea typeface="+mn-ea"/>
                <a:cs typeface="Times New Roman" panose="02020603050405020304" pitchFamily="18" charset="0"/>
              </a:rPr>
              <a:t>Examples:</a:t>
            </a:r>
            <a:endParaRPr lang="en-US" sz="2800" b="1" dirty="0">
              <a:solidFill>
                <a:schemeClr val="tx1"/>
              </a:solidFill>
              <a:latin typeface="Times New Roman" panose="02020603050405020304" pitchFamily="18" charset="0"/>
              <a:ea typeface="+mn-ea"/>
              <a:cs typeface="Times New Roman" panose="02020603050405020304" pitchFamily="18" charset="0"/>
            </a:endParaRPr>
          </a:p>
          <a:p>
            <a:r>
              <a:rPr lang="en-US" sz="2800" b="1" dirty="0">
                <a:solidFill>
                  <a:schemeClr val="tx1"/>
                </a:solidFill>
                <a:latin typeface="Times New Roman" panose="02020603050405020304" pitchFamily="18" charset="0"/>
                <a:ea typeface="+mn-ea"/>
                <a:cs typeface="Times New Roman" panose="02020603050405020304" pitchFamily="18" charset="0"/>
              </a:rPr>
              <a:t>Owner invests ₹1,00,000 in business</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lvl="1"/>
            <a:r>
              <a:rPr lang="en-US" sz="2800" dirty="0">
                <a:solidFill>
                  <a:schemeClr val="tx1"/>
                </a:solidFill>
                <a:latin typeface="Times New Roman" panose="02020603050405020304" pitchFamily="18" charset="0"/>
                <a:ea typeface="+mn-ea"/>
                <a:cs typeface="Times New Roman" panose="02020603050405020304" pitchFamily="18" charset="0"/>
              </a:rPr>
              <a:t>Cash (Asset) </a:t>
            </a:r>
            <a:r>
              <a:rPr lang="en-US" sz="2800" b="1" dirty="0">
                <a:solidFill>
                  <a:schemeClr val="tx1"/>
                </a:solidFill>
                <a:latin typeface="Times New Roman" panose="02020603050405020304" pitchFamily="18" charset="0"/>
                <a:ea typeface="+mn-ea"/>
                <a:cs typeface="Times New Roman" panose="02020603050405020304" pitchFamily="18" charset="0"/>
              </a:rPr>
              <a:t>increases</a:t>
            </a:r>
            <a:r>
              <a:rPr lang="en-US" sz="2800" dirty="0">
                <a:solidFill>
                  <a:schemeClr val="tx1"/>
                </a:solidFill>
                <a:latin typeface="Times New Roman" panose="02020603050405020304" pitchFamily="18" charset="0"/>
                <a:ea typeface="+mn-ea"/>
                <a:cs typeface="Times New Roman" panose="02020603050405020304" pitchFamily="18" charset="0"/>
              </a:rPr>
              <a:t> → Debit</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lvl="1"/>
            <a:r>
              <a:rPr lang="en-US" sz="2800" dirty="0">
                <a:solidFill>
                  <a:schemeClr val="tx1"/>
                </a:solidFill>
                <a:latin typeface="Times New Roman" panose="02020603050405020304" pitchFamily="18" charset="0"/>
                <a:ea typeface="+mn-ea"/>
                <a:cs typeface="Times New Roman" panose="02020603050405020304" pitchFamily="18" charset="0"/>
              </a:rPr>
              <a:t>Capital (Owner’s Equity) </a:t>
            </a:r>
            <a:r>
              <a:rPr lang="en-US" sz="2800" b="1" dirty="0">
                <a:solidFill>
                  <a:schemeClr val="tx1"/>
                </a:solidFill>
                <a:latin typeface="Times New Roman" panose="02020603050405020304" pitchFamily="18" charset="0"/>
                <a:ea typeface="+mn-ea"/>
                <a:cs typeface="Times New Roman" panose="02020603050405020304" pitchFamily="18" charset="0"/>
              </a:rPr>
              <a:t>increases</a:t>
            </a:r>
            <a:r>
              <a:rPr lang="en-US" sz="2800" dirty="0">
                <a:solidFill>
                  <a:schemeClr val="tx1"/>
                </a:solidFill>
                <a:latin typeface="Times New Roman" panose="02020603050405020304" pitchFamily="18" charset="0"/>
                <a:ea typeface="+mn-ea"/>
                <a:cs typeface="Times New Roman" panose="02020603050405020304" pitchFamily="18" charset="0"/>
              </a:rPr>
              <a:t> → Credit</a:t>
            </a:r>
            <a:endParaRPr lang="en-US" sz="2800" dirty="0">
              <a:solidFill>
                <a:schemeClr val="tx1"/>
              </a:solidFill>
              <a:latin typeface="Times New Roman" panose="02020603050405020304" pitchFamily="18" charset="0"/>
              <a:ea typeface="+mn-ea"/>
              <a:cs typeface="Times New Roman" panose="02020603050405020304" pitchFamily="18" charset="0"/>
            </a:endParaRPr>
          </a:p>
          <a:p>
            <a:r>
              <a:rPr lang="en-US" sz="2800" b="1" dirty="0">
                <a:solidFill>
                  <a:schemeClr val="tx1"/>
                </a:solidFill>
                <a:latin typeface="Times New Roman" panose="02020603050405020304" pitchFamily="18" charset="0"/>
                <a:ea typeface="+mn-ea"/>
                <a:cs typeface="Times New Roman" panose="02020603050405020304" pitchFamily="18" charset="0"/>
              </a:rPr>
              <a:t>Business purchases furniture worth ₹20,000 on credit</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lvl="1"/>
            <a:r>
              <a:rPr lang="en-US" sz="2800" dirty="0">
                <a:solidFill>
                  <a:schemeClr val="tx1"/>
                </a:solidFill>
                <a:latin typeface="Times New Roman" panose="02020603050405020304" pitchFamily="18" charset="0"/>
                <a:ea typeface="+mn-ea"/>
                <a:cs typeface="Times New Roman" panose="02020603050405020304" pitchFamily="18" charset="0"/>
              </a:rPr>
              <a:t>Furniture (Asset) </a:t>
            </a:r>
            <a:r>
              <a:rPr lang="en-US" sz="2800" b="1" dirty="0">
                <a:solidFill>
                  <a:schemeClr val="tx1"/>
                </a:solidFill>
                <a:latin typeface="Times New Roman" panose="02020603050405020304" pitchFamily="18" charset="0"/>
                <a:ea typeface="+mn-ea"/>
                <a:cs typeface="Times New Roman" panose="02020603050405020304" pitchFamily="18" charset="0"/>
              </a:rPr>
              <a:t>increases</a:t>
            </a:r>
            <a:r>
              <a:rPr lang="en-US" sz="2800" dirty="0">
                <a:solidFill>
                  <a:schemeClr val="tx1"/>
                </a:solidFill>
                <a:latin typeface="Times New Roman" panose="02020603050405020304" pitchFamily="18" charset="0"/>
                <a:ea typeface="+mn-ea"/>
                <a:cs typeface="Times New Roman" panose="02020603050405020304" pitchFamily="18" charset="0"/>
              </a:rPr>
              <a:t> → Debit</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lvl="1"/>
            <a:r>
              <a:rPr lang="en-US" sz="2800" dirty="0">
                <a:solidFill>
                  <a:schemeClr val="tx1"/>
                </a:solidFill>
                <a:latin typeface="Times New Roman" panose="02020603050405020304" pitchFamily="18" charset="0"/>
                <a:ea typeface="+mn-ea"/>
                <a:cs typeface="Times New Roman" panose="02020603050405020304" pitchFamily="18" charset="0"/>
              </a:rPr>
              <a:t>Creditors (Liability) </a:t>
            </a:r>
            <a:r>
              <a:rPr lang="en-US" sz="2800" b="1" dirty="0">
                <a:solidFill>
                  <a:schemeClr val="tx1"/>
                </a:solidFill>
                <a:latin typeface="Times New Roman" panose="02020603050405020304" pitchFamily="18" charset="0"/>
                <a:ea typeface="+mn-ea"/>
                <a:cs typeface="Times New Roman" panose="02020603050405020304" pitchFamily="18" charset="0"/>
              </a:rPr>
              <a:t>increases</a:t>
            </a:r>
            <a:r>
              <a:rPr lang="en-US" sz="2800" dirty="0">
                <a:solidFill>
                  <a:schemeClr val="tx1"/>
                </a:solidFill>
                <a:latin typeface="Times New Roman" panose="02020603050405020304" pitchFamily="18" charset="0"/>
                <a:ea typeface="+mn-ea"/>
                <a:cs typeface="Times New Roman" panose="02020603050405020304" pitchFamily="18" charset="0"/>
              </a:rPr>
              <a:t> → Credit</a:t>
            </a:r>
            <a:endParaRPr lang="en-US" sz="2800" dirty="0">
              <a:solidFill>
                <a:schemeClr val="tx1"/>
              </a:solidFill>
              <a:latin typeface="Times New Roman" panose="02020603050405020304" pitchFamily="18" charset="0"/>
              <a:ea typeface="+mn-ea"/>
              <a:cs typeface="Times New Roman" panose="02020603050405020304" pitchFamily="18" charset="0"/>
            </a:endParaRPr>
          </a:p>
          <a:p>
            <a:endParaRPr lang="en-US"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custDataLst>
              <p:tags r:id="rId1"/>
            </p:custDataLst>
          </p:nvPr>
        </p:nvGraphicFramePr>
        <p:xfrm>
          <a:off x="254000" y="202563"/>
          <a:ext cx="8635999" cy="6291684"/>
        </p:xfrm>
        <a:graphic>
          <a:graphicData uri="http://schemas.openxmlformats.org/drawingml/2006/table">
            <a:tbl>
              <a:tblPr/>
              <a:tblGrid>
                <a:gridCol w="1507067"/>
                <a:gridCol w="3403600"/>
                <a:gridCol w="3725332"/>
              </a:tblGrid>
              <a:tr h="460261">
                <a:tc>
                  <a:txBody>
                    <a:bodyPr/>
                    <a:lstStyle/>
                    <a:p>
                      <a:pPr algn="l">
                        <a:buNone/>
                      </a:pPr>
                      <a:r>
                        <a:rPr lang="en-US" sz="1600" dirty="0">
                          <a:latin typeface="Times New Roman" panose="02020603050405020304" pitchFamily="18" charset="0"/>
                          <a:ea typeface="+mn-ea"/>
                          <a:cs typeface="Times New Roman" panose="02020603050405020304" pitchFamily="18" charset="0"/>
                        </a:rPr>
                        <a:t>  </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latin typeface="Times New Roman" panose="02020603050405020304" pitchFamily="18" charset="0"/>
                          <a:ea typeface="+mn-ea"/>
                          <a:cs typeface="Times New Roman" panose="02020603050405020304" pitchFamily="18" charset="0"/>
                        </a:rPr>
                        <a:t>Revenue Expenditure</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latin typeface="Times New Roman" panose="02020603050405020304" pitchFamily="18" charset="0"/>
                          <a:ea typeface="+mn-ea"/>
                          <a:cs typeface="Times New Roman" panose="02020603050405020304" pitchFamily="18" charset="0"/>
                        </a:rPr>
                        <a:t>Capital Expenditure</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51469">
                <a:tc>
                  <a:txBody>
                    <a:bodyPr/>
                    <a:lstStyle/>
                    <a:p>
                      <a:pPr algn="ctr">
                        <a:buNone/>
                      </a:pPr>
                      <a:r>
                        <a:rPr lang="en-US" sz="1600" b="1" dirty="0">
                          <a:latin typeface="Times New Roman" panose="02020603050405020304" pitchFamily="18" charset="0"/>
                          <a:ea typeface="+mn-ea"/>
                          <a:cs typeface="Times New Roman" panose="02020603050405020304" pitchFamily="18" charset="0"/>
                        </a:rPr>
                        <a:t>Definition</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The costs a business incurs daily to carry out its everyday activities are known as revenue expenditures.</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When new capital assets are purchased, or existing assets are improved, costs are incurred and included in capital expenditures.</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1437">
                <a:tc>
                  <a:txBody>
                    <a:bodyPr/>
                    <a:lstStyle/>
                    <a:p>
                      <a:pPr algn="ctr">
                        <a:buNone/>
                      </a:pPr>
                      <a:r>
                        <a:rPr lang="en-US" sz="1600" b="1">
                          <a:latin typeface="Times New Roman" panose="02020603050405020304" pitchFamily="18" charset="0"/>
                          <a:ea typeface="+mn-ea"/>
                          <a:cs typeface="Times New Roman" panose="02020603050405020304" pitchFamily="18" charset="0"/>
                        </a:rPr>
                        <a:t>Duration</a:t>
                      </a:r>
                      <a:endParaRPr lang="en-US" sz="1600" b="1">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Short term</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Long term</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42597">
                <a:tc>
                  <a:txBody>
                    <a:bodyPr/>
                    <a:lstStyle/>
                    <a:p>
                      <a:pPr algn="ctr">
                        <a:buNone/>
                      </a:pPr>
                      <a:r>
                        <a:rPr lang="en-US" sz="1600" b="1" dirty="0">
                          <a:latin typeface="Times New Roman" panose="02020603050405020304" pitchFamily="18" charset="0"/>
                          <a:ea typeface="+mn-ea"/>
                          <a:cs typeface="Times New Roman" panose="02020603050405020304" pitchFamily="18" charset="0"/>
                        </a:rPr>
                        <a:t>Accounting Treatment</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A firm's income statement reports this but is not on its balance sheet.</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ea typeface="+mn-ea"/>
                          <a:cs typeface="Times New Roman" panose="02020603050405020304" pitchFamily="18" charset="0"/>
                        </a:rPr>
                        <a:t>A company's Cash Flow Statement discloses it. The item is located under fixed assets on the balance sheet.</a:t>
                      </a:r>
                      <a:endParaRPr lang="en-US" sz="160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18877">
                <a:tc>
                  <a:txBody>
                    <a:bodyPr/>
                    <a:lstStyle/>
                    <a:p>
                      <a:pPr algn="ctr">
                        <a:buNone/>
                      </a:pPr>
                      <a:r>
                        <a:rPr lang="en-US" sz="1600" b="1" dirty="0">
                          <a:latin typeface="Times New Roman" panose="02020603050405020304" pitchFamily="18" charset="0"/>
                          <a:ea typeface="+mn-ea"/>
                          <a:cs typeface="Times New Roman" panose="02020603050405020304" pitchFamily="18" charset="0"/>
                        </a:rPr>
                        <a:t>Capacity</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Such costs are incurred by a business to maintain its short-term earnings.</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Businesses incur these costs to boost their ability to generate income.</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5157">
                <a:tc>
                  <a:txBody>
                    <a:bodyPr/>
                    <a:lstStyle/>
                    <a:p>
                      <a:pPr algn="ctr">
                        <a:buNone/>
                      </a:pPr>
                      <a:r>
                        <a:rPr lang="en-US" sz="1600" b="1" dirty="0">
                          <a:latin typeface="Times New Roman" panose="02020603050405020304" pitchFamily="18" charset="0"/>
                          <a:ea typeface="+mn-ea"/>
                          <a:cs typeface="Times New Roman" panose="02020603050405020304" pitchFamily="18" charset="0"/>
                        </a:rPr>
                        <a:t>Advantage</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Benefits are only available for the current fiscal year.</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The expenses generate long-term benefits.</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43749">
                <a:tc>
                  <a:txBody>
                    <a:bodyPr/>
                    <a:lstStyle/>
                    <a:p>
                      <a:pPr algn="ctr">
                        <a:buNone/>
                      </a:pPr>
                      <a:r>
                        <a:rPr lang="en-US" sz="1600" b="1" dirty="0">
                          <a:latin typeface="Times New Roman" panose="02020603050405020304" pitchFamily="18" charset="0"/>
                          <a:ea typeface="+mn-ea"/>
                          <a:cs typeface="Times New Roman" panose="02020603050405020304" pitchFamily="18" charset="0"/>
                        </a:rPr>
                        <a:t>Occurrence</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Such expenses occur frequently.</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It is a one-time expense.</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5157">
                <a:tc>
                  <a:txBody>
                    <a:bodyPr/>
                    <a:lstStyle/>
                    <a:p>
                      <a:pPr algn="ctr">
                        <a:buNone/>
                      </a:pPr>
                      <a:r>
                        <a:rPr lang="en-US" sz="1600" b="1" dirty="0">
                          <a:latin typeface="Times New Roman" panose="02020603050405020304" pitchFamily="18" charset="0"/>
                          <a:ea typeface="+mn-ea"/>
                          <a:cs typeface="Times New Roman" panose="02020603050405020304" pitchFamily="18" charset="0"/>
                        </a:rPr>
                        <a:t>Capitalization</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Revenue-related costs don't always have to be capitalized.</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Capital expenditures are capitalized.</a:t>
                      </a:r>
                      <a:endParaRPr lang="en-US" sz="1600" dirty="0">
                        <a:latin typeface="Times New Roman" panose="02020603050405020304" pitchFamily="18" charset="0"/>
                        <a:ea typeface="+mn-ea"/>
                        <a:cs typeface="Times New Roman" panose="02020603050405020304" pitchFamily="18" charset="0"/>
                      </a:endParaRPr>
                    </a:p>
                    <a:p>
                      <a:pPr algn="just">
                        <a:buNone/>
                      </a:pPr>
                      <a:r>
                        <a:rPr lang="en-US" sz="1600" dirty="0">
                          <a:latin typeface="Times New Roman" panose="02020603050405020304" pitchFamily="18" charset="0"/>
                          <a:ea typeface="+mn-ea"/>
                          <a:cs typeface="Times New Roman" panose="02020603050405020304" pitchFamily="18" charset="0"/>
                        </a:rPr>
                        <a:t>(added to the value of the asset in the balance sheet).</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18877">
                <a:tc>
                  <a:txBody>
                    <a:bodyPr/>
                    <a:lstStyle/>
                    <a:p>
                      <a:pPr algn="ctr">
                        <a:buNone/>
                      </a:pPr>
                      <a:r>
                        <a:rPr lang="en-US" sz="1600" b="1" dirty="0">
                          <a:latin typeface="Times New Roman" panose="02020603050405020304" pitchFamily="18" charset="0"/>
                          <a:ea typeface="+mn-ea"/>
                          <a:cs typeface="Times New Roman" panose="02020603050405020304" pitchFamily="18" charset="0"/>
                        </a:rPr>
                        <a:t>Depreciation treatment</a:t>
                      </a:r>
                      <a:endParaRPr lang="en-US" sz="1600" b="1"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ea typeface="+mn-ea"/>
                          <a:cs typeface="Times New Roman" panose="02020603050405020304" pitchFamily="18" charset="0"/>
                        </a:rPr>
                        <a:t>A firm's capital revenue is not depreciated.</a:t>
                      </a:r>
                      <a:endParaRPr lang="en-US" sz="160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ea typeface="+mn-ea"/>
                          <a:cs typeface="Times New Roman" panose="02020603050405020304" pitchFamily="18" charset="0"/>
                        </a:rPr>
                        <a:t>Depreciation is added to the company's total annual capital expenditure.</a:t>
                      </a:r>
                      <a:endParaRPr lang="en-US" sz="1600" dirty="0">
                        <a:latin typeface="Times New Roman" panose="02020603050405020304" pitchFamily="18" charset="0"/>
                        <a:ea typeface="+mn-ea"/>
                        <a:cs typeface="Times New Roman" panose="02020603050405020304" pitchFamily="18" charset="0"/>
                      </a:endParaRPr>
                    </a:p>
                  </a:txBody>
                  <a:tcPr marL="52008" marR="52008" marT="26004" marB="26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custDataLst>
              <p:tags r:id="rId1"/>
            </p:custDataLst>
          </p:nvPr>
        </p:nvGraphicFramePr>
        <p:xfrm>
          <a:off x="212725" y="362585"/>
          <a:ext cx="8718550" cy="5595620"/>
        </p:xfrm>
        <a:graphic>
          <a:graphicData uri="http://schemas.openxmlformats.org/drawingml/2006/table">
            <a:tbl>
              <a:tblPr/>
              <a:tblGrid>
                <a:gridCol w="1170305"/>
                <a:gridCol w="3745230"/>
                <a:gridCol w="3803015"/>
              </a:tblGrid>
              <a:tr h="426720">
                <a:tc>
                  <a:txBody>
                    <a:bodyPr/>
                    <a:lstStyle/>
                    <a:p>
                      <a:pPr>
                        <a:buNone/>
                      </a:pPr>
                      <a:r>
                        <a:rPr lang="en-US" sz="1400" b="1">
                          <a:effectLst/>
                          <a:latin typeface="Times New Roman" panose="02020603050405020304" pitchFamily="18" charset="0"/>
                          <a:ea typeface="+mn-ea"/>
                          <a:cs typeface="Times New Roman" panose="02020603050405020304" pitchFamily="18" charset="0"/>
                        </a:rPr>
                        <a:t>Parameters</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dirty="0">
                          <a:effectLst/>
                          <a:latin typeface="Times New Roman" panose="02020603050405020304" pitchFamily="18" charset="0"/>
                          <a:ea typeface="+mn-ea"/>
                          <a:cs typeface="Times New Roman" panose="02020603050405020304" pitchFamily="18" charset="0"/>
                        </a:rPr>
                        <a:t>Capital Receipts</a:t>
                      </a:r>
                      <a:endParaRPr lang="en-US" sz="1800" b="1"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dirty="0">
                          <a:effectLst/>
                          <a:latin typeface="Times New Roman" panose="02020603050405020304" pitchFamily="18" charset="0"/>
                          <a:ea typeface="+mn-ea"/>
                          <a:cs typeface="Times New Roman" panose="02020603050405020304" pitchFamily="18" charset="0"/>
                        </a:rPr>
                        <a:t>Revenue Receipts</a:t>
                      </a:r>
                      <a:endParaRPr lang="en-US" sz="1800" b="1"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47725">
                <a:tc>
                  <a:txBody>
                    <a:bodyPr/>
                    <a:lstStyle/>
                    <a:p>
                      <a:pPr>
                        <a:buNone/>
                      </a:pPr>
                      <a:r>
                        <a:rPr lang="en-US" sz="1400" b="1" dirty="0">
                          <a:effectLst/>
                          <a:latin typeface="Times New Roman" panose="02020603050405020304" pitchFamily="18" charset="0"/>
                          <a:ea typeface="+mn-ea"/>
                          <a:cs typeface="Times New Roman" panose="02020603050405020304" pitchFamily="18" charset="0"/>
                        </a:rPr>
                        <a:t>Meaning</a:t>
                      </a:r>
                      <a:endParaRPr lang="en-US" sz="1400" b="1"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Capital receipts refer to those related to the capital transactions of an organization or a government.</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Revenue receipts refer to those related to the day-to-day operations of an organization or a government.</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47725">
                <a:tc>
                  <a:txBody>
                    <a:bodyPr/>
                    <a:lstStyle/>
                    <a:p>
                      <a:pPr>
                        <a:buNone/>
                      </a:pPr>
                      <a:r>
                        <a:rPr lang="en-US" sz="1400" b="1">
                          <a:effectLst/>
                          <a:latin typeface="Times New Roman" panose="02020603050405020304" pitchFamily="18" charset="0"/>
                          <a:ea typeface="+mn-ea"/>
                          <a:cs typeface="Times New Roman" panose="02020603050405020304" pitchFamily="18" charset="0"/>
                        </a:rPr>
                        <a:t>Sources</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Capital receipts come from sources such as the sale of assets, borrowing, and capital gains. </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effectLst/>
                          <a:latin typeface="Times New Roman" panose="02020603050405020304" pitchFamily="18" charset="0"/>
                          <a:ea typeface="+mn-ea"/>
                          <a:cs typeface="Times New Roman" panose="02020603050405020304" pitchFamily="18" charset="0"/>
                        </a:rPr>
                        <a:t>Revenue receipts come from taxes, fees, and fines.</a:t>
                      </a:r>
                      <a:endParaRPr lang="en-US" sz="160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48360">
                <a:tc>
                  <a:txBody>
                    <a:bodyPr/>
                    <a:lstStyle/>
                    <a:p>
                      <a:pPr>
                        <a:buNone/>
                      </a:pPr>
                      <a:r>
                        <a:rPr lang="en-US" sz="1400" b="1">
                          <a:effectLst/>
                          <a:latin typeface="Times New Roman" panose="02020603050405020304" pitchFamily="18" charset="0"/>
                          <a:ea typeface="+mn-ea"/>
                          <a:cs typeface="Times New Roman" panose="02020603050405020304" pitchFamily="18" charset="0"/>
                        </a:rPr>
                        <a:t>Purpose </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Capital receipts are used for long-term investments, such as building infrastructure or acquiring fixed assets.</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effectLst/>
                          <a:latin typeface="Times New Roman" panose="02020603050405020304" pitchFamily="18" charset="0"/>
                          <a:ea typeface="+mn-ea"/>
                          <a:cs typeface="Times New Roman" panose="02020603050405020304" pitchFamily="18" charset="0"/>
                        </a:rPr>
                        <a:t>Revenue receipts are used for recurring expenses, such as salaries, maintenance, and services.</a:t>
                      </a:r>
                      <a:endParaRPr lang="en-US" sz="160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25170">
                <a:tc>
                  <a:txBody>
                    <a:bodyPr/>
                    <a:lstStyle/>
                    <a:p>
                      <a:pPr>
                        <a:buNone/>
                      </a:pPr>
                      <a:r>
                        <a:rPr lang="en-US" sz="1400" b="1">
                          <a:effectLst/>
                          <a:latin typeface="Times New Roman" panose="02020603050405020304" pitchFamily="18" charset="0"/>
                          <a:ea typeface="+mn-ea"/>
                          <a:cs typeface="Times New Roman" panose="02020603050405020304" pitchFamily="18" charset="0"/>
                        </a:rPr>
                        <a:t>Duration </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Capital receipts have a long-term impact on an organization’s finances.</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Revenue receipts have a short-term impact.</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87375">
                <a:tc>
                  <a:txBody>
                    <a:bodyPr/>
                    <a:lstStyle/>
                    <a:p>
                      <a:pPr>
                        <a:buNone/>
                      </a:pPr>
                      <a:r>
                        <a:rPr lang="en-US" sz="1400" b="1">
                          <a:effectLst/>
                          <a:latin typeface="Times New Roman" panose="02020603050405020304" pitchFamily="18" charset="0"/>
                          <a:ea typeface="+mn-ea"/>
                          <a:cs typeface="Times New Roman" panose="02020603050405020304" pitchFamily="18" charset="0"/>
                        </a:rPr>
                        <a:t>Nature </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effectLst/>
                          <a:latin typeface="Times New Roman" panose="02020603050405020304" pitchFamily="18" charset="0"/>
                          <a:ea typeface="+mn-ea"/>
                          <a:cs typeface="Times New Roman" panose="02020603050405020304" pitchFamily="18" charset="0"/>
                        </a:rPr>
                        <a:t>Capital receipts are considered capital in nature.</a:t>
                      </a:r>
                      <a:endParaRPr lang="en-US" sz="160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Revenue receipts are considered revenue in nature.</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86740">
                <a:tc>
                  <a:txBody>
                    <a:bodyPr/>
                    <a:lstStyle/>
                    <a:p>
                      <a:pPr>
                        <a:buNone/>
                      </a:pPr>
                      <a:r>
                        <a:rPr lang="en-US" sz="1400" b="1">
                          <a:effectLst/>
                          <a:latin typeface="Times New Roman" panose="02020603050405020304" pitchFamily="18" charset="0"/>
                          <a:ea typeface="+mn-ea"/>
                          <a:cs typeface="Times New Roman" panose="02020603050405020304" pitchFamily="18" charset="0"/>
                        </a:rPr>
                        <a:t>Treatment </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Capital receipts are shown on an </a:t>
                      </a:r>
                      <a:r>
                        <a:rPr lang="en-US" sz="1600" dirty="0" err="1">
                          <a:effectLst/>
                          <a:latin typeface="Times New Roman" panose="02020603050405020304" pitchFamily="18" charset="0"/>
                          <a:ea typeface="+mn-ea"/>
                          <a:cs typeface="Times New Roman" panose="02020603050405020304" pitchFamily="18" charset="0"/>
                        </a:rPr>
                        <a:t>organisation’s</a:t>
                      </a:r>
                      <a:r>
                        <a:rPr lang="en-US" sz="1600" dirty="0">
                          <a:effectLst/>
                          <a:latin typeface="Times New Roman" panose="02020603050405020304" pitchFamily="18" charset="0"/>
                          <a:ea typeface="+mn-ea"/>
                          <a:cs typeface="Times New Roman" panose="02020603050405020304" pitchFamily="18" charset="0"/>
                        </a:rPr>
                        <a:t> balance sheet.</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Revenue receipts are shown on the income statement.</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25805">
                <a:tc>
                  <a:txBody>
                    <a:bodyPr/>
                    <a:lstStyle/>
                    <a:p>
                      <a:pPr>
                        <a:buNone/>
                      </a:pPr>
                      <a:r>
                        <a:rPr lang="en-US" sz="1400" b="1">
                          <a:effectLst/>
                          <a:latin typeface="Times New Roman" panose="02020603050405020304" pitchFamily="18" charset="0"/>
                          <a:ea typeface="+mn-ea"/>
                          <a:cs typeface="Times New Roman" panose="02020603050405020304" pitchFamily="18" charset="0"/>
                        </a:rPr>
                        <a:t>Effect </a:t>
                      </a:r>
                      <a:endParaRPr lang="en-US" sz="1400" b="1">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effectLst/>
                          <a:latin typeface="Times New Roman" panose="02020603050405020304" pitchFamily="18" charset="0"/>
                          <a:ea typeface="+mn-ea"/>
                          <a:cs typeface="Times New Roman" panose="02020603050405020304" pitchFamily="18" charset="0"/>
                        </a:rPr>
                        <a:t>Capital receipts increase an organisation’s capital base.</a:t>
                      </a:r>
                      <a:endParaRPr lang="en-US" sz="160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effectLst/>
                          <a:latin typeface="Times New Roman" panose="02020603050405020304" pitchFamily="18" charset="0"/>
                          <a:ea typeface="+mn-ea"/>
                          <a:cs typeface="Times New Roman" panose="02020603050405020304" pitchFamily="18" charset="0"/>
                        </a:rPr>
                        <a:t>Revenue receipts increase the revenue base of an organization.</a:t>
                      </a:r>
                      <a:endParaRPr lang="en-US" sz="1600" dirty="0">
                        <a:effectLst/>
                        <a:latin typeface="Times New Roman" panose="02020603050405020304" pitchFamily="18" charset="0"/>
                        <a:ea typeface="+mn-ea"/>
                        <a:cs typeface="Times New Roman" panose="02020603050405020304" pitchFamily="18" charset="0"/>
                      </a:endParaRPr>
                    </a:p>
                  </a:txBody>
                  <a:tcPr marL="61544" marR="61544" marT="30772" marB="307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 name="任意多边形 38"/>
          <p:cNvSpPr/>
          <p:nvPr>
            <p:custDataLst>
              <p:tags r:id="rId1"/>
            </p:custDataLst>
          </p:nvPr>
        </p:nvSpPr>
        <p:spPr>
          <a:xfrm rot="10800000">
            <a:off x="4015323" y="3173882"/>
            <a:ext cx="309181" cy="618362"/>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lumMod val="91000"/>
                  <a:lumOff val="9000"/>
                  <a:alpha val="100000"/>
                </a:schemeClr>
              </a:gs>
              <a:gs pos="100000">
                <a:schemeClr val="accent1">
                  <a:lumMod val="40000"/>
                  <a:lumOff val="60000"/>
                  <a:alpha val="0"/>
                </a:schemeClr>
              </a:gs>
            </a:gsLst>
            <a:lin ang="17700000"/>
          </a:gradFill>
          <a:ln w="6350">
            <a:gradFill>
              <a:gsLst>
                <a:gs pos="0">
                  <a:schemeClr val="bg1"/>
                </a:gs>
                <a:gs pos="43000">
                  <a:schemeClr val="bg1">
                    <a:alpha val="0"/>
                  </a:schemeClr>
                </a:gs>
              </a:gsLst>
              <a:lin ang="1968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800" b="1">
              <a:solidFill>
                <a:schemeClr val="lt1"/>
              </a:solidFill>
              <a:latin typeface="Times New Roman" panose="02020603050405020304" pitchFamily="18" charset="0"/>
              <a:cs typeface="Times New Roman" panose="02020603050405020304" pitchFamily="18" charset="0"/>
              <a:sym typeface="+mn-lt"/>
            </a:endParaRPr>
          </a:p>
        </p:txBody>
      </p:sp>
      <p:sp>
        <p:nvSpPr>
          <p:cNvPr id="117" name="任意多边形 39"/>
          <p:cNvSpPr/>
          <p:nvPr>
            <p:custDataLst>
              <p:tags r:id="rId2"/>
            </p:custDataLst>
          </p:nvPr>
        </p:nvSpPr>
        <p:spPr>
          <a:xfrm rot="10800000" flipH="1">
            <a:off x="4322980" y="3173882"/>
            <a:ext cx="309181" cy="618362"/>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alpha val="100000"/>
                </a:schemeClr>
              </a:gs>
              <a:gs pos="100000">
                <a:schemeClr val="accent1">
                  <a:lumMod val="40000"/>
                  <a:lumOff val="60000"/>
                  <a:alpha val="0"/>
                </a:schemeClr>
              </a:gs>
            </a:gsLst>
            <a:lin ang="19200000"/>
          </a:gradFill>
          <a:ln w="6350">
            <a:gradFill>
              <a:gsLst>
                <a:gs pos="0">
                  <a:schemeClr val="bg1"/>
                </a:gs>
                <a:gs pos="54000">
                  <a:schemeClr val="bg1">
                    <a:alpha val="0"/>
                  </a:schemeClr>
                </a:gs>
              </a:gsLst>
              <a:lin ang="1812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800" b="1">
              <a:solidFill>
                <a:schemeClr val="lt1"/>
              </a:solidFill>
              <a:latin typeface="Times New Roman" panose="02020603050405020304" pitchFamily="18" charset="0"/>
              <a:cs typeface="Times New Roman" panose="02020603050405020304" pitchFamily="18" charset="0"/>
              <a:sym typeface="+mn-lt"/>
            </a:endParaRPr>
          </a:p>
        </p:txBody>
      </p:sp>
      <p:sp>
        <p:nvSpPr>
          <p:cNvPr id="118" name="流程图: 决策 40"/>
          <p:cNvSpPr/>
          <p:nvPr>
            <p:custDataLst>
              <p:tags r:id="rId3"/>
            </p:custDataLst>
          </p:nvPr>
        </p:nvSpPr>
        <p:spPr>
          <a:xfrm>
            <a:off x="4015323" y="3093536"/>
            <a:ext cx="616838" cy="161201"/>
          </a:xfrm>
          <a:prstGeom prst="flowChartDecision">
            <a:avLst/>
          </a:prstGeom>
          <a:gradFill>
            <a:gsLst>
              <a:gs pos="9000">
                <a:schemeClr val="accent1">
                  <a:lumMod val="95000"/>
                  <a:alpha val="100000"/>
                </a:schemeClr>
              </a:gs>
              <a:gs pos="100000">
                <a:schemeClr val="accent1">
                  <a:lumMod val="60000"/>
                  <a:lumOff val="40000"/>
                  <a:alpha val="10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19" name="任意多边形 2"/>
          <p:cNvSpPr/>
          <p:nvPr>
            <p:custDataLst>
              <p:tags r:id="rId4"/>
            </p:custDataLst>
          </p:nvPr>
        </p:nvSpPr>
        <p:spPr>
          <a:xfrm rot="10800000">
            <a:off x="3231692" y="2181247"/>
            <a:ext cx="1095590" cy="2194111"/>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lumMod val="91000"/>
                  <a:lumOff val="9000"/>
                  <a:alpha val="100000"/>
                </a:schemeClr>
              </a:gs>
              <a:gs pos="100000">
                <a:schemeClr val="accent1">
                  <a:lumMod val="40000"/>
                  <a:lumOff val="60000"/>
                  <a:alpha val="0"/>
                </a:schemeClr>
              </a:gs>
            </a:gsLst>
            <a:lin ang="17700000"/>
          </a:gradFill>
          <a:ln w="15875">
            <a:gradFill>
              <a:gsLst>
                <a:gs pos="0">
                  <a:schemeClr val="bg1"/>
                </a:gs>
                <a:gs pos="43000">
                  <a:schemeClr val="bg1">
                    <a:alpha val="0"/>
                  </a:schemeClr>
                </a:gs>
              </a:gsLst>
              <a:lin ang="1968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800" b="1">
              <a:solidFill>
                <a:schemeClr val="lt1"/>
              </a:solidFill>
              <a:latin typeface="Times New Roman" panose="02020603050405020304" pitchFamily="18" charset="0"/>
              <a:cs typeface="Times New Roman" panose="02020603050405020304" pitchFamily="18" charset="0"/>
              <a:sym typeface="+mn-lt"/>
            </a:endParaRPr>
          </a:p>
        </p:txBody>
      </p:sp>
      <p:sp>
        <p:nvSpPr>
          <p:cNvPr id="120" name="任意多边形 3"/>
          <p:cNvSpPr/>
          <p:nvPr>
            <p:custDataLst>
              <p:tags r:id="rId5"/>
            </p:custDataLst>
          </p:nvPr>
        </p:nvSpPr>
        <p:spPr>
          <a:xfrm rot="10800000" flipH="1">
            <a:off x="4322980" y="2181247"/>
            <a:ext cx="1095590" cy="2194111"/>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alpha val="100000"/>
                </a:schemeClr>
              </a:gs>
              <a:gs pos="100000">
                <a:schemeClr val="accent1">
                  <a:lumMod val="40000"/>
                  <a:lumOff val="60000"/>
                  <a:alpha val="0"/>
                </a:schemeClr>
              </a:gs>
            </a:gsLst>
            <a:lin ang="19200000"/>
          </a:gradFill>
          <a:ln w="15875">
            <a:gradFill>
              <a:gsLst>
                <a:gs pos="0">
                  <a:schemeClr val="bg1"/>
                </a:gs>
                <a:gs pos="54000">
                  <a:schemeClr val="bg1">
                    <a:alpha val="0"/>
                  </a:schemeClr>
                </a:gs>
              </a:gsLst>
              <a:lin ang="1812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800" b="1">
              <a:solidFill>
                <a:schemeClr val="lt1"/>
              </a:solidFill>
              <a:latin typeface="Times New Roman" panose="02020603050405020304" pitchFamily="18" charset="0"/>
              <a:cs typeface="Times New Roman" panose="02020603050405020304" pitchFamily="18" charset="0"/>
              <a:sym typeface="+mn-lt"/>
            </a:endParaRPr>
          </a:p>
        </p:txBody>
      </p:sp>
      <p:sp>
        <p:nvSpPr>
          <p:cNvPr id="121" name="平行四边形 28"/>
          <p:cNvSpPr/>
          <p:nvPr>
            <p:custDataLst>
              <p:tags r:id="rId6"/>
            </p:custDataLst>
          </p:nvPr>
        </p:nvSpPr>
        <p:spPr>
          <a:xfrm>
            <a:off x="4467908" y="3879542"/>
            <a:ext cx="3187417" cy="425124"/>
          </a:xfrm>
          <a:prstGeom prst="parallelogram">
            <a:avLst>
              <a:gd name="adj" fmla="val 49621"/>
            </a:avLst>
          </a:prstGeom>
          <a:gradFill>
            <a:gsLst>
              <a:gs pos="100000">
                <a:schemeClr val="accent2">
                  <a:alpha val="20000"/>
                </a:schemeClr>
              </a:gs>
              <a:gs pos="0">
                <a:schemeClr val="accent2">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gn="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Issue of debentures</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22" name="平行四边形 29"/>
          <p:cNvSpPr/>
          <p:nvPr>
            <p:custDataLst>
              <p:tags r:id="rId7"/>
            </p:custDataLst>
          </p:nvPr>
        </p:nvSpPr>
        <p:spPr>
          <a:xfrm>
            <a:off x="7405641" y="3653419"/>
            <a:ext cx="353423" cy="425124"/>
          </a:xfrm>
          <a:prstGeom prst="parallelogram">
            <a:avLst>
              <a:gd name="adj" fmla="val 66328"/>
            </a:avLst>
          </a:prstGeom>
          <a:solidFill>
            <a:schemeClr val="accent2">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23" name="平行四边形 31"/>
          <p:cNvSpPr/>
          <p:nvPr>
            <p:custDataLst>
              <p:tags r:id="rId8"/>
            </p:custDataLst>
          </p:nvPr>
        </p:nvSpPr>
        <p:spPr>
          <a:xfrm>
            <a:off x="5072017" y="3054880"/>
            <a:ext cx="3377583" cy="737976"/>
          </a:xfrm>
          <a:prstGeom prst="parallelogram">
            <a:avLst>
              <a:gd name="adj" fmla="val 49621"/>
            </a:avLst>
          </a:prstGeom>
          <a:gradFill>
            <a:gsLst>
              <a:gs pos="100000">
                <a:schemeClr val="accent2">
                  <a:alpha val="20000"/>
                </a:schemeClr>
              </a:gs>
              <a:gs pos="0">
                <a:schemeClr val="accent2">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gn="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Proceeds from the sale of land or building</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24" name="平行四边形 32"/>
          <p:cNvSpPr/>
          <p:nvPr>
            <p:custDataLst>
              <p:tags r:id="rId9"/>
            </p:custDataLst>
          </p:nvPr>
        </p:nvSpPr>
        <p:spPr>
          <a:xfrm>
            <a:off x="7705669" y="3054379"/>
            <a:ext cx="353423" cy="425124"/>
          </a:xfrm>
          <a:prstGeom prst="parallelogram">
            <a:avLst>
              <a:gd name="adj" fmla="val 66328"/>
            </a:avLst>
          </a:prstGeom>
          <a:solidFill>
            <a:schemeClr val="accent2">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25" name="平行四边形 34"/>
          <p:cNvSpPr/>
          <p:nvPr>
            <p:custDataLst>
              <p:tags r:id="rId10"/>
            </p:custDataLst>
          </p:nvPr>
        </p:nvSpPr>
        <p:spPr>
          <a:xfrm>
            <a:off x="5095240" y="2212340"/>
            <a:ext cx="3659505" cy="806450"/>
          </a:xfrm>
          <a:prstGeom prst="parallelogram">
            <a:avLst>
              <a:gd name="adj" fmla="val 49621"/>
            </a:avLst>
          </a:prstGeom>
          <a:gradFill>
            <a:gsLst>
              <a:gs pos="100000">
                <a:schemeClr val="accent2">
                  <a:alpha val="20000"/>
                </a:schemeClr>
              </a:gs>
              <a:gs pos="0">
                <a:schemeClr val="accent2">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gn="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Loan received from a bank</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26" name="平行四边形 35"/>
          <p:cNvSpPr/>
          <p:nvPr>
            <p:custDataLst>
              <p:tags r:id="rId11"/>
            </p:custDataLst>
          </p:nvPr>
        </p:nvSpPr>
        <p:spPr>
          <a:xfrm>
            <a:off x="8004681" y="2455340"/>
            <a:ext cx="353423" cy="425124"/>
          </a:xfrm>
          <a:prstGeom prst="parallelogram">
            <a:avLst>
              <a:gd name="adj" fmla="val 66328"/>
            </a:avLst>
          </a:prstGeom>
          <a:solidFill>
            <a:schemeClr val="accent2">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27" name="椭圆 26"/>
          <p:cNvSpPr/>
          <p:nvPr>
            <p:custDataLst>
              <p:tags r:id="rId12"/>
            </p:custDataLst>
          </p:nvPr>
        </p:nvSpPr>
        <p:spPr>
          <a:xfrm>
            <a:off x="3834799" y="4392301"/>
            <a:ext cx="982556" cy="176194"/>
          </a:xfrm>
          <a:prstGeom prst="ellipse">
            <a:avLst/>
          </a:prstGeom>
          <a:solidFill>
            <a:schemeClr val="accent1">
              <a:lumMod val="60000"/>
              <a:lumOff val="40000"/>
              <a:alpha val="20000"/>
            </a:schemeClr>
          </a:solidFill>
          <a:ln>
            <a:noFill/>
          </a:ln>
          <a:effectLst>
            <a:softEdge rad="571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28" name="流程图: 决策 5"/>
          <p:cNvSpPr/>
          <p:nvPr>
            <p:custDataLst>
              <p:tags r:id="rId13"/>
            </p:custDataLst>
          </p:nvPr>
        </p:nvSpPr>
        <p:spPr>
          <a:xfrm>
            <a:off x="3231692" y="1895967"/>
            <a:ext cx="2186776" cy="571653"/>
          </a:xfrm>
          <a:prstGeom prst="flowChartDecision">
            <a:avLst/>
          </a:prstGeom>
          <a:gradFill>
            <a:gsLst>
              <a:gs pos="9000">
                <a:schemeClr val="accent1">
                  <a:lumMod val="95000"/>
                  <a:alpha val="100000"/>
                </a:schemeClr>
              </a:gs>
              <a:gs pos="100000">
                <a:schemeClr val="accent1">
                  <a:lumMod val="60000"/>
                  <a:lumOff val="40000"/>
                  <a:alpha val="10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en-US" sz="17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29" name="椭圆 15"/>
          <p:cNvSpPr/>
          <p:nvPr>
            <p:custDataLst>
              <p:tags r:id="rId14"/>
            </p:custDataLst>
          </p:nvPr>
        </p:nvSpPr>
        <p:spPr>
          <a:xfrm rot="720000">
            <a:off x="2934715" y="2700448"/>
            <a:ext cx="2753898" cy="808537"/>
          </a:xfrm>
          <a:prstGeom prst="ellipse">
            <a:avLst/>
          </a:prstGeom>
          <a:noFill/>
          <a:ln w="9525">
            <a:gradFill>
              <a:gsLst>
                <a:gs pos="81000">
                  <a:schemeClr val="accent1">
                    <a:alpha val="0"/>
                  </a:schemeClr>
                </a:gs>
                <a:gs pos="0">
                  <a:schemeClr val="accent1">
                    <a:lumMod val="60000"/>
                    <a:lumOff val="40000"/>
                    <a:alpha val="100000"/>
                  </a:schemeClr>
                </a:gs>
              </a:gsLst>
              <a:lin ang="16140000" scaled="0"/>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30" name="椭圆 20"/>
          <p:cNvSpPr/>
          <p:nvPr>
            <p:custDataLst>
              <p:tags r:id="rId15"/>
            </p:custDataLst>
          </p:nvPr>
        </p:nvSpPr>
        <p:spPr>
          <a:xfrm rot="20640000" flipV="1">
            <a:off x="2967260" y="2699432"/>
            <a:ext cx="2753898" cy="808537"/>
          </a:xfrm>
          <a:prstGeom prst="ellipse">
            <a:avLst/>
          </a:prstGeom>
          <a:noFill/>
          <a:ln w="9525">
            <a:gradFill>
              <a:gsLst>
                <a:gs pos="19000">
                  <a:schemeClr val="accent1">
                    <a:alpha val="0"/>
                  </a:schemeClr>
                </a:gs>
                <a:gs pos="100000">
                  <a:schemeClr val="accent1">
                    <a:lumMod val="60000"/>
                    <a:lumOff val="40000"/>
                    <a:alpha val="100000"/>
                  </a:schemeClr>
                </a:gs>
              </a:gsLst>
              <a:lin ang="16200000" scaled="0"/>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sz="1800" b="1">
              <a:solidFill>
                <a:schemeClr val="lt1"/>
              </a:solidFill>
              <a:latin typeface="Times New Roman" panose="02020603050405020304" pitchFamily="18" charset="0"/>
              <a:cs typeface="Times New Roman" panose="02020603050405020304" pitchFamily="18" charset="0"/>
              <a:sym typeface="+mn-lt"/>
            </a:endParaRPr>
          </a:p>
        </p:txBody>
      </p:sp>
      <p:sp>
        <p:nvSpPr>
          <p:cNvPr id="131" name="椭圆 25"/>
          <p:cNvSpPr/>
          <p:nvPr>
            <p:custDataLst>
              <p:tags r:id="rId16"/>
            </p:custDataLst>
          </p:nvPr>
        </p:nvSpPr>
        <p:spPr>
          <a:xfrm>
            <a:off x="4131267" y="4427899"/>
            <a:ext cx="389499" cy="103759"/>
          </a:xfrm>
          <a:prstGeom prst="ellipse">
            <a:avLst/>
          </a:prstGeom>
          <a:solidFill>
            <a:schemeClr val="accent1">
              <a:lumMod val="50000"/>
              <a:lumOff val="50000"/>
              <a:alpha val="50000"/>
            </a:schemeClr>
          </a:solidFill>
          <a:ln>
            <a:noFill/>
          </a:ln>
          <a:effectLst>
            <a:softEdge rad="444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32" name="平行四边形 21"/>
          <p:cNvSpPr/>
          <p:nvPr>
            <p:custDataLst>
              <p:tags r:id="rId17"/>
            </p:custDataLst>
          </p:nvPr>
        </p:nvSpPr>
        <p:spPr>
          <a:xfrm flipH="1">
            <a:off x="995719" y="3879721"/>
            <a:ext cx="3187417" cy="425124"/>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Issue of shares</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33" name="平行四边形 22"/>
          <p:cNvSpPr/>
          <p:nvPr>
            <p:custDataLst>
              <p:tags r:id="rId18"/>
            </p:custDataLst>
          </p:nvPr>
        </p:nvSpPr>
        <p:spPr>
          <a:xfrm flipH="1">
            <a:off x="891980" y="3657486"/>
            <a:ext cx="353423" cy="425124"/>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34" name="平行四边形 17"/>
          <p:cNvSpPr/>
          <p:nvPr>
            <p:custDataLst>
              <p:tags r:id="rId19"/>
            </p:custDataLst>
          </p:nvPr>
        </p:nvSpPr>
        <p:spPr>
          <a:xfrm flipH="1">
            <a:off x="280035" y="3093755"/>
            <a:ext cx="3603058" cy="663465"/>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Proceeds from the sale of machinery</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35" name="平行四边形 18"/>
          <p:cNvSpPr/>
          <p:nvPr>
            <p:custDataLst>
              <p:tags r:id="rId20"/>
            </p:custDataLst>
          </p:nvPr>
        </p:nvSpPr>
        <p:spPr>
          <a:xfrm flipH="1">
            <a:off x="591953" y="3058447"/>
            <a:ext cx="353423" cy="425124"/>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36" name="平行四边形 57"/>
          <p:cNvSpPr/>
          <p:nvPr>
            <p:custDataLst>
              <p:tags r:id="rId21"/>
            </p:custDataLst>
          </p:nvPr>
        </p:nvSpPr>
        <p:spPr>
          <a:xfrm flipH="1">
            <a:off x="397308" y="2217125"/>
            <a:ext cx="3187096" cy="667353"/>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65149" numCol="1" spcCol="0" rtlCol="0" fromWordArt="0" anchor="ctr" anchorCtr="0" forceAA="0" compatLnSpc="1">
            <a:noAutofit/>
          </a:bodyPr>
          <a:p>
            <a:pPr>
              <a:lnSpc>
                <a:spcPct val="130000"/>
              </a:lnSpc>
              <a:spcBef>
                <a:spcPct val="0"/>
              </a:spcBef>
              <a:spcAft>
                <a:spcPct val="0"/>
              </a:spcAft>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rPr>
              <a:t>Capital introduced by the owner</a:t>
            </a: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sym typeface="+mn-ea"/>
            </a:endParaRPr>
          </a:p>
        </p:txBody>
      </p:sp>
      <p:sp>
        <p:nvSpPr>
          <p:cNvPr id="137" name="平行四边形 58"/>
          <p:cNvSpPr/>
          <p:nvPr>
            <p:custDataLst>
              <p:tags r:id="rId22"/>
            </p:custDataLst>
          </p:nvPr>
        </p:nvSpPr>
        <p:spPr>
          <a:xfrm flipH="1">
            <a:off x="292942" y="2459409"/>
            <a:ext cx="353423" cy="425124"/>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b="1">
              <a:solidFill>
                <a:schemeClr val="lt1"/>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38" name="矩形 1"/>
          <p:cNvSpPr/>
          <p:nvPr>
            <p:custDataLst>
              <p:tags r:id="rId23"/>
            </p:custDataLst>
          </p:nvPr>
        </p:nvSpPr>
        <p:spPr>
          <a:xfrm>
            <a:off x="3121792" y="925830"/>
            <a:ext cx="2397935" cy="1013340"/>
          </a:xfrm>
          <a:prstGeom prst="rect">
            <a:avLst/>
          </a:prstGeom>
          <a:noFill/>
          <a:effectLst>
            <a:reflection blurRad="6350" stA="50000" endA="300" endPos="55500" dist="101600" dir="5400000" sy="-100000" algn="bl" rotWithShape="0"/>
          </a:effectLst>
        </p:spPr>
        <p:txBody>
          <a:bodyPr wrap="square" lIns="522926" tIns="41511" rIns="522926" bIns="41511" rtlCol="0" anchor="b" anchorCtr="0"/>
          <a:p>
            <a:pPr algn="ctr">
              <a:spcBef>
                <a:spcPct val="0"/>
              </a:spcBef>
              <a:spcAft>
                <a:spcPct val="0"/>
              </a:spcAft>
            </a:pPr>
            <a:r>
              <a:rPr lang="en-US" sz="1800" b="1">
                <a:solidFill>
                  <a:schemeClr val="tx1"/>
                </a:solidFill>
                <a:latin typeface="Times New Roman" panose="02020603050405020304" pitchFamily="18" charset="0"/>
                <a:cs typeface="Times New Roman" panose="02020603050405020304" pitchFamily="18" charset="0"/>
              </a:rPr>
              <a:t>Examples of Capital Receipts</a:t>
            </a:r>
            <a:endParaRPr lang="en-US" sz="1800"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5125" y="883285"/>
            <a:ext cx="7682865" cy="4836795"/>
          </a:xfrm>
          <a:prstGeom prst="rect">
            <a:avLst/>
          </a:prstGeom>
        </p:spPr>
        <p:txBody>
          <a:bodyPr>
            <a:noAutofit/>
          </a:bodyPr>
          <a:p>
            <a:pPr>
              <a:spcAft>
                <a:spcPct val="60000"/>
              </a:spcAft>
            </a:pPr>
            <a:r>
              <a:rPr lang="en-US" altLang="zh-CN" sz="2400" b="1">
                <a:latin typeface="Times New Roman" panose="02020603050405020304" pitchFamily="18" charset="0"/>
                <a:cs typeface="Times New Roman" panose="02020603050405020304" pitchFamily="18" charset="0"/>
              </a:rPr>
              <a:t>Examples of Revenue Receipts</a:t>
            </a:r>
            <a:endParaRPr lang="en-US" altLang="zh-CN" sz="2400" b="1">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Sales of goods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Fees received (for service businesses)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Commission received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Rent received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Interest received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Dividend received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Discount received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Income from repairs or maintenance services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Subscription received (for clubs and associations) </a:t>
            </a:r>
            <a:endParaRPr lang="en-US" altLang="zh-CN" sz="2400">
              <a:latin typeface="Times New Roman" panose="02020603050405020304" pitchFamily="18" charset="0"/>
              <a:cs typeface="Times New Roman" panose="02020603050405020304" pitchFamily="18" charset="0"/>
            </a:endParaRPr>
          </a:p>
          <a:p>
            <a:pPr>
              <a:buFont typeface="Arial" panose="020B0604020202020204"/>
              <a:buChar char="•"/>
            </a:pPr>
            <a:r>
              <a:rPr lang="en-US" altLang="zh-CN" sz="2400">
                <a:latin typeface="Times New Roman" panose="02020603050405020304" pitchFamily="18" charset="0"/>
                <a:cs typeface="Times New Roman" panose="02020603050405020304" pitchFamily="18" charset="0"/>
              </a:rPr>
              <a:t> Royalties received</a:t>
            </a:r>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a:spLocks noGrp="1"/>
          </p:cNvSpPr>
          <p:nvPr>
            <p:custDataLst>
              <p:tags r:id="rId1"/>
            </p:custDataLst>
          </p:nvPr>
        </p:nvSpPr>
        <p:spPr>
          <a:xfrm>
            <a:off x="457200" y="2174875"/>
            <a:ext cx="4040188" cy="3148012"/>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Owners (sahreholders,Partners and Proprietors)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Management</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Employees</a:t>
            </a:r>
            <a:endParaRPr lang="en-US" sz="2800" dirty="0">
              <a:solidFill>
                <a:schemeClr val="tx1"/>
              </a:solidFill>
              <a:latin typeface="+mn-lt"/>
              <a:ea typeface="+mn-ea"/>
              <a:cs typeface="Times New Roman" panose="02020603050405020304" pitchFamily="18" charset="0"/>
            </a:endParaRPr>
          </a:p>
          <a:p>
            <a:pPr marL="76200" indent="0">
              <a:buNone/>
            </a:pPr>
            <a:endParaRPr lang="en-US" sz="2800" dirty="0">
              <a:solidFill>
                <a:schemeClr val="tx1"/>
              </a:solidFill>
              <a:latin typeface="+mn-lt"/>
              <a:ea typeface="+mn-ea"/>
              <a:cs typeface="Times New Roman" panose="02020603050405020304" pitchFamily="18" charset="0"/>
            </a:endParaRPr>
          </a:p>
        </p:txBody>
      </p:sp>
      <p:sp>
        <p:nvSpPr>
          <p:cNvPr id="15" name="Text Placeholder 4"/>
          <p:cNvSpPr>
            <a:spLocks noGrp="1"/>
          </p:cNvSpPr>
          <p:nvPr>
            <p:custDataLst>
              <p:tags r:id="rId2"/>
            </p:custDataLst>
          </p:nvPr>
        </p:nvSpPr>
        <p:spPr>
          <a:xfrm>
            <a:off x="4645025" y="1535113"/>
            <a:ext cx="4041775" cy="639762"/>
          </a:xfrm>
          <a:prstGeom prst="rect">
            <a:avLst/>
          </a:prstGeom>
          <a:noFill/>
          <a:ln>
            <a:noFill/>
          </a:ln>
        </p:spPr>
        <p:txBody>
          <a:bodyPr wrap="square" lIns="91425" tIns="45700" rIns="91425" bIns="45700" anchor="b" anchorCtr="0">
            <a:normAutofit/>
          </a:bodyPr>
          <a:lstStyle>
            <a:defPPr marR="0" lvl="0" algn="l" rtl="0">
              <a:lnSpc>
                <a:spcPct val="100000"/>
              </a:lnSpc>
              <a:spcBef>
                <a:spcPts val="0"/>
              </a:spcBef>
              <a:spcAft>
                <a:spcPts val="0"/>
              </a:spcAft>
            </a:defPPr>
            <a:lvl1pPr marL="457200" marR="0" lvl="0" indent="-228600" algn="l" rtl="0">
              <a:lnSpc>
                <a:spcPct val="100000"/>
              </a:lnSpc>
              <a:spcBef>
                <a:spcPts val="480"/>
              </a:spcBef>
              <a:spcAft>
                <a:spcPts val="0"/>
              </a:spcAft>
              <a:buClr>
                <a:schemeClr val="dk1"/>
              </a:buClr>
              <a:buSzPts val="2400"/>
              <a:buFont typeface="Arial" panose="020B0604020202020204"/>
              <a:buNone/>
              <a:defRPr sz="24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4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36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sz="2800" dirty="0">
                <a:solidFill>
                  <a:schemeClr val="accent1"/>
                </a:solidFill>
                <a:latin typeface="Times New Roman" panose="02020603050405020304" pitchFamily="18" charset="0"/>
                <a:ea typeface="+mn-ea"/>
                <a:cs typeface="Times New Roman" panose="02020603050405020304" pitchFamily="18" charset="0"/>
              </a:rPr>
              <a:t>External Users</a:t>
            </a:r>
            <a:endParaRPr lang="en-US" sz="2800" dirty="0">
              <a:solidFill>
                <a:schemeClr val="accent1"/>
              </a:solidFill>
              <a:latin typeface="Times New Roman" panose="02020603050405020304" pitchFamily="18" charset="0"/>
              <a:ea typeface="+mn-ea"/>
              <a:cs typeface="Times New Roman" panose="02020603050405020304" pitchFamily="18" charset="0"/>
            </a:endParaRPr>
          </a:p>
        </p:txBody>
      </p:sp>
      <p:sp>
        <p:nvSpPr>
          <p:cNvPr id="14" name="Text Placeholder 5"/>
          <p:cNvSpPr>
            <a:spLocks noGrp="1"/>
          </p:cNvSpPr>
          <p:nvPr>
            <p:custDataLst>
              <p:tags r:id="rId3"/>
            </p:custDataLst>
          </p:nvPr>
        </p:nvSpPr>
        <p:spPr>
          <a:xfrm>
            <a:off x="4645025" y="2174875"/>
            <a:ext cx="4041775" cy="3148012"/>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Creditors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Prospective Investors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Government Agencies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Customers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Researchers</a:t>
            </a:r>
            <a:endParaRPr lang="en-US" dirty="0">
              <a:solidFill>
                <a:schemeClr val="tx1"/>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ü"/>
            </a:pPr>
            <a:r>
              <a:rPr lang="en-US" dirty="0">
                <a:solidFill>
                  <a:schemeClr val="tx1"/>
                </a:solidFill>
                <a:latin typeface="Times New Roman" panose="02020603050405020304" pitchFamily="18" charset="0"/>
                <a:ea typeface="+mn-ea"/>
                <a:cs typeface="Times New Roman" panose="02020603050405020304" pitchFamily="18" charset="0"/>
              </a:rPr>
              <a:t>Foreigners</a:t>
            </a:r>
            <a:endParaRPr lang="en-US" dirty="0">
              <a:solidFill>
                <a:schemeClr val="tx1"/>
              </a:solidFill>
              <a:latin typeface="Times New Roman" panose="02020603050405020304" pitchFamily="18" charset="0"/>
              <a:ea typeface="+mn-ea"/>
              <a:cs typeface="Times New Roman" panose="02020603050405020304" pitchFamily="18" charset="0"/>
            </a:endParaRPr>
          </a:p>
          <a:p>
            <a:pPr marL="76200" indent="0">
              <a:buNone/>
            </a:pPr>
            <a:endParaRPr lang="en-US" dirty="0">
              <a:solidFill>
                <a:schemeClr val="tx1"/>
              </a:solidFill>
              <a:latin typeface="Times New Roman" panose="02020603050405020304" pitchFamily="18" charset="0"/>
              <a:ea typeface="+mn-ea"/>
              <a:cs typeface="Times New Roman" panose="02020603050405020304" pitchFamily="18" charset="0"/>
            </a:endParaRPr>
          </a:p>
        </p:txBody>
      </p:sp>
      <p:sp>
        <p:nvSpPr>
          <p:cNvPr id="13" name="Text Placeholder 4"/>
          <p:cNvSpPr>
            <a:spLocks noGrp="1"/>
          </p:cNvSpPr>
          <p:nvPr>
            <p:custDataLst>
              <p:tags r:id="rId4"/>
            </p:custDataLst>
          </p:nvPr>
        </p:nvSpPr>
        <p:spPr>
          <a:xfrm>
            <a:off x="457200" y="1535113"/>
            <a:ext cx="4040188" cy="639762"/>
          </a:xfrm>
          <a:prstGeom prst="rect">
            <a:avLst/>
          </a:prstGeom>
          <a:noFill/>
          <a:ln>
            <a:noFill/>
          </a:ln>
        </p:spPr>
        <p:txBody>
          <a:bodyPr wrap="square" lIns="91425" tIns="45700" rIns="91425" bIns="45700" anchor="b" anchorCtr="0">
            <a:normAutofit/>
          </a:bodyPr>
          <a:lstStyle>
            <a:defPPr marR="0" lvl="0" algn="l" rtl="0">
              <a:lnSpc>
                <a:spcPct val="100000"/>
              </a:lnSpc>
              <a:spcBef>
                <a:spcPts val="0"/>
              </a:spcBef>
              <a:spcAft>
                <a:spcPts val="0"/>
              </a:spcAft>
            </a:defPPr>
            <a:lvl1pPr marL="457200" marR="0" lvl="0" indent="-228600" algn="l" rtl="0">
              <a:lnSpc>
                <a:spcPct val="100000"/>
              </a:lnSpc>
              <a:spcBef>
                <a:spcPts val="480"/>
              </a:spcBef>
              <a:spcAft>
                <a:spcPts val="0"/>
              </a:spcAft>
              <a:buClr>
                <a:schemeClr val="dk1"/>
              </a:buClr>
              <a:buSzPts val="2400"/>
              <a:buFont typeface="Arial" panose="020B0604020202020204"/>
              <a:buNone/>
              <a:defRPr sz="24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4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36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32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sz="2800" dirty="0">
                <a:solidFill>
                  <a:schemeClr val="accent1"/>
                </a:solidFill>
                <a:latin typeface="Times New Roman" panose="02020603050405020304" pitchFamily="18" charset="0"/>
                <a:ea typeface="+mn-ea"/>
                <a:cs typeface="Times New Roman" panose="02020603050405020304" pitchFamily="18" charset="0"/>
              </a:rPr>
              <a:t>Internal Users</a:t>
            </a:r>
            <a:endParaRPr lang="en-US" sz="2800" dirty="0">
              <a:solidFill>
                <a:schemeClr val="accent1"/>
              </a:solidFill>
              <a:latin typeface="Times New Roman" panose="02020603050405020304" pitchFamily="18" charset="0"/>
              <a:ea typeface="+mn-ea"/>
              <a:cs typeface="Times New Roman" panose="02020603050405020304" pitchFamily="18" charset="0"/>
            </a:endParaRPr>
          </a:p>
        </p:txBody>
      </p:sp>
      <p:sp>
        <p:nvSpPr>
          <p:cNvPr id="18" name="Title 17"/>
          <p:cNvSpPr>
            <a:spLocks noGrp="1"/>
          </p:cNvSpPr>
          <p:nvPr>
            <p:ph type="title"/>
            <p:custDataLst>
              <p:tags r:id="rId5"/>
            </p:custDataLst>
          </p:nvPr>
        </p:nvSpPr>
        <p:spPr/>
        <p:txBody>
          <a:bodyPr vert="horz" wrap="square" lIns="0" tIns="0" rIns="0" bIns="0" rtlCol="0" anchor="b">
            <a:normAutofit/>
          </a:bodyPr>
          <a:lstStyle/>
          <a:p>
            <a:pPr lvl="0" algn="l">
              <a:buClrTx/>
              <a:buSzTx/>
              <a:buFontTx/>
            </a:pPr>
            <a:r>
              <a:rPr sz="2800">
                <a:solidFill>
                  <a:schemeClr val="tx1"/>
                </a:solidFill>
                <a:latin typeface="Times New Roman" panose="02020603050405020304" pitchFamily="18" charset="0"/>
                <a:cs typeface="Times New Roman" panose="02020603050405020304" pitchFamily="18" charset="0"/>
                <a:sym typeface="+mn-ea"/>
              </a:rPr>
              <a:t>Users of Accounting Information</a:t>
            </a:r>
            <a:endParaRPr sz="2800">
              <a:solidFill>
                <a:schemeClr val="tx1"/>
              </a:solidFill>
              <a:latin typeface="Times New Roman" panose="02020603050405020304" pitchFamily="18" charset="0"/>
              <a:cs typeface="Times New Roman" panose="02020603050405020304" pitchFamily="18" charset="0"/>
              <a:sym typeface="+mn-ea"/>
            </a:endParaRPr>
          </a:p>
        </p:txBody>
      </p:sp>
    </p:spTree>
    <p:custDataLst>
      <p:tags r:id="rId6"/>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custDataLst>
              <p:tags r:id="rId1"/>
            </p:custDataLst>
          </p:nvPr>
        </p:nvSpPr>
        <p:spPr>
          <a:xfrm>
            <a:off x="304801" y="-1"/>
            <a:ext cx="8229600" cy="6079067"/>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5400" indent="0" algn="ctr">
              <a:buNone/>
            </a:pPr>
            <a:r>
              <a:rPr lang="en-US" sz="2800" b="1" dirty="0">
                <a:solidFill>
                  <a:schemeClr val="tx1"/>
                </a:solidFill>
                <a:latin typeface="Times New Roman" panose="02020603050405020304" pitchFamily="18" charset="0"/>
                <a:ea typeface="+mn-ea"/>
                <a:cs typeface="Times New Roman" panose="02020603050405020304" pitchFamily="18" charset="0"/>
              </a:rPr>
              <a:t>Accounting Equation:</a:t>
            </a:r>
            <a:endParaRPr lang="en-US" sz="2800" b="1" dirty="0">
              <a:solidFill>
                <a:schemeClr val="tx1"/>
              </a:solidFill>
              <a:latin typeface="Times New Roman" panose="02020603050405020304" pitchFamily="18" charset="0"/>
              <a:ea typeface="+mn-ea"/>
              <a:cs typeface="Times New Roman" panose="02020603050405020304" pitchFamily="18" charset="0"/>
            </a:endParaRPr>
          </a:p>
          <a:p>
            <a:pPr marL="25400" indent="0" algn="just">
              <a:buNone/>
            </a:pPr>
            <a:r>
              <a:rPr lang="en-US" sz="2800" dirty="0">
                <a:solidFill>
                  <a:schemeClr val="tx1"/>
                </a:solidFill>
                <a:latin typeface="Times New Roman" panose="02020603050405020304" pitchFamily="18" charset="0"/>
                <a:ea typeface="+mn-ea"/>
                <a:cs typeface="Times New Roman" panose="02020603050405020304" pitchFamily="18" charset="0"/>
              </a:rPr>
              <a:t>The accounting equation is a fundamental concept that states that a company’s total assets are equal to the sum of its liabilities and its shareholders’ equity. This straightforward relationship between assets, liabilities, and equity is the foundation of the double-entry accounting system. </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algn="just"/>
            <a:r>
              <a:rPr lang="en-US" sz="2800" dirty="0">
                <a:solidFill>
                  <a:schemeClr val="tx1"/>
                </a:solidFill>
                <a:latin typeface="Times New Roman" panose="02020603050405020304" pitchFamily="18" charset="0"/>
                <a:ea typeface="+mn-ea"/>
                <a:cs typeface="Times New Roman" panose="02020603050405020304" pitchFamily="18" charset="0"/>
              </a:rPr>
              <a:t>The accounting equation ensures that the balance sheet remains balanced. Each entry made on the debit side has a corresponding entry or coverage on the credit side. </a:t>
            </a:r>
            <a:endParaRPr lang="en-US" sz="2800" dirty="0">
              <a:solidFill>
                <a:schemeClr val="tx1"/>
              </a:solidFill>
              <a:latin typeface="Times New Roman" panose="02020603050405020304" pitchFamily="18" charset="0"/>
              <a:ea typeface="+mn-ea"/>
              <a:cs typeface="Times New Roman" panose="02020603050405020304" pitchFamily="18" charset="0"/>
            </a:endParaRPr>
          </a:p>
          <a:p>
            <a:pPr algn="just"/>
            <a:r>
              <a:rPr lang="en-US" sz="2800" dirty="0">
                <a:solidFill>
                  <a:schemeClr val="tx1"/>
                </a:solidFill>
                <a:latin typeface="Times New Roman" panose="02020603050405020304" pitchFamily="18" charset="0"/>
                <a:ea typeface="+mn-ea"/>
                <a:cs typeface="Times New Roman" panose="02020603050405020304" pitchFamily="18" charset="0"/>
              </a:rPr>
              <a:t>The accounting equation is also known as the basic accounting equation or the balance sheet equation. </a:t>
            </a:r>
            <a:endParaRPr lang="en-US" sz="2800" dirty="0">
              <a:solidFill>
                <a:schemeClr val="tx1"/>
              </a:solidFill>
              <a:latin typeface="Times New Roman" panose="02020603050405020304" pitchFamily="18" charset="0"/>
              <a:ea typeface="+mn-ea"/>
              <a:cs typeface="Times New Roman" panose="02020603050405020304" pitchFamily="18" charset="0"/>
            </a:endParaRPr>
          </a:p>
          <a:p>
            <a:endParaRPr lang="en-US" sz="2800" dirty="0">
              <a:solidFill>
                <a:schemeClr val="tx1"/>
              </a:solidFill>
              <a:latin typeface="Times New Roman" panose="02020603050405020304" pitchFamily="18" charset="0"/>
              <a:ea typeface="+mn-ea"/>
              <a:cs typeface="Times New Roman" panose="02020603050405020304" pitchFamily="18" charset="0"/>
            </a:endParaRPr>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custDataLst>
              <p:tags r:id="rId1"/>
            </p:custDataLst>
          </p:nvPr>
        </p:nvGraphicFramePr>
        <p:xfrm>
          <a:off x="541867" y="795867"/>
          <a:ext cx="8026398" cy="5381097"/>
        </p:xfrm>
        <a:graphic>
          <a:graphicData uri="http://schemas.openxmlformats.org/drawingml/2006/table">
            <a:tbl>
              <a:tblPr/>
              <a:tblGrid>
                <a:gridCol w="1727200"/>
                <a:gridCol w="2556933"/>
                <a:gridCol w="863600"/>
                <a:gridCol w="1083733"/>
                <a:gridCol w="457199"/>
                <a:gridCol w="1337733"/>
              </a:tblGrid>
              <a:tr h="300619">
                <a:tc>
                  <a:txBody>
                    <a:bodyPr/>
                    <a:lstStyle/>
                    <a:p>
                      <a:pPr>
                        <a:buNone/>
                      </a:pPr>
                      <a:r>
                        <a:rPr lang="en-US" sz="1400" b="1" dirty="0">
                          <a:latin typeface="Times New Roman" panose="02020603050405020304" pitchFamily="18" charset="0"/>
                          <a:ea typeface="+mn-ea"/>
                          <a:cs typeface="Times New Roman" panose="02020603050405020304" pitchFamily="18" charset="0"/>
                        </a:rPr>
                        <a:t>Transaction</a:t>
                      </a:r>
                      <a:endParaRPr lang="en-US" sz="1400" b="1"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Assets</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Liabilities</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Capital</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31922">
                <a:tc>
                  <a:txBody>
                    <a:bodyPr/>
                    <a:lstStyle/>
                    <a:p>
                      <a:pPr>
                        <a:buNone/>
                      </a:pPr>
                      <a:r>
                        <a:rPr lang="en-US" sz="1400">
                          <a:latin typeface="Times New Roman" panose="02020603050405020304" pitchFamily="18" charset="0"/>
                          <a:ea typeface="+mn-ea"/>
                          <a:cs typeface="Times New Roman" panose="02020603050405020304" pitchFamily="18" charset="0"/>
                        </a:rPr>
                        <a:t>Owner started business with cash ₹1,00,000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ea typeface="+mn-ea"/>
                          <a:cs typeface="Times New Roman" panose="02020603050405020304" pitchFamily="18" charset="0"/>
                        </a:rPr>
                        <a:t>Cash ₹1,00,000</a:t>
                      </a:r>
                      <a:endParaRPr lang="en-US" sz="1400"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ea typeface="+mn-ea"/>
                          <a:cs typeface="Times New Roman" panose="02020603050405020304" pitchFamily="18" charset="0"/>
                        </a:rPr>
                        <a:t>=</a:t>
                      </a:r>
                      <a:endParaRPr lang="en-US" sz="1400"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₹1,00,000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31922">
                <a:tc>
                  <a:txBody>
                    <a:bodyPr/>
                    <a:lstStyle/>
                    <a:p>
                      <a:pPr>
                        <a:buNone/>
                      </a:pPr>
                      <a:r>
                        <a:rPr lang="en-US" sz="1400">
                          <a:latin typeface="Times New Roman" panose="02020603050405020304" pitchFamily="18" charset="0"/>
                          <a:ea typeface="+mn-ea"/>
                          <a:cs typeface="Times New Roman" panose="02020603050405020304" pitchFamily="18" charset="0"/>
                        </a:rPr>
                        <a:t>Purchased furniture ₹20,000 (cash)</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ea typeface="+mn-ea"/>
                          <a:cs typeface="Times New Roman" panose="02020603050405020304" pitchFamily="18" charset="0"/>
                        </a:rPr>
                        <a:t>Cash ₹80,000 + Furniture ₹20,000 = 1,00,000</a:t>
                      </a:r>
                      <a:endParaRPr lang="en-US" sz="1400"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ea typeface="+mn-ea"/>
                          <a:cs typeface="Times New Roman" panose="02020603050405020304" pitchFamily="18" charset="0"/>
                        </a:rPr>
                        <a:t>=</a:t>
                      </a:r>
                      <a:endParaRPr lang="en-US" sz="1400"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₹1,00,000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52790">
                <a:tc>
                  <a:txBody>
                    <a:bodyPr/>
                    <a:lstStyle/>
                    <a:p>
                      <a:pPr>
                        <a:buNone/>
                      </a:pPr>
                      <a:r>
                        <a:rPr lang="en-US" sz="1400">
                          <a:latin typeface="Times New Roman" panose="02020603050405020304" pitchFamily="18" charset="0"/>
                          <a:ea typeface="+mn-ea"/>
                          <a:cs typeface="Times New Roman" panose="02020603050405020304" pitchFamily="18" charset="0"/>
                        </a:rPr>
                        <a:t>Purchased goods on credit ₹30,000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Cash ₹80,000 + Furniture ₹20,000 + Stock ₹30,000 = 1,30,000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₹30,000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₹1,00,000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52790">
                <a:tc>
                  <a:txBody>
                    <a:bodyPr/>
                    <a:lstStyle/>
                    <a:p>
                      <a:pPr>
                        <a:buNone/>
                      </a:pPr>
                      <a:r>
                        <a:rPr lang="en-US" sz="1400">
                          <a:latin typeface="Times New Roman" panose="02020603050405020304" pitchFamily="18" charset="0"/>
                          <a:ea typeface="+mn-ea"/>
                          <a:cs typeface="Times New Roman" panose="02020603050405020304" pitchFamily="18" charset="0"/>
                        </a:rPr>
                        <a:t>Sold goods (Cost ₹10,000) for ₹15,000 (cash)</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Cash ₹95,000 + Furniture ₹20,000 + Stock ₹20,000 = 1,35,000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₹30,000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₹1,05,000</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11054">
                <a:tc>
                  <a:txBody>
                    <a:bodyPr/>
                    <a:lstStyle/>
                    <a:p>
                      <a:pPr>
                        <a:buNone/>
                      </a:pPr>
                      <a:r>
                        <a:rPr lang="en-US" sz="1400" b="1">
                          <a:latin typeface="Times New Roman" panose="02020603050405020304" pitchFamily="18" charset="0"/>
                          <a:ea typeface="+mn-ea"/>
                          <a:cs typeface="Times New Roman" panose="02020603050405020304" pitchFamily="18" charset="0"/>
                        </a:rPr>
                        <a:t>Final Position</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₹1,35,000</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latin typeface="Times New Roman" panose="02020603050405020304" pitchFamily="18" charset="0"/>
                          <a:ea typeface="+mn-ea"/>
                          <a:cs typeface="Times New Roman" panose="02020603050405020304" pitchFamily="18" charset="0"/>
                        </a:rPr>
                        <a:t>₹30,000</a:t>
                      </a:r>
                      <a:endParaRPr lang="en-US" sz="1400" b="1">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ea typeface="+mn-ea"/>
                          <a:cs typeface="Times New Roman" panose="02020603050405020304" pitchFamily="18" charset="0"/>
                        </a:rPr>
                        <a:t>+</a:t>
                      </a:r>
                      <a:endParaRPr lang="en-US" sz="140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latin typeface="Times New Roman" panose="02020603050405020304" pitchFamily="18" charset="0"/>
                          <a:ea typeface="+mn-ea"/>
                          <a:cs typeface="Times New Roman" panose="02020603050405020304" pitchFamily="18" charset="0"/>
                        </a:rPr>
                        <a:t>₹1,05,000</a:t>
                      </a:r>
                      <a:endParaRPr lang="en-US" sz="1400" b="1" dirty="0">
                        <a:latin typeface="Times New Roman" panose="02020603050405020304" pitchFamily="18" charset="0"/>
                        <a:ea typeface="+mn-ea"/>
                        <a:cs typeface="Times New Roman" panose="02020603050405020304" pitchFamily="18" charset="0"/>
                      </a:endParaRPr>
                    </a:p>
                  </a:txBody>
                  <a:tcPr marL="72927" marR="72927" marT="36464" marB="364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3270" y="799465"/>
            <a:ext cx="7617460" cy="4319270"/>
          </a:xfrm>
          <a:prstGeom prst="rect">
            <a:avLst/>
          </a:prstGeom>
        </p:spPr>
        <p:txBody>
          <a:bodyPr>
            <a:noAutofit/>
          </a:bodyPr>
          <a:p>
            <a:r>
              <a:rPr lang="en-US" altLang="zh-CN" sz="2800">
                <a:latin typeface="Times New Roman" panose="02020603050405020304" pitchFamily="18" charset="0"/>
                <a:cs typeface="Times New Roman" panose="02020603050405020304" pitchFamily="18" charset="0"/>
              </a:rPr>
              <a:t>Solve in form of Accounting Equation</a:t>
            </a:r>
            <a:endParaRPr lang="en-US" altLang="zh-CN" sz="2800">
              <a:latin typeface="Times New Roman" panose="02020603050405020304" pitchFamily="18" charset="0"/>
              <a:cs typeface="Times New Roman" panose="02020603050405020304" pitchFamily="18" charset="0"/>
            </a:endParaRPr>
          </a:p>
          <a:p>
            <a:endParaRPr lang="en-US" altLang="zh-CN"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CN" sz="2800">
                <a:latin typeface="Times New Roman" panose="02020603050405020304" pitchFamily="18" charset="0"/>
                <a:cs typeface="Times New Roman" panose="02020603050405020304" pitchFamily="18" charset="0"/>
              </a:rPr>
              <a:t>Mr. A started a business with cash of ₹2,00,000</a:t>
            </a:r>
            <a:endParaRPr lang="en-US" altLang="zh-CN"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Purchased furniture for ₹40,000 by cash.</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Purchased goods worth ₹50,000 on credit</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Paid Creditors ₹20,000</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Cost of goods ₹30,000 sold for ₹45,000 cash</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Bank loan received ₹1,00,000</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6.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20.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4.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1.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79"/>
</p:tagLst>
</file>

<file path=ppt/tags/tag76.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79"/>
</p:tagLst>
</file>

<file path=ppt/tags/tag77.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79"/>
</p:tagLst>
</file>

<file path=ppt/tags/tag7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9.xml><?xml version="1.0" encoding="utf-8"?>
<p:tagLst xmlns:p="http://schemas.openxmlformats.org/presentationml/2006/main">
  <p:tag name="KSO_WM_UNIT_INDEX" val="9"/>
  <p:tag name="KSO_WM_UNIT_TYPE" val="f"/>
  <p:tag name="KSO_WM_UNIT_SUBTYPE" val="a"/>
  <p:tag name="KSO_WM_BEAUTIFY_FLAG" val="#wm#"/>
</p:tagLst>
</file>

<file path=ppt/tags/tag80.xml><?xml version="1.0" encoding="utf-8"?>
<p:tagLst xmlns:p="http://schemas.openxmlformats.org/presentationml/2006/main">
  <p:tag name="KSO_WM_UNIT_INDEX" val="2"/>
  <p:tag name="KSO_WM_UNIT_TYPE" val="i"/>
  <p:tag name="KSO_WM_BEAUTIFY_FLAG" val="#wm#"/>
</p:tagLst>
</file>

<file path=ppt/tags/tag81.xml><?xml version="1.0" encoding="utf-8"?>
<p:tagLst xmlns:p="http://schemas.openxmlformats.org/presentationml/2006/main">
  <p:tag name="KSO_WM_UNIT_INDEX" val="3"/>
  <p:tag name="KSO_WM_UNIT_TYPE" val="i"/>
  <p:tag name="KSO_WM_UNIT_SUBTYPE" val="h"/>
  <p:tag name="KSO_WM_BEAUTIFY_FLAG" val="#wm#"/>
</p:tagLst>
</file>

<file path=ppt/tags/tag8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3.xml><?xml version="1.0" encoding="utf-8"?>
<p:tagLst xmlns:p="http://schemas.openxmlformats.org/presentationml/2006/main">
  <p:tag name="KSO_WM_SLIDE_TYPE" val="text"/>
  <p:tag name="KSO_WM_BEAUTIFY_FLAG" val="#wm#"/>
  <p:tag name="KSO_WM_SLIDE_THEME_ID" val="3302786"/>
  <p:tag name="KSO_WM_SLIDE_THEME_NAME" val="Blue Chinoiserie"/>
</p:tagLst>
</file>

<file path=ppt/tags/tag84.xml><?xml version="1.0" encoding="utf-8"?>
<p:tagLst xmlns:p="http://schemas.openxmlformats.org/presentationml/2006/main">
  <p:tag name="KSO_WM_UNIT_INDEX" val="3"/>
  <p:tag name="KSO_WM_UNIT_TYPE" val="i"/>
  <p:tag name="KSO_WM_BEAUTIFY_FLAG" val="#wm#"/>
</p:tagLst>
</file>

<file path=ppt/tags/tag85.xml><?xml version="1.0" encoding="utf-8"?>
<p:tagLst xmlns:p="http://schemas.openxmlformats.org/presentationml/2006/main">
  <p:tag name="KSO_WM_UNIT_INDEX" val="4"/>
  <p:tag name="KSO_WM_UNIT_TYPE" val="j"/>
  <p:tag name="KSO_WM_BEAUTIFY_FLAG" val="#wm#"/>
</p:tagLst>
</file>

<file path=ppt/tags/tag8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87.xml><?xml version="1.0" encoding="utf-8"?>
<p:tagLst xmlns:p="http://schemas.openxmlformats.org/presentationml/2006/main">
  <p:tag name="KSO_WM_SLIDE_TYPE" val="text"/>
  <p:tag name="KSO_WM_BEAUTIFY_FLAG" val="#wm#"/>
</p:tagLst>
</file>

<file path=ppt/tags/tag88.xml><?xml version="1.0" encoding="utf-8"?>
<p:tagLst xmlns:p="http://schemas.openxmlformats.org/presentationml/2006/main">
  <p:tag name="KSO_WM_UNIT_TEXT" val="101 Managerial Accounting"/>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89.xml><?xml version="1.0" encoding="utf-8"?>
<p:tagLst xmlns:p="http://schemas.openxmlformats.org/presentationml/2006/main">
  <p:tag name="KSO_WM_UNIT_INDEX" val="4"/>
  <p:tag name="KSO_WM_UNIT_TYPE" val="f"/>
  <p:tag name="KSO_WM_UNIT_SUBTYPE" val="a"/>
  <p:tag name="KSO_WM_BEAUTIFY_FLAG" val="#wm#"/>
</p:tagLst>
</file>

<file path=ppt/tags/tag90.xml><?xml version="1.0" encoding="utf-8"?>
<p:tagLst xmlns:p="http://schemas.openxmlformats.org/presentationml/2006/main">
  <p:tag name="KSO_WM_SLIDE_TYPE" val="text"/>
  <p:tag name="KSO_WM_BEAUTIFY_FLAG" val="#wm#"/>
</p:tagLst>
</file>

<file path=ppt/tags/tag91.xml><?xml version="1.0" encoding="utf-8"?>
<p:tagLst xmlns:p="http://schemas.openxmlformats.org/presentationml/2006/main">
  <p:tag name="KSO_WM_UNIT_TEXT" val="Sole Proprietorship"/>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2.xml><?xml version="1.0" encoding="utf-8"?>
<p:tagLst xmlns:p="http://schemas.openxmlformats.org/presentationml/2006/main">
  <p:tag name="KSO_WM_UNIT_INDEX" val="5"/>
  <p:tag name="KSO_WM_UNIT_TYPE" val="f"/>
  <p:tag name="KSO_WM_UNIT_SUBTYPE" val="a"/>
  <p:tag name="KSO_WM_BEAUTIFY_FLAG" val="#wm#"/>
</p:tagLst>
</file>

<file path=ppt/tags/tag93.xml><?xml version="1.0" encoding="utf-8"?>
<p:tagLst xmlns:p="http://schemas.openxmlformats.org/presentationml/2006/main">
  <p:tag name="KSO_WM_SLIDE_TYPE" val="text"/>
  <p:tag name="KSO_WM_BEAUTIFY_FLAG" val="#wm#"/>
</p:tagLst>
</file>

<file path=ppt/tags/tag94.xml><?xml version="1.0" encoding="utf-8"?>
<p:tagLst xmlns:p="http://schemas.openxmlformats.org/presentationml/2006/main">
  <p:tag name="KSO_WM_UNIT_TEXT" val="Joint Hindu Family Business "/>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5.xml><?xml version="1.0" encoding="utf-8"?>
<p:tagLst xmlns:p="http://schemas.openxmlformats.org/presentationml/2006/main">
  <p:tag name="KSO_WM_UNIT_INDEX" val="2"/>
  <p:tag name="KSO_WM_UNIT_TYPE" val="f"/>
  <p:tag name="KSO_WM_UNIT_SUBTYPE" val="a"/>
  <p:tag name="KSO_WM_BEAUTIFY_FLAG" val="#wm#"/>
</p:tagLst>
</file>

<file path=ppt/tags/tag96.xml><?xml version="1.0" encoding="utf-8"?>
<p:tagLst xmlns:p="http://schemas.openxmlformats.org/presentationml/2006/main">
  <p:tag name="KSO_WM_SLIDE_TYPE" val="text"/>
  <p:tag name="KSO_WM_BEAUTIFY_FLAG" val="#wm#"/>
</p:tagLst>
</file>

<file path=ppt/tags/tag97.xml><?xml version="1.0" encoding="utf-8"?>
<p:tagLst xmlns:p="http://schemas.openxmlformats.org/presentationml/2006/main">
  <p:tag name="KSO_WM_UNIT_TEXT" val="Partnership"/>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8.xml><?xml version="1.0" encoding="utf-8"?>
<p:tagLst xmlns:p="http://schemas.openxmlformats.org/presentationml/2006/main">
  <p:tag name="KSO_WM_UNIT_INDEX" val="3"/>
  <p:tag name="KSO_WM_UNIT_TYPE" val="f"/>
  <p:tag name="KSO_WM_UNIT_SUBTYPE" val="a"/>
  <p:tag name="KSO_WM_BEAUTIFY_FLAG" val="#wm#"/>
</p:tagLst>
</file>

<file path=ppt/tags/tag99.xml><?xml version="1.0" encoding="utf-8"?>
<p:tagLst xmlns:p="http://schemas.openxmlformats.org/presentationml/2006/main">
  <p:tag name="KSO_WM_SLIDE_TYPE" val="text"/>
  <p:tag name="KSO_WM_BEAUTIFY_FLAG" val="#wm#"/>
</p:tagLst>
</file>

<file path=ppt/tags/tag100.xml><?xml version="1.0" encoding="utf-8"?>
<p:tagLst xmlns:p="http://schemas.openxmlformats.org/presentationml/2006/main">
  <p:tag name="KSO_WM_UNIT_TEXT" val="Cooperative Society"/>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1.xml><?xml version="1.0" encoding="utf-8"?>
<p:tagLst xmlns:p="http://schemas.openxmlformats.org/presentationml/2006/main">
  <p:tag name="KSO_WM_UNIT_INDEX" val="5"/>
  <p:tag name="KSO_WM_UNIT_TYPE" val="f"/>
  <p:tag name="KSO_WM_UNIT_SUBTYPE" val="a"/>
  <p:tag name="KSO_WM_BEAUTIFY_FLAG" val="#wm#"/>
</p:tagLst>
</file>

<file path=ppt/tags/tag102.xml><?xml version="1.0" encoding="utf-8"?>
<p:tagLst xmlns:p="http://schemas.openxmlformats.org/presentationml/2006/main">
  <p:tag name="KSO_WM_SLIDE_TYPE" val="text"/>
  <p:tag name="KSO_WM_BEAUTIFY_FLAG" val="#wm#"/>
</p:tagLst>
</file>

<file path=ppt/tags/tag103.xml><?xml version="1.0" encoding="utf-8"?>
<p:tagLst xmlns:p="http://schemas.openxmlformats.org/presentationml/2006/main">
  <p:tag name="KSO_WM_UNIT_TEXT" val="Joint Stock Company "/>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4.xml><?xml version="1.0" encoding="utf-8"?>
<p:tagLst xmlns:p="http://schemas.openxmlformats.org/presentationml/2006/main">
  <p:tag name="KSO_WM_UNIT_INDEX" val="5"/>
  <p:tag name="KSO_WM_UNIT_TYPE" val="f"/>
  <p:tag name="KSO_WM_UNIT_SUBTYPE" val="a"/>
  <p:tag name="KSO_WM_BEAUTIFY_FLAG" val="#wm#"/>
</p:tagLst>
</file>

<file path=ppt/tags/tag105.xml><?xml version="1.0" encoding="utf-8"?>
<p:tagLst xmlns:p="http://schemas.openxmlformats.org/presentationml/2006/main">
  <p:tag name="KSO_WM_SLIDE_TYPE" val="text"/>
  <p:tag name="KSO_WM_BEAUTIFY_FLAG" val="#wm#"/>
</p:tagLst>
</file>

<file path=ppt/tags/tag106.xml><?xml version="1.0" encoding="utf-8"?>
<p:tagLst xmlns:p="http://schemas.openxmlformats.org/presentationml/2006/main">
  <p:tag name="KSO_WM_UNIT_TEXT" val="Importance of Accounting "/>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7.xml><?xml version="1.0" encoding="utf-8"?>
<p:tagLst xmlns:p="http://schemas.openxmlformats.org/presentationml/2006/main">
  <p:tag name="KSO_WM_UNIT_INDEX" val="5"/>
  <p:tag name="KSO_WM_UNIT_TYPE" val="f"/>
  <p:tag name="KSO_WM_UNIT_SUBTYPE" val="a"/>
  <p:tag name="KSO_WM_BEAUTIFY_FLAG" val="#wm#"/>
</p:tagLst>
</file>

<file path=ppt/tags/tag108.xml><?xml version="1.0" encoding="utf-8"?>
<p:tagLst xmlns:p="http://schemas.openxmlformats.org/presentationml/2006/main">
  <p:tag name="KSO_WM_SLIDE_TYPE" val="text"/>
  <p:tag name="KSO_WM_BEAUTIFY_FLAG" val="#wm#"/>
</p:tagLst>
</file>

<file path=ppt/tags/tag109.xml><?xml version="1.0" encoding="utf-8"?>
<p:tagLst xmlns:p="http://schemas.openxmlformats.org/presentationml/2006/main">
  <p:tag name="KSO_WM_UNIT_TEXT" val="1. Basic Terms"/>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10.xml><?xml version="1.0" encoding="utf-8"?>
<p:tagLst xmlns:p="http://schemas.openxmlformats.org/presentationml/2006/main">
  <p:tag name="KSO_WM_UNIT_INDEX" val="7"/>
  <p:tag name="KSO_WM_UNIT_TYPE" val="f"/>
  <p:tag name="KSO_WM_UNIT_SUBTYPE" val="a"/>
  <p:tag name="KSO_WM_BEAUTIFY_FLAG" val="#wm#"/>
</p:tagLst>
</file>

<file path=ppt/tags/tag111.xml><?xml version="1.0" encoding="utf-8"?>
<p:tagLst xmlns:p="http://schemas.openxmlformats.org/presentationml/2006/main">
  <p:tag name="KSO_WM_SLIDE_TYPE" val="text"/>
  <p:tag name="KSO_WM_BEAUTIFY_FLAG" val="#wm#"/>
</p:tagLst>
</file>

<file path=ppt/tags/tag112.xml><?xml version="1.0" encoding="utf-8"?>
<p:tagLst xmlns:p="http://schemas.openxmlformats.org/presentationml/2006/main">
  <p:tag name="KSO_WM_UNIT_INDEX" val="4"/>
  <p:tag name="KSO_WM_UNIT_TYPE" val="f"/>
  <p:tag name="KSO_WM_UNIT_SUBTYPE" val="a"/>
  <p:tag name="KSO_WM_BEAUTIFY_FLAG" val="#wm#"/>
</p:tagLst>
</file>

<file path=ppt/tags/tag113.xml><?xml version="1.0" encoding="utf-8"?>
<p:tagLst xmlns:p="http://schemas.openxmlformats.org/presentationml/2006/main">
  <p:tag name="KSO_WM_SLIDE_TYPE" val="text"/>
  <p:tag name="KSO_WM_BEAUTIFY_FLAG" val="#wm#"/>
</p:tagLst>
</file>

<file path=ppt/tags/tag114.xml><?xml version="1.0" encoding="utf-8"?>
<p:tagLst xmlns:p="http://schemas.openxmlformats.org/presentationml/2006/main">
  <p:tag name="KSO_WM_UNIT_INDEX" val="6"/>
  <p:tag name="KSO_WM_UNIT_TYPE" val="f"/>
  <p:tag name="KSO_WM_UNIT_SUBTYPE" val="a"/>
  <p:tag name="KSO_WM_BEAUTIFY_FLAG" val="#wm#"/>
</p:tagLst>
</file>

<file path=ppt/tags/tag115.xml><?xml version="1.0" encoding="utf-8"?>
<p:tagLst xmlns:p="http://schemas.openxmlformats.org/presentationml/2006/main">
  <p:tag name="KSO_WM_SLIDE_TYPE" val="text"/>
  <p:tag name="KSO_WM_BEAUTIFY_FLAG" val="#wm#"/>
</p:tagLst>
</file>

<file path=ppt/tags/tag116.xml><?xml version="1.0" encoding="utf-8"?>
<p:tagLst xmlns:p="http://schemas.openxmlformats.org/presentationml/2006/main">
  <p:tag name="KSO_WM_UNIT_INDEX" val="4"/>
  <p:tag name="KSO_WM_UNIT_TYPE" val="f"/>
  <p:tag name="KSO_WM_UNIT_SUBTYPE" val="a"/>
  <p:tag name="KSO_WM_BEAUTIFY_FLAG" val="#wm#"/>
</p:tagLst>
</file>

<file path=ppt/tags/tag117.xml><?xml version="1.0" encoding="utf-8"?>
<p:tagLst xmlns:p="http://schemas.openxmlformats.org/presentationml/2006/main">
  <p:tag name="KSO_WM_SLIDE_TYPE" val="text"/>
  <p:tag name="KSO_WM_BEAUTIFY_FLAG" val="#wm#"/>
</p:tagLst>
</file>

<file path=ppt/tags/tag118.xml><?xml version="1.0" encoding="utf-8"?>
<p:tagLst xmlns:p="http://schemas.openxmlformats.org/presentationml/2006/main">
  <p:tag name="KSO_WM_UNIT_INDEX" val="4"/>
  <p:tag name="KSO_WM_UNIT_TYPE" val="f"/>
  <p:tag name="KSO_WM_UNIT_SUBTYPE" val="a"/>
  <p:tag name="KSO_WM_BEAUTIFY_FLAG" val="#wm#"/>
</p:tagLst>
</file>

<file path=ppt/tags/tag119.xml><?xml version="1.0" encoding="utf-8"?>
<p:tagLst xmlns:p="http://schemas.openxmlformats.org/presentationml/2006/main">
  <p:tag name="KSO_WM_SLIDE_TYPE" val="text"/>
  <p:tag name="KSO_WM_BEAUTIFY_FLAG" val="#wm#"/>
</p:tagLst>
</file>

<file path=ppt/tags/tag120.xml><?xml version="1.0" encoding="utf-8"?>
<p:tagLst xmlns:p="http://schemas.openxmlformats.org/presentationml/2006/main">
  <p:tag name="KSO_WM_UNIT_INDEX" val="6"/>
  <p:tag name="KSO_WM_UNIT_TYPE" val="f"/>
  <p:tag name="KSO_WM_UNIT_SUBTYPE" val="a"/>
  <p:tag name="KSO_WM_BEAUTIFY_FLAG" val="#wm#"/>
</p:tagLst>
</file>

<file path=ppt/tags/tag121.xml><?xml version="1.0" encoding="utf-8"?>
<p:tagLst xmlns:p="http://schemas.openxmlformats.org/presentationml/2006/main">
  <p:tag name="KSO_WM_SLIDE_TYPE" val="text"/>
  <p:tag name="KSO_WM_BEAUTIFY_FLAG" val="#wm#"/>
</p:tagLst>
</file>

<file path=ppt/tags/tag122.xml><?xml version="1.0" encoding="utf-8"?>
<p:tagLst xmlns:p="http://schemas.openxmlformats.org/presentationml/2006/main">
  <p:tag name="KSO_WM_UNIT_INDEX" val="4"/>
  <p:tag name="KSO_WM_UNIT_TYPE" val="f"/>
  <p:tag name="KSO_WM_UNIT_SUBTYPE" val="a"/>
  <p:tag name="KSO_WM_BEAUTIFY_FLAG" val="#wm#"/>
</p:tagLst>
</file>

<file path=ppt/tags/tag123.xml><?xml version="1.0" encoding="utf-8"?>
<p:tagLst xmlns:p="http://schemas.openxmlformats.org/presentationml/2006/main">
  <p:tag name="KSO_WM_SLIDE_TYPE" val="text"/>
  <p:tag name="KSO_WM_BEAUTIFY_FLAG" val="#wm#"/>
</p:tagLst>
</file>

<file path=ppt/tags/tag124.xml><?xml version="1.0" encoding="utf-8"?>
<p:tagLst xmlns:p="http://schemas.openxmlformats.org/presentationml/2006/main">
  <p:tag name="KSO_WM_UNIT_INDEX" val="4"/>
  <p:tag name="KSO_WM_UNIT_TYPE" val="f"/>
  <p:tag name="KSO_WM_UNIT_SUBTYPE" val="a"/>
  <p:tag name="KSO_WM_BEAUTIFY_FLAG" val="#wm#"/>
</p:tagLst>
</file>

<file path=ppt/tags/tag125.xml><?xml version="1.0" encoding="utf-8"?>
<p:tagLst xmlns:p="http://schemas.openxmlformats.org/presentationml/2006/main">
  <p:tag name="KSO_WM_SLIDE_TYPE" val="text"/>
  <p:tag name="KSO_WM_BEAUTIFY_FLAG" val="#wm#"/>
</p:tagLst>
</file>

<file path=ppt/tags/tag126.xml><?xml version="1.0" encoding="utf-8"?>
<p:tagLst xmlns:p="http://schemas.openxmlformats.org/presentationml/2006/main">
  <p:tag name="KSO_WM_UNIT_INDEX" val="4"/>
  <p:tag name="KSO_WM_UNIT_TYPE" val="f"/>
  <p:tag name="KSO_WM_UNIT_SUBTYPE" val="a"/>
  <p:tag name="KSO_WM_BEAUTIFY_FLAG" val="#wm#"/>
</p:tagLst>
</file>

<file path=ppt/tags/tag127.xml><?xml version="1.0" encoding="utf-8"?>
<p:tagLst xmlns:p="http://schemas.openxmlformats.org/presentationml/2006/main">
  <p:tag name="KSO_WM_SLIDE_TYPE" val="text"/>
  <p:tag name="KSO_WM_BEAUTIFY_FLAG" val="#wm#"/>
</p:tagLst>
</file>

<file path=ppt/tags/tag128.xml><?xml version="1.0" encoding="utf-8"?>
<p:tagLst xmlns:p="http://schemas.openxmlformats.org/presentationml/2006/main">
  <p:tag name="KSO_WM_UNIT_INDEX" val="4"/>
  <p:tag name="KSO_WM_UNIT_TYPE" val="f"/>
  <p:tag name="KSO_WM_UNIT_SUBTYPE" val="a"/>
  <p:tag name="KSO_WM_BEAUTIFY_FLAG" val="#wm#"/>
</p:tagLst>
</file>

<file path=ppt/tags/tag129.xml><?xml version="1.0" encoding="utf-8"?>
<p:tagLst xmlns:p="http://schemas.openxmlformats.org/presentationml/2006/main">
  <p:tag name="KSO_WM_SLIDE_TYPE" val="text"/>
  <p:tag name="KSO_WM_BEAUTIFY_FLAG" val="#wm#"/>
</p:tagLst>
</file>

<file path=ppt/tags/tag130.xml><?xml version="1.0" encoding="utf-8"?>
<p:tagLst xmlns:p="http://schemas.openxmlformats.org/presentationml/2006/main">
  <p:tag name="KSO_WM_UNIT_INDEX" val="4"/>
  <p:tag name="KSO_WM_UNIT_TYPE" val="f"/>
  <p:tag name="KSO_WM_UNIT_SUBTYPE" val="a"/>
  <p:tag name="KSO_WM_BEAUTIFY_FLAG" val="#wm#"/>
</p:tagLst>
</file>

<file path=ppt/tags/tag131.xml><?xml version="1.0" encoding="utf-8"?>
<p:tagLst xmlns:p="http://schemas.openxmlformats.org/presentationml/2006/main">
  <p:tag name="KSO_WM_SLIDE_TYPE" val="text"/>
  <p:tag name="KSO_WM_BEAUTIFY_FLAG" val="#wm#"/>
</p:tagLst>
</file>

<file path=ppt/tags/tag132.xml><?xml version="1.0" encoding="utf-8"?>
<p:tagLst xmlns:p="http://schemas.openxmlformats.org/presentationml/2006/main">
  <p:tag name="KSO_WM_UNIT_TEXT" val="Basic Accounting Terms "/>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3.xml><?xml version="1.0" encoding="utf-8"?>
<p:tagLst xmlns:p="http://schemas.openxmlformats.org/presentationml/2006/main">
  <p:tag name="KSO_WM_UNIT_INDEX" val="3"/>
  <p:tag name="KSO_WM_UNIT_TYPE" val="f"/>
  <p:tag name="KSO_WM_UNIT_SUBTYPE" val="a"/>
  <p:tag name="KSO_WM_BEAUTIFY_FLAG" val="#wm#"/>
</p:tagLst>
</file>

<file path=ppt/tags/tag134.xml><?xml version="1.0" encoding="utf-8"?>
<p:tagLst xmlns:p="http://schemas.openxmlformats.org/presentationml/2006/main">
  <p:tag name="KSO_WM_SLIDE_TYPE" val="text"/>
  <p:tag name="KSO_WM_BEAUTIFY_FLAG" val="#wm#"/>
</p:tagLst>
</file>

<file path=ppt/tags/tag135.xml><?xml version="1.0" encoding="utf-8"?>
<p:tagLst xmlns:p="http://schemas.openxmlformats.org/presentationml/2006/main">
  <p:tag name="KSO_WM_UNIT_TEXT" val="Business Entity Concept &#10;"/>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6.xml><?xml version="1.0" encoding="utf-8"?>
<p:tagLst xmlns:p="http://schemas.openxmlformats.org/presentationml/2006/main">
  <p:tag name="KSO_WM_UNIT_INDEX" val="4"/>
  <p:tag name="KSO_WM_UNIT_TYPE" val="f"/>
  <p:tag name="KSO_WM_UNIT_SUBTYPE" val="a"/>
  <p:tag name="KSO_WM_BEAUTIFY_FLAG" val="#wm#"/>
</p:tagLst>
</file>

<file path=ppt/tags/tag137.xml><?xml version="1.0" encoding="utf-8"?>
<p:tagLst xmlns:p="http://schemas.openxmlformats.org/presentationml/2006/main">
  <p:tag name="KSO_WM_SLIDE_TYPE" val="text"/>
  <p:tag name="KSO_WM_BEAUTIFY_FLAG" val="#wm#"/>
</p:tagLst>
</file>

<file path=ppt/tags/tag138.xml><?xml version="1.0" encoding="utf-8"?>
<p:tagLst xmlns:p="http://schemas.openxmlformats.org/presentationml/2006/main">
  <p:tag name="KSO_WM_UNIT_TEXT" val="Money Measurement Concept &#10;"/>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9.xml><?xml version="1.0" encoding="utf-8"?>
<p:tagLst xmlns:p="http://schemas.openxmlformats.org/presentationml/2006/main">
  <p:tag name="KSO_WM_UNIT_INDEX" val="3"/>
  <p:tag name="KSO_WM_UNIT_TYPE" val="f"/>
  <p:tag name="KSO_WM_UNIT_SUBTYPE" val="a"/>
  <p:tag name="KSO_WM_BEAUTIFY_FLAG" val="#wm#"/>
</p:tagLst>
</file>

<file path=ppt/tags/tag140.xml><?xml version="1.0" encoding="utf-8"?>
<p:tagLst xmlns:p="http://schemas.openxmlformats.org/presentationml/2006/main">
  <p:tag name="KSO_WM_SLIDE_TYPE" val="text"/>
  <p:tag name="KSO_WM_BEAUTIFY_FLAG" val="#wm#"/>
</p:tagLst>
</file>

<file path=ppt/tags/tag141.xml><?xml version="1.0" encoding="utf-8"?>
<p:tagLst xmlns:p="http://schemas.openxmlformats.org/presentationml/2006/main">
  <p:tag name="KSO_WM_UNIT_TEXT" val="Going Concern Concept &#10;"/>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42.xml><?xml version="1.0" encoding="utf-8"?>
<p:tagLst xmlns:p="http://schemas.openxmlformats.org/presentationml/2006/main">
  <p:tag name="KSO_WM_UNIT_INDEX" val="3"/>
  <p:tag name="KSO_WM_UNIT_TYPE" val="f"/>
  <p:tag name="KSO_WM_UNIT_SUBTYPE" val="a"/>
  <p:tag name="KSO_WM_BEAUTIFY_FLAG" val="#wm#"/>
</p:tagLst>
</file>

<file path=ppt/tags/tag143.xml><?xml version="1.0" encoding="utf-8"?>
<p:tagLst xmlns:p="http://schemas.openxmlformats.org/presentationml/2006/main">
  <p:tag name="KSO_WM_SLIDE_TYPE" val="text"/>
  <p:tag name="KSO_WM_BEAUTIFY_FLAG" val="#wm#"/>
</p:tagLst>
</file>

<file path=ppt/tags/tag144.xml><?xml version="1.0" encoding="utf-8"?>
<p:tagLst xmlns:p="http://schemas.openxmlformats.org/presentationml/2006/main">
  <p:tag name="KSO_WM_UNIT_INDEX" val="1"/>
  <p:tag name="KSO_WM_UNIT_TYPE" val="f"/>
  <p:tag name="KSO_WM_UNIT_SUBTYPE" val="a"/>
  <p:tag name="KSO_WM_BEAUTIFY_FLAG" val="#wm#"/>
</p:tagLst>
</file>

<file path=ppt/tags/tag145.xml><?xml version="1.0" encoding="utf-8"?>
<p:tagLst xmlns:p="http://schemas.openxmlformats.org/presentationml/2006/main">
  <p:tag name="KSO_WM_UNIT_INDEX" val="3"/>
  <p:tag name="KSO_WM_UNIT_TYPE" val="f"/>
  <p:tag name="KSO_WM_UNIT_SUBTYPE" val="a"/>
  <p:tag name="KSO_WM_BEAUTIFY_FLAG" val="#wm#"/>
</p:tagLst>
</file>

<file path=ppt/tags/tag146.xml><?xml version="1.0" encoding="utf-8"?>
<p:tagLst xmlns:p="http://schemas.openxmlformats.org/presentationml/2006/main">
  <p:tag name="KSO_WM_SLIDE_TYPE" val="text"/>
  <p:tag name="KSO_WM_BEAUTIFY_FLAG" val="#wm#"/>
</p:tagLst>
</file>

<file path=ppt/tags/tag147.xml><?xml version="1.0" encoding="utf-8"?>
<p:tagLst xmlns:p="http://schemas.openxmlformats.org/presentationml/2006/main">
  <p:tag name="KSO_WM_UNIT_TEXT" val="Accounting Period Concept &#10;"/>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48.xml><?xml version="1.0" encoding="utf-8"?>
<p:tagLst xmlns:p="http://schemas.openxmlformats.org/presentationml/2006/main">
  <p:tag name="KSO_WM_UNIT_INDEX" val="3"/>
  <p:tag name="KSO_WM_UNIT_TYPE" val="f"/>
  <p:tag name="KSO_WM_UNIT_SUBTYPE" val="a"/>
  <p:tag name="KSO_WM_BEAUTIFY_FLAG" val="#wm#"/>
</p:tagLst>
</file>

<file path=ppt/tags/tag149.xml><?xml version="1.0" encoding="utf-8"?>
<p:tagLst xmlns:p="http://schemas.openxmlformats.org/presentationml/2006/main">
  <p:tag name="KSO_WM_SLIDE_TYPE" val="text"/>
  <p:tag name="KSO_WM_BEAUTIFY_FLAG" val="#wm#"/>
</p:tagLst>
</file>

<file path=ppt/tags/tag150.xml><?xml version="1.0" encoding="utf-8"?>
<p:tagLst xmlns:p="http://schemas.openxmlformats.org/presentationml/2006/main">
  <p:tag name="KSO_WM_UNIT_INDEX" val="7"/>
  <p:tag name="KSO_WM_UNIT_TYPE" val="f"/>
  <p:tag name="KSO_WM_BEAUTIFY_FLAG" val="#wm#"/>
  <p:tag name="KSO_WM_UNIT_SUBTYPE" val="a"/>
</p:tagLst>
</file>

<file path=ppt/tags/tag151.xml><?xml version="1.0" encoding="utf-8"?>
<p:tagLst xmlns:p="http://schemas.openxmlformats.org/presentationml/2006/main">
  <p:tag name="KSO_WM_SLIDE_TYPE" val="text"/>
  <p:tag name="KSO_WM_BEAUTIFY_FLAG" val="#wm#"/>
</p:tagLst>
</file>

<file path=ppt/tags/tag152.xml><?xml version="1.0" encoding="utf-8"?>
<p:tagLst xmlns:p="http://schemas.openxmlformats.org/presentationml/2006/main">
  <p:tag name="KSO_WM_UNIT_INDEX" val="1"/>
  <p:tag name="KSO_WM_UNIT_TYPE" val="β"/>
  <p:tag name="KSO_WM_BEAUTIFY_FLAG" val="#wm#"/>
</p:tagLst>
</file>

<file path=ppt/tags/tag153.xml><?xml version="1.0" encoding="utf-8"?>
<p:tagLst xmlns:p="http://schemas.openxmlformats.org/presentationml/2006/main">
  <p:tag name="KSO_WM_SLIDE_TYPE" val="text"/>
  <p:tag name="KSO_WM_BEAUTIFY_FLAG" val="#wm#"/>
</p:tagLst>
</file>

<file path=ppt/tags/tag154.xml><?xml version="1.0" encoding="utf-8"?>
<p:tagLst xmlns:p="http://schemas.openxmlformats.org/presentationml/2006/main">
  <p:tag name="KSO_WM_UNIT_INDEX" val="1"/>
  <p:tag name="KSO_WM_UNIT_TYPE" val="β"/>
  <p:tag name="KSO_WM_BEAUTIFY_FLAG" val="#wm#"/>
  <p:tag name="TABLE_ENDDRAG_ORIGIN_RECT" val="686*440"/>
  <p:tag name="TABLE_ENDDRAG_RECT" val="16*28*686*440"/>
</p:tagLst>
</file>

<file path=ppt/tags/tag155.xml><?xml version="1.0" encoding="utf-8"?>
<p:tagLst xmlns:p="http://schemas.openxmlformats.org/presentationml/2006/main">
  <p:tag name="KSO_WM_SLIDE_TYPE" val="text"/>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1"/>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09000000357627869,&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43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2"/>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540000021457672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3"/>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05000000074505806,&quot;colorType&quot;:1,&quot;foreColorIndex&quot;:5,&quot;pos&quot;:0.09000000357627869,&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4"/>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09000000357627869,&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43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5"/>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540000021457672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6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6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6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6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4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4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2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UNIT_VALUE" val="52"/>
  <p:tag name="KSO_WM_DIAGRAM_GROUP_CODE" val="n1-1"/>
  <p:tag name="KSO_WM_UNIT_TYPE" val="n_h_h_f"/>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2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00_5*n_h_i*1_1_6"/>
  <p:tag name="KSO_WM_TEMPLATE_CATEGORY" val="diagram"/>
  <p:tag name="KSO_WM_TEMPLATE_INDEX" val="20238200"/>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4000000059604645,&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7"/>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05000000074505806,&quot;colorType&quot;:1,&quot;foreColorIndex&quot;:5,&quot;pos&quot;:0.09000000357627869,&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8"/>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type&quot;:0},&quot;glow&quot;:{&quot;colorType&quot;:0},&quot;line&quot;:{&quot;gradient&quot;:[{&quot;brightness&quot;:0,&quot;colorType&quot;:1,&quot;foreColorIndex&quot;:5,&quot;pos&quot;:0.8100000023841858,&quot;transparency&quot;:1},{&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9"/>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type&quot;:0},&quot;glow&quot;:{&quot;colorType&quot;:0},&quot;line&quot;:{&quot;gradient&quot;:[{&quot;brightness&quot;:0,&quot;colorType&quot;:1,&quot;foreColorIndex&quot;:5,&quot;pos&quot;:0.1899999976158142,&quot;transparency&quot;:1},{&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i*1_1_10"/>
  <p:tag name="KSO_WM_TEMPLATE_CATEGORY" val="diagram"/>
  <p:tag name="KSO_WM_TEMPLATE_INDEX" val="20238200"/>
  <p:tag name="KSO_WM_UNIT_LAYERLEVEL" val="1_1_1"/>
  <p:tag name="KSO_WM_TAG_VERSION" val="3.0"/>
  <p:tag name="KSO_WM_BEAUTIFY_FLAG" val="#wm#"/>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5,&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5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5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3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UNIT_VALUE" val="52"/>
  <p:tag name="KSO_WM_DIAGRAM_GROUP_CODE" val="n1-1"/>
  <p:tag name="KSO_WM_UNIT_TYPE" val="n_h_h_f"/>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3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f*1_2_1_1"/>
  <p:tag name="KSO_WM_TEMPLATE_CATEGORY" val="diagram"/>
  <p:tag name="KSO_WM_TEMPLATE_INDEX" val="20238200"/>
  <p:tag name="KSO_WM_UNIT_LAYERLEVEL" val="1_1_1_1"/>
  <p:tag name="KSO_WM_TAG_VERSION" val="3.0"/>
  <p:tag name="KSO_WM_BEAUTIFY_FLAG" val="#wm#"/>
  <p:tag name="KSO_WM_UNIT_SUBTYPE" val="a"/>
  <p:tag name="KSO_WM_UNIT_NOCLEAR" val="0"/>
  <p:tag name="KSO_WM_UNIT_VALUE" val="52"/>
  <p:tag name="KSO_WM_DIAGRAM_GROUP_CODE" val="n1-1"/>
  <p:tag name="KSO_WM_UNIT_TYPE" val="n_h_h_f"/>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00_5*n_h_h_i*1_2_1_1"/>
  <p:tag name="KSO_WM_TEMPLATE_CATEGORY" val="diagram"/>
  <p:tag name="KSO_WM_TEMPLATE_INDEX" val="20238200"/>
  <p:tag name="KSO_WM_UNIT_LAYERLEVEL" val="1_1_1_1"/>
  <p:tag name="KSO_WM_TAG_VERSION" val="3.0"/>
  <p:tag name="KSO_WM_BEAUTIFY_FLAG" val="#wm#"/>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00_5*n_h_a*1_1_1"/>
  <p:tag name="KSO_WM_TEMPLATE_CATEGORY" val="diagram"/>
  <p:tag name="KSO_WM_TEMPLATE_INDEX" val="20238200"/>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355.7640157480315,&quot;left&quot;:22.05,&quot;top&quot;:72.9,&quot;width&quot;:679.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5,6,5,6,5,6]}"/>
</p:tagLst>
</file>

<file path=ppt/tags/tag179.xml><?xml version="1.0" encoding="utf-8"?>
<p:tagLst xmlns:p="http://schemas.openxmlformats.org/presentationml/2006/main">
  <p:tag name="KSO_WM_UNIT_INDEX" val="1_1_4"/>
  <p:tag name="KSO_WM_UNIT_TYPE" val="l_h_f"/>
  <p:tag name="KSO_WM_UNIT_SUBTYPE" val="a"/>
  <p:tag name="KSO_WM_TEMPLATE_CATEGORY" val="diagram"/>
  <p:tag name="KSO_WM_TEMPLATE_INDEX" val="19882022"/>
  <p:tag name="KSO_WM_UNIT_ID" val="diagram19882022*l_h_f*1_1_4"/>
  <p:tag name="KSO_WM_DIAGRAM_GROUP_CODE" val="l1-1"/>
  <p:tag name="KSO_WM_TAG_VERSION" val="2.0"/>
  <p:tag name="KSO_WM_BEAUTIFY_FLAG" val="#wm#"/>
  <p:tag name="KSO_WM_DIAGRAM_VIRTUALLY_FRAME" val="{&quot;height&quot;:298.2499212598425,&quot;left&quot;:36,&quot;top&quot;:120.87503937007872,&quot;width&quot;:648}"/>
</p:tagLst>
</file>

<file path=ppt/tags/tag180.xml><?xml version="1.0" encoding="utf-8"?>
<p:tagLst xmlns:p="http://schemas.openxmlformats.org/presentationml/2006/main">
  <p:tag name="KSO_WM_UNIT_INDEX" val="1_2_1"/>
  <p:tag name="KSO_WM_UNIT_TYPE" val="l_h_a"/>
  <p:tag name="KSO_WM_TEMPLATE_CATEGORY" val="diagram"/>
  <p:tag name="KSO_WM_TEMPLATE_INDEX" val="19882022"/>
  <p:tag name="KSO_WM_UNIT_ID" val="diagram19882022*l_h_a*1_2_1"/>
  <p:tag name="KSO_WM_DIAGRAM_GROUP_CODE" val="l1-1"/>
  <p:tag name="KSO_WM_TAG_VERSION" val="2.0"/>
  <p:tag name="KSO_WM_BEAUTIFY_FLAG" val="#wm#"/>
  <p:tag name="KSO_WM_DIAGRAM_VIRTUALLY_FRAME" val="{&quot;height&quot;:298.2499212598425,&quot;left&quot;:36,&quot;top&quot;:120.87503937007872,&quot;width&quot;:648}"/>
</p:tagLst>
</file>

<file path=ppt/tags/tag181.xml><?xml version="1.0" encoding="utf-8"?>
<p:tagLst xmlns:p="http://schemas.openxmlformats.org/presentationml/2006/main">
  <p:tag name="KSO_WM_UNIT_INDEX" val="1_2_7"/>
  <p:tag name="KSO_WM_UNIT_TYPE" val="l_h_f"/>
  <p:tag name="KSO_WM_UNIT_SUBTYPE" val="a"/>
  <p:tag name="KSO_WM_TEMPLATE_CATEGORY" val="diagram"/>
  <p:tag name="KSO_WM_TEMPLATE_INDEX" val="19882022"/>
  <p:tag name="KSO_WM_UNIT_ID" val="diagram19882022*l_h_f*1_2_7"/>
  <p:tag name="KSO_WM_DIAGRAM_GROUP_CODE" val="l1-1"/>
  <p:tag name="KSO_WM_TAG_VERSION" val="2.0"/>
  <p:tag name="KSO_WM_BEAUTIFY_FLAG" val="#wm#"/>
  <p:tag name="KSO_WM_DIAGRAM_VIRTUALLY_FRAME" val="{&quot;height&quot;:298.2499212598425,&quot;left&quot;:36,&quot;top&quot;:120.87503937007872,&quot;width&quot;:648}"/>
</p:tagLst>
</file>

<file path=ppt/tags/tag182.xml><?xml version="1.0" encoding="utf-8"?>
<p:tagLst xmlns:p="http://schemas.openxmlformats.org/presentationml/2006/main">
  <p:tag name="KSO_WM_UNIT_INDEX" val="1_1_1"/>
  <p:tag name="KSO_WM_UNIT_TYPE" val="l_h_a"/>
  <p:tag name="KSO_WM_TEMPLATE_CATEGORY" val="diagram"/>
  <p:tag name="KSO_WM_TEMPLATE_INDEX" val="19882022"/>
  <p:tag name="KSO_WM_UNIT_ID" val="diagram19882022*l_h_a*1_1_1"/>
  <p:tag name="KSO_WM_DIAGRAM_GROUP_CODE" val="l1-1"/>
  <p:tag name="KSO_WM_TAG_VERSION" val="2.0"/>
  <p:tag name="KSO_WM_BEAUTIFY_FLAG" val="#wm#"/>
  <p:tag name="KSO_WM_DIAGRAM_VIRTUALLY_FRAME" val="{&quot;height&quot;:298.2499212598425,&quot;left&quot;:36,&quot;top&quot;:120.87503937007872,&quot;width&quot;:648}"/>
</p:tagLst>
</file>

<file path=ppt/tags/tag183.xml><?xml version="1.0" encoding="utf-8"?>
<p:tagLst xmlns:p="http://schemas.openxmlformats.org/presentationml/2006/main">
  <p:tag name="KSO_WM_UNIT_TEXT" val="Chapter 1 Basic Concepts&#10;Forms of Business Organization &#10;"/>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7*a*1"/>
  <p:tag name="KSO_WM_UNIT_LAYERLEVEL" val="1"/>
  <p:tag name="KSO_WM_TAG_VERSION" val="3.0"/>
</p:tagLst>
</file>

<file path=ppt/tags/tag184.xml><?xml version="1.0" encoding="utf-8"?>
<p:tagLst xmlns:p="http://schemas.openxmlformats.org/presentationml/2006/main">
  <p:tag name="KSO_WM_SLIDE_TYPE" val="text"/>
  <p:tag name="KSO_WM_BEAUTIFY_FLAG" val="#wm#"/>
</p:tagLst>
</file>

<file path=ppt/tags/tag185.xml><?xml version="1.0" encoding="utf-8"?>
<p:tagLst xmlns:p="http://schemas.openxmlformats.org/presentationml/2006/main">
  <p:tag name="KSO_WM_UNIT_INDEX" val="4"/>
  <p:tag name="KSO_WM_UNIT_TYPE" val="f"/>
  <p:tag name="KSO_WM_BEAUTIFY_FLAG" val="#wm#"/>
  <p:tag name="KSO_WM_UNIT_SUBTYPE" val="a"/>
</p:tagLst>
</file>

<file path=ppt/tags/tag186.xml><?xml version="1.0" encoding="utf-8"?>
<p:tagLst xmlns:p="http://schemas.openxmlformats.org/presentationml/2006/main">
  <p:tag name="KSO_WM_SLIDE_TYPE" val="text"/>
  <p:tag name="KSO_WM_BEAUTIFY_FLAG" val="#wm#"/>
</p:tagLst>
</file>

<file path=ppt/tags/tag187.xml><?xml version="1.0" encoding="utf-8"?>
<p:tagLst xmlns:p="http://schemas.openxmlformats.org/presentationml/2006/main">
  <p:tag name="KSO_WM_UNIT_INDEX" val="1"/>
  <p:tag name="KSO_WM_UNIT_TYPE" val="β"/>
  <p:tag name="KSO_WM_BEAUTIFY_FLAG" val="#wm#"/>
</p:tagLst>
</file>

<file path=ppt/tags/tag188.xml><?xml version="1.0" encoding="utf-8"?>
<p:tagLst xmlns:p="http://schemas.openxmlformats.org/presentationml/2006/main">
  <p:tag name="KSO_WM_SLIDE_TYPE" val="text"/>
  <p:tag name="KSO_WM_BEAUTIFY_FLAG" val="#wm#"/>
</p:tagLst>
</file>

<file path=ppt/tags/tag189.xml><?xml version="1.0" encoding="utf-8"?>
<p:tagLst xmlns:p="http://schemas.openxmlformats.org/presentationml/2006/main">
  <p:tag name="resource_record_key" val="{&quot;65&quot;:[20237979],&quot;70&quot;:[3318861,3314667]}"/>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自定义 69">
      <a:dk1>
        <a:srgbClr val="000000"/>
      </a:dk1>
      <a:lt1>
        <a:srgbClr val="FFFFFF"/>
      </a:lt1>
      <a:dk2>
        <a:srgbClr val="253A3F"/>
      </a:dk2>
      <a:lt2>
        <a:srgbClr val="ADC8CE"/>
      </a:lt2>
      <a:accent1>
        <a:srgbClr val="578591"/>
      </a:accent1>
      <a:accent2>
        <a:srgbClr val="77A3AE"/>
      </a:accent2>
      <a:accent3>
        <a:srgbClr val="D36250"/>
      </a:accent3>
      <a:accent4>
        <a:srgbClr val="EC9B86"/>
      </a:accent4>
      <a:accent5>
        <a:srgbClr val="A0B9C6"/>
      </a:accent5>
      <a:accent6>
        <a:srgbClr val="B1B3D3"/>
      </a:accent6>
      <a:hlink>
        <a:srgbClr val="EC5F74"/>
      </a:hlink>
      <a:folHlink>
        <a:srgbClr val="6096E6"/>
      </a:folHlink>
    </a:clrScheme>
    <a:fontScheme name="字体-传统">
      <a:majorFont>
        <a:latin typeface="Crimson Text SemiBold"/>
        <a:ea typeface="Crimson Text SemiBold"/>
        <a:cs typeface=""/>
      </a:majorFont>
      <a:minorFont>
        <a:latin typeface="Charis SIL"/>
        <a:ea typeface="Charis SI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14809</Words>
  <Application>WPS Presentation</Application>
  <PresentationFormat>On-screen Show (4:3)</PresentationFormat>
  <Paragraphs>395</Paragraphs>
  <Slides>35</Slides>
  <Notes>2</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35</vt:i4>
      </vt:variant>
    </vt:vector>
  </HeadingPairs>
  <TitlesOfParts>
    <vt:vector size="52" baseType="lpstr">
      <vt:lpstr>Arial</vt:lpstr>
      <vt:lpstr>SimSun</vt:lpstr>
      <vt:lpstr>Wingdings</vt:lpstr>
      <vt:lpstr>Arial</vt:lpstr>
      <vt:lpstr>Times New Roman</vt:lpstr>
      <vt:lpstr>Calibri</vt:lpstr>
      <vt:lpstr>Wingdings</vt:lpstr>
      <vt:lpstr>Times New Roman</vt:lpstr>
      <vt:lpstr>Microsoft YaHei</vt:lpstr>
      <vt:lpstr>Arial Unicode MS</vt:lpstr>
      <vt:lpstr>Crimson Text SemiBold</vt:lpstr>
      <vt:lpstr>Charis SIL</vt:lpstr>
      <vt:lpstr>Segoe Print</vt:lpstr>
      <vt:lpstr>Office Theme</vt:lpstr>
      <vt:lpstr>1_Custom Design</vt:lpstr>
      <vt:lpstr>Custom Design</vt:lpstr>
      <vt:lpstr>1_Office Theme</vt:lpstr>
      <vt:lpstr>106 Managerial Accounting</vt:lpstr>
      <vt:lpstr>Basic Concepts
Forms of Business Organization</vt:lpstr>
      <vt:lpstr>Sole Proprietorship</vt:lpstr>
      <vt:lpstr>Joint Hindu Family Business</vt:lpstr>
      <vt:lpstr>Partnership</vt:lpstr>
      <vt:lpstr>Cooperative Society</vt:lpstr>
      <vt:lpstr>Joint Stock Company</vt:lpstr>
      <vt:lpstr>Importance of Accounting</vt:lpstr>
      <vt:lpstr>1. Basic Terms</vt:lpstr>
      <vt:lpstr>Basic Accounting Terms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Accounting Concepts :  Business Entity Concept</vt:lpstr>
      <vt:lpstr>Money Measurement Concept</vt:lpstr>
      <vt:lpstr>Going Concern Concept</vt:lpstr>
      <vt:lpstr>Accounting Period Concept</vt:lpstr>
      <vt:lpstr>PowerPoint 演示文稿</vt:lpstr>
      <vt:lpstr>Dual Aspect or Duality Concept</vt:lpstr>
      <vt:lpstr>PowerPoint 演示文稿</vt:lpstr>
      <vt:lpstr>PowerPoint 演示文稿</vt:lpstr>
      <vt:lpstr>PowerPoint 演示文稿</vt:lpstr>
      <vt:lpstr>PowerPoint 演示文稿</vt:lpstr>
      <vt:lpstr>PowerPoint 演示文稿</vt:lpstr>
      <vt:lpstr>Users of Accounting Information</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Conceptual Framework of Corporate Governance.  2. Legal Framework for Corporate Governance.  3. Corporate Governance and Other Stakeholders.  4. Risk Management and problems of poor governance.  5. Emerging trends &amp; Global Perspective of Corporate Governance.  </dc:title>
  <dc:creator>Priyanka</dc:creator>
  <cp:lastModifiedBy>SUBHRODIPTO BASU CHOUDHURY</cp:lastModifiedBy>
  <cp:revision>88</cp:revision>
  <dcterms:created xsi:type="dcterms:W3CDTF">2023-08-11T03:52:00Z</dcterms:created>
  <dcterms:modified xsi:type="dcterms:W3CDTF">2026-08-05T08:13:59Z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98C275C4681C4C8FB44BA7448FB2FF78_12</vt:lpwstr>
  </property>
  <property fmtid="{D5CDD505-2E9C-101B-9397-08002B2CF9AE}" pid="3" name="KSOProductBuildVer">
    <vt:lpwstr>1033-12.1.0.28032</vt:lpwstr>
  </property>
</Properties>
</file>