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sldIdLst>
    <p:sldId id="274" r:id="rId5"/>
    <p:sldId id="276" r:id="rId6"/>
    <p:sldId id="277" r:id="rId7"/>
    <p:sldId id="278" r:id="rId8"/>
    <p:sldId id="279" r:id="rId9"/>
    <p:sldId id="280" r:id="rId10"/>
    <p:sldId id="287" r:id="rId11"/>
    <p:sldId id="288" r:id="rId12"/>
    <p:sldId id="289" r:id="rId13"/>
    <p:sldId id="281" r:id="rId14"/>
    <p:sldId id="282" r:id="rId15"/>
    <p:sldId id="283" r:id="rId16"/>
    <p:sldId id="290" r:id="rId17"/>
    <p:sldId id="284" r:id="rId18"/>
    <p:sldId id="285" r:id="rId19"/>
    <p:sldId id="29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3" autoAdjust="0"/>
    <p:restoredTop sz="94660"/>
  </p:normalViewPr>
  <p:slideViewPr>
    <p:cSldViewPr showGuides="1">
      <p:cViewPr varScale="1">
        <p:scale>
          <a:sx n="82" d="100"/>
          <a:sy n="82" d="100"/>
        </p:scale>
        <p:origin x="1502" y="53"/>
      </p:cViewPr>
      <p:guideLst>
        <p:guide orient="horz" pos="2145"/>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1C8C4F00-B88E-4188-A076-81E1A86F9FB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8C4F00-B88E-4188-A076-81E1A86F9FB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8C4F00-B88E-4188-A076-81E1A86F9FB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5F3678B9-5127-4C5E-82C2-AC6E353819A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3678B9-5127-4C5E-82C2-AC6E353819A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678B9-5127-4C5E-82C2-AC6E353819A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rot="10800000">
            <a:off x="0" y="6505599"/>
            <a:ext cx="9152280" cy="352398"/>
          </a:xfrm>
          <a:prstGeom prst="rect">
            <a:avLst/>
          </a:prstGeom>
        </p:spPr>
      </p:pic>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73"/>
            <a:ext cx="9108504" cy="626761"/>
          </a:xfrm>
          <a:prstGeom prst="rect">
            <a:avLst/>
          </a:prstGeom>
        </p:spPr>
      </p:pic>
      <p:pic>
        <p:nvPicPr>
          <p:cNvPr id="9" name="Picture 8"/>
          <p:cNvPicPr>
            <a:picLocks noChangeAspect="1"/>
          </p:cNvPicPr>
          <p:nvPr userDrawn="1"/>
        </p:nvPicPr>
        <p:blipFill>
          <a:blip r:embed="rId14" cstate="print"/>
          <a:stretch>
            <a:fillRect/>
          </a:stretch>
        </p:blipFill>
        <p:spPr>
          <a:xfrm>
            <a:off x="8374776" y="-6073"/>
            <a:ext cx="763856" cy="626761"/>
          </a:xfrm>
          <a:prstGeom prst="rect">
            <a:avLst/>
          </a:prstGeom>
        </p:spPr>
      </p:pic>
      <p:sp>
        <p:nvSpPr>
          <p:cNvPr id="10" name="TextBox 9"/>
          <p:cNvSpPr txBox="1"/>
          <p:nvPr userDrawn="1"/>
        </p:nvSpPr>
        <p:spPr>
          <a:xfrm>
            <a:off x="251520" y="6488666"/>
            <a:ext cx="4752528"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Zeal Group of Management Institutes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C4F00-B88E-4188-A076-81E1A86F9FB6}" type="datetimeFigureOut">
              <a:rPr lang="en-IN" smtClean="0"/>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8F7AF9-CA2C-4D10-A07A-CFB321DFB96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3678B9-5127-4C5E-82C2-AC6E353819A4}" type="datetimeFigureOut">
              <a:rPr lang="en-IN" smtClean="0"/>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05D9F3-AF00-4A19-865F-472616EF42A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2438400" y="914182"/>
            <a:ext cx="4344888" cy="58356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Accounting </a:t>
            </a:r>
            <a:r>
              <a:rPr lang="en-US" sz="2800" b="1" dirty="0">
                <a:latin typeface="Times New Roman" panose="02020603050405020304" pitchFamily="18" charset="0"/>
                <a:cs typeface="Times New Roman" panose="02020603050405020304" pitchFamily="18" charset="0"/>
              </a:rPr>
              <a:t>Rules </a:t>
            </a:r>
            <a:endParaRPr lang="en-US" sz="280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ctrTitle"/>
          </p:nvPr>
        </p:nvSpPr>
        <p:spPr>
          <a:xfrm>
            <a:off x="685800" y="2130425"/>
            <a:ext cx="7772400" cy="434479"/>
          </a:xfrm>
        </p:spPr>
        <p:txBody>
          <a:bodyPr/>
          <a:lstStyle/>
          <a:p>
            <a:r>
              <a:rPr lang="en-US" sz="3200" b="1" dirty="0">
                <a:latin typeface="Times New Roman" panose="02020603050405020304" pitchFamily="18" charset="0"/>
                <a:cs typeface="Times New Roman" panose="02020603050405020304" pitchFamily="18" charset="0"/>
              </a:rPr>
              <a:t>Golden Rules of Accounting and Journal </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92696"/>
            <a:ext cx="7221488" cy="576064"/>
          </a:xfrm>
        </p:spPr>
        <p:txBody>
          <a:bodyPr/>
          <a:lstStyle/>
          <a:p>
            <a:pPr algn="l"/>
            <a:r>
              <a:rPr lang="en-IN" sz="3200" b="1" dirty="0">
                <a:solidFill>
                  <a:srgbClr val="7030A0"/>
                </a:solidFill>
              </a:rPr>
              <a:t>Golden Rules of Accounting</a:t>
            </a:r>
            <a:endParaRPr lang="en-IN" sz="3200" b="1" dirty="0">
              <a:solidFill>
                <a:srgbClr val="7030A0"/>
              </a:solidFill>
            </a:endParaRPr>
          </a:p>
        </p:txBody>
      </p:sp>
      <p:sp>
        <p:nvSpPr>
          <p:cNvPr id="3" name="Content Placeholder 2"/>
          <p:cNvSpPr>
            <a:spLocks noGrp="1"/>
          </p:cNvSpPr>
          <p:nvPr>
            <p:ph idx="1"/>
          </p:nvPr>
        </p:nvSpPr>
        <p:spPr>
          <a:xfrm>
            <a:off x="107504" y="1340769"/>
            <a:ext cx="8229600" cy="504056"/>
          </a:xfrm>
        </p:spPr>
        <p:txBody>
          <a:bodyPr/>
          <a:lstStyle/>
          <a:p>
            <a:r>
              <a:rPr lang="en-US" sz="2400" b="1" dirty="0">
                <a:solidFill>
                  <a:srgbClr val="FF0000"/>
                </a:solidFill>
              </a:rPr>
              <a:t>Why we do need to know the golden rules of accounting?</a:t>
            </a:r>
            <a:endParaRPr lang="en-IN" sz="2400" b="1" dirty="0">
              <a:solidFill>
                <a:srgbClr val="FF0000"/>
              </a:solidFill>
            </a:endParaRPr>
          </a:p>
        </p:txBody>
      </p:sp>
      <p:sp>
        <p:nvSpPr>
          <p:cNvPr id="5" name="Round Diagonal Corner Rectangle 4"/>
          <p:cNvSpPr/>
          <p:nvPr/>
        </p:nvSpPr>
        <p:spPr>
          <a:xfrm>
            <a:off x="1619672" y="1916832"/>
            <a:ext cx="5976664" cy="64807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Aspects of Double entry system</a:t>
            </a:r>
            <a:endParaRPr lang="en-IN" sz="2800" b="1" dirty="0"/>
          </a:p>
        </p:txBody>
      </p:sp>
      <p:cxnSp>
        <p:nvCxnSpPr>
          <p:cNvPr id="7" name="Straight Arrow Connector 6"/>
          <p:cNvCxnSpPr/>
          <p:nvPr/>
        </p:nvCxnSpPr>
        <p:spPr>
          <a:xfrm>
            <a:off x="2699792" y="2564904"/>
            <a:ext cx="0" cy="7920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a:off x="7020272" y="2564904"/>
            <a:ext cx="0" cy="7920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0" name="Rounded Rectangle 9"/>
          <p:cNvSpPr/>
          <p:nvPr/>
        </p:nvSpPr>
        <p:spPr>
          <a:xfrm>
            <a:off x="1619672" y="3356992"/>
            <a:ext cx="2304256"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Debit</a:t>
            </a:r>
            <a:endParaRPr lang="en-IN" b="1" dirty="0"/>
          </a:p>
        </p:txBody>
      </p:sp>
      <p:sp>
        <p:nvSpPr>
          <p:cNvPr id="11" name="Rounded Rectangle 10"/>
          <p:cNvSpPr/>
          <p:nvPr/>
        </p:nvSpPr>
        <p:spPr>
          <a:xfrm>
            <a:off x="5868144" y="3356992"/>
            <a:ext cx="2304256"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Credit</a:t>
            </a:r>
            <a:endParaRPr lang="en-IN" b="1" dirty="0"/>
          </a:p>
        </p:txBody>
      </p:sp>
      <p:cxnSp>
        <p:nvCxnSpPr>
          <p:cNvPr id="12" name="Straight Arrow Connector 11"/>
          <p:cNvCxnSpPr/>
          <p:nvPr/>
        </p:nvCxnSpPr>
        <p:spPr>
          <a:xfrm flipH="1">
            <a:off x="2667130" y="3933056"/>
            <a:ext cx="12700" cy="56261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ound Same Side Corner Rectangle 12"/>
          <p:cNvSpPr/>
          <p:nvPr/>
        </p:nvSpPr>
        <p:spPr>
          <a:xfrm>
            <a:off x="683260" y="4495165"/>
            <a:ext cx="3924300" cy="1741805"/>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Meaning of Debit is adding an amount of cash or fund into the expenses or assets accounts and subtracting from the owner's equity, liabilities accounts. or income</a:t>
            </a:r>
            <a:endParaRPr lang="en-IN" b="1" dirty="0"/>
          </a:p>
        </p:txBody>
      </p:sp>
      <p:sp>
        <p:nvSpPr>
          <p:cNvPr id="15" name="Round Same Side Corner Rectangle 14"/>
          <p:cNvSpPr/>
          <p:nvPr/>
        </p:nvSpPr>
        <p:spPr>
          <a:xfrm>
            <a:off x="4860290" y="4530725"/>
            <a:ext cx="3924300" cy="1706245"/>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Meaning of Credit is adding an amount of cash or fund into the owner's equity, liabilities or income accounts and subtracting from the expenses or assets accounts.</a:t>
            </a:r>
            <a:endParaRPr lang="en-IN" b="1" dirty="0"/>
          </a:p>
        </p:txBody>
      </p:sp>
      <p:cxnSp>
        <p:nvCxnSpPr>
          <p:cNvPr id="16" name="Straight Arrow Connector 15"/>
          <p:cNvCxnSpPr/>
          <p:nvPr/>
        </p:nvCxnSpPr>
        <p:spPr>
          <a:xfrm flipH="1">
            <a:off x="7010112" y="3933056"/>
            <a:ext cx="10160" cy="56261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randombar(horizont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arn(inVertical)">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randombar(horizontal)">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P spid="10" grpId="0" animBg="1"/>
      <p:bldP spid="11" grpId="0" animBg="1"/>
      <p:bldP spid="13" grpId="0" bldLvl="0" animBg="1"/>
      <p:bldP spid="1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132856"/>
            <a:ext cx="8229600" cy="1900808"/>
          </a:xfrm>
        </p:spPr>
        <p:txBody>
          <a:bodyPr/>
          <a:lstStyle/>
          <a:p>
            <a:r>
              <a:rPr lang="en-US" b="1" dirty="0">
                <a:latin typeface="Times New Roman" panose="02020603050405020304" pitchFamily="18" charset="0"/>
                <a:cs typeface="Times New Roman" panose="02020603050405020304" pitchFamily="18" charset="0"/>
              </a:rPr>
              <a:t>1. Real Accounts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Personal Accounts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Nominal Accounts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873863" y="908720"/>
            <a:ext cx="3154680" cy="58356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Type of Accounts</a:t>
            </a: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581439"/>
          </a:xfrm>
        </p:spPr>
        <p:txBody>
          <a:bodyPr/>
          <a:lstStyle/>
          <a:p>
            <a:r>
              <a:rPr lang="en-US" sz="3200" b="1" dirty="0">
                <a:latin typeface="Times New Roman" panose="02020603050405020304" pitchFamily="18" charset="0"/>
                <a:cs typeface="Times New Roman" panose="02020603050405020304" pitchFamily="18" charset="0"/>
              </a:rPr>
              <a:t>Real Account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7068" y="1156015"/>
            <a:ext cx="8229600" cy="433969"/>
          </a:xfrm>
        </p:spPr>
        <p:txBody>
          <a:bodyPr/>
          <a:lstStyle/>
          <a:p>
            <a:pPr marL="0" indent="0">
              <a:buNone/>
            </a:pPr>
            <a:r>
              <a:rPr lang="en-US" sz="2000" dirty="0">
                <a:latin typeface="Times New Roman" panose="02020603050405020304" pitchFamily="18" charset="0"/>
                <a:cs typeface="Times New Roman" panose="02020603050405020304" pitchFamily="18" charset="0"/>
              </a:rPr>
              <a:t>Real accounts record the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assets</a:t>
            </a:r>
            <a:r>
              <a:rPr lang="en-US" sz="2000" dirty="0">
                <a:latin typeface="Times New Roman" panose="02020603050405020304" pitchFamily="18" charset="0"/>
                <a:cs typeface="Times New Roman" panose="02020603050405020304" pitchFamily="18" charset="0"/>
              </a:rPr>
              <a:t>,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liabilities</a:t>
            </a:r>
            <a:r>
              <a:rPr lang="en-US" sz="2000" dirty="0">
                <a:latin typeface="Times New Roman" panose="02020603050405020304" pitchFamily="18" charset="0"/>
                <a:cs typeface="Times New Roman" panose="02020603050405020304" pitchFamily="18" charset="0"/>
              </a:rPr>
              <a:t>, and owner's equity of a business. </a:t>
            </a: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486856" y="1624112"/>
            <a:ext cx="7776864" cy="70675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Asset is that valuable thing or property which the business owns and get the benefits from it in future or use it in generating income.</a:t>
            </a:r>
            <a:endParaRPr lang="en-US" sz="2000" dirty="0">
              <a:latin typeface="Times New Roman" panose="02020603050405020304" pitchFamily="18" charset="0"/>
              <a:cs typeface="Times New Roman" panose="02020603050405020304" pitchFamily="18" charset="0"/>
            </a:endParaRPr>
          </a:p>
        </p:txBody>
      </p:sp>
      <p:pic>
        <p:nvPicPr>
          <p:cNvPr id="1026" name="Picture 2" descr="C:\Program Files (x86)\Microsoft Office\MEDIA\CAGCAT10\j0205462.w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7940" y="3514710"/>
            <a:ext cx="1656184" cy="16478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27584" y="5075892"/>
            <a:ext cx="1205880" cy="369332"/>
          </a:xfrm>
          <a:prstGeom prst="rect">
            <a:avLst/>
          </a:prstGeom>
        </p:spPr>
        <p:txBody>
          <a:bodyPr wrap="square">
            <a:spAutoFit/>
          </a:bodyPr>
          <a:lstStyle/>
          <a:p>
            <a:r>
              <a:rPr lang="en-US" b="1" dirty="0"/>
              <a:t>Building</a:t>
            </a:r>
            <a:endParaRPr lang="en-IN" b="1" dirty="0"/>
          </a:p>
        </p:txBody>
      </p:sp>
      <p:pic>
        <p:nvPicPr>
          <p:cNvPr id="1027" name="Picture 3" descr="C:\Program Files (x86)\Microsoft Office\MEDIA\CAGCAT10\j0187423.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4161949"/>
            <a:ext cx="1762049" cy="18278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Program Files (x86)\Microsoft Office\MEDIA\CAGCAT10\j0216858.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7944" y="3845965"/>
            <a:ext cx="1826971" cy="8339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me Furnishings PNG Images, Home Clipart, Household PNG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8" y="3933056"/>
            <a:ext cx="2565294" cy="191014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339752" y="5843201"/>
            <a:ext cx="1205880" cy="369332"/>
          </a:xfrm>
          <a:prstGeom prst="rect">
            <a:avLst/>
          </a:prstGeom>
        </p:spPr>
        <p:txBody>
          <a:bodyPr wrap="square">
            <a:spAutoFit/>
          </a:bodyPr>
          <a:lstStyle/>
          <a:p>
            <a:r>
              <a:rPr lang="en-US" b="1" dirty="0"/>
              <a:t>Machinery</a:t>
            </a:r>
            <a:endParaRPr lang="en-IN" b="1" dirty="0"/>
          </a:p>
        </p:txBody>
      </p:sp>
      <p:sp>
        <p:nvSpPr>
          <p:cNvPr id="11" name="Rectangle 10"/>
          <p:cNvSpPr/>
          <p:nvPr/>
        </p:nvSpPr>
        <p:spPr>
          <a:xfrm>
            <a:off x="4122251" y="4706560"/>
            <a:ext cx="1205880" cy="369332"/>
          </a:xfrm>
          <a:prstGeom prst="rect">
            <a:avLst/>
          </a:prstGeom>
        </p:spPr>
        <p:txBody>
          <a:bodyPr wrap="square">
            <a:spAutoFit/>
          </a:bodyPr>
          <a:lstStyle/>
          <a:p>
            <a:r>
              <a:rPr lang="en-US" b="1" dirty="0"/>
              <a:t>Motor Van</a:t>
            </a:r>
            <a:endParaRPr lang="en-IN" b="1" dirty="0"/>
          </a:p>
        </p:txBody>
      </p:sp>
      <p:sp>
        <p:nvSpPr>
          <p:cNvPr id="12" name="Rectangle 11"/>
          <p:cNvSpPr/>
          <p:nvPr/>
        </p:nvSpPr>
        <p:spPr>
          <a:xfrm>
            <a:off x="6763875" y="5848917"/>
            <a:ext cx="1205880" cy="369332"/>
          </a:xfrm>
          <a:prstGeom prst="rect">
            <a:avLst/>
          </a:prstGeom>
        </p:spPr>
        <p:txBody>
          <a:bodyPr wrap="square">
            <a:spAutoFit/>
          </a:bodyPr>
          <a:lstStyle/>
          <a:p>
            <a:r>
              <a:rPr lang="en-US" b="1" dirty="0"/>
              <a:t>Furniture</a:t>
            </a:r>
            <a:endParaRPr lang="en-IN" b="1" dirty="0"/>
          </a:p>
        </p:txBody>
      </p:sp>
      <p:pic>
        <p:nvPicPr>
          <p:cNvPr id="6" name="Picture 5" descr="&lt;strong&gt;Indian&lt;/strong&gt; &lt;strong&gt;Rupee&lt;/strong&gt; Banknote Transparent Image Transparent HQ &lt;strong&gt;PNG&lt;/strong&gt; Download ..."/>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13780" y="2533325"/>
            <a:ext cx="1887885" cy="1299309"/>
          </a:xfrm>
          <a:prstGeom prst="rect">
            <a:avLst/>
          </a:prstGeom>
        </p:spPr>
      </p:pic>
      <p:sp>
        <p:nvSpPr>
          <p:cNvPr id="14" name="Rectangle 13"/>
          <p:cNvSpPr/>
          <p:nvPr/>
        </p:nvSpPr>
        <p:spPr>
          <a:xfrm>
            <a:off x="2689844" y="3699777"/>
            <a:ext cx="1205880" cy="369332"/>
          </a:xfrm>
          <a:prstGeom prst="rect">
            <a:avLst/>
          </a:prstGeom>
        </p:spPr>
        <p:txBody>
          <a:bodyPr wrap="square">
            <a:spAutoFit/>
          </a:bodyPr>
          <a:lstStyle/>
          <a:p>
            <a:r>
              <a:rPr lang="en-US" b="1" dirty="0"/>
              <a:t>Cash </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0"/>
                                  </p:stCondLst>
                                  <p:iterate type="lt">
                                    <p:tmPct val="10000"/>
                                  </p:iterate>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13"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fade">
                                      <p:cBhvr>
                                        <p:cTn id="25" dur="500"/>
                                        <p:tgtEl>
                                          <p:spTgt spid="10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27"/>
                                        </p:tgtEl>
                                        <p:attrNameLst>
                                          <p:attrName>style.visibility</p:attrName>
                                        </p:attrNameLst>
                                      </p:cBhvr>
                                      <p:to>
                                        <p:strVal val="visible"/>
                                      </p:to>
                                    </p:set>
                                    <p:animEffect transition="in" filter="fade">
                                      <p:cBhvr>
                                        <p:cTn id="33" dur="500"/>
                                        <p:tgtEl>
                                          <p:spTgt spid="10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028"/>
                                        </p:tgtEl>
                                        <p:attrNameLst>
                                          <p:attrName>style.visibility</p:attrName>
                                        </p:attrNameLst>
                                      </p:cBhvr>
                                      <p:to>
                                        <p:strVal val="visible"/>
                                      </p:to>
                                    </p:set>
                                    <p:animEffect transition="in" filter="fade">
                                      <p:cBhvr>
                                        <p:cTn id="41" dur="500"/>
                                        <p:tgtEl>
                                          <p:spTgt spid="102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030"/>
                                        </p:tgtEl>
                                        <p:attrNameLst>
                                          <p:attrName>style.visibility</p:attrName>
                                        </p:attrNameLst>
                                      </p:cBhvr>
                                      <p:to>
                                        <p:strVal val="visible"/>
                                      </p:to>
                                    </p:set>
                                    <p:animEffect transition="in" filter="fade">
                                      <p:cBhvr>
                                        <p:cTn id="49" dur="500"/>
                                        <p:tgtEl>
                                          <p:spTgt spid="10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10" grpId="0"/>
      <p:bldP spid="11" grpId="0"/>
      <p:bldP spid="1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691680" y="548065"/>
            <a:ext cx="6264696" cy="634804"/>
          </a:xfrm>
        </p:spPr>
        <p:txBody>
          <a:bodyPr/>
          <a:lstStyle/>
          <a:p>
            <a:r>
              <a:rPr lang="en-US" sz="3200" b="1" dirty="0">
                <a:latin typeface="Times New Roman" panose="02020603050405020304" pitchFamily="18" charset="0"/>
                <a:cs typeface="Times New Roman" panose="02020603050405020304" pitchFamily="18" charset="0"/>
              </a:rPr>
              <a:t>Personal Account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0375" y="1024092"/>
            <a:ext cx="8424936" cy="1450948"/>
          </a:xfrm>
        </p:spPr>
        <p:txBody>
          <a:bodyPr/>
          <a:lstStyle/>
          <a:p>
            <a:r>
              <a:rPr lang="en-US" sz="1800" dirty="0">
                <a:latin typeface="Times New Roman" panose="02020603050405020304" pitchFamily="18" charset="0"/>
                <a:cs typeface="Times New Roman" panose="02020603050405020304" pitchFamily="18" charset="0"/>
              </a:rPr>
              <a:t>These of Accounts are related to </a:t>
            </a: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Persons</a:t>
            </a:r>
            <a:r>
              <a:rPr lang="en-US" sz="1800" dirty="0">
                <a:latin typeface="Times New Roman" panose="02020603050405020304" pitchFamily="18" charset="0"/>
                <a:cs typeface="Times New Roman" panose="02020603050405020304" pitchFamily="18" charset="0"/>
              </a:rPr>
              <a:t>. These persons may be natural persons like </a:t>
            </a:r>
            <a:r>
              <a:rPr lang="en-US" sz="1800" dirty="0" err="1">
                <a:latin typeface="Times New Roman" panose="02020603050405020304" pitchFamily="18" charset="0"/>
                <a:cs typeface="Times New Roman" panose="02020603050405020304" pitchFamily="18" charset="0"/>
              </a:rPr>
              <a:t>Raj's</a:t>
            </a:r>
            <a:r>
              <a:rPr lang="en-US" sz="1800" dirty="0">
                <a:latin typeface="Times New Roman" panose="02020603050405020304" pitchFamily="18" charset="0"/>
                <a:cs typeface="Times New Roman" panose="02020603050405020304" pitchFamily="18" charset="0"/>
              </a:rPr>
              <a:t> account, Rajesh's account, Ramesh's account, Suresh's account, etc. These persons can also be </a:t>
            </a: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artificial</a:t>
            </a:r>
            <a:r>
              <a:rPr lang="en-US" sz="1800" dirty="0">
                <a:latin typeface="Times New Roman" panose="02020603050405020304" pitchFamily="18" charset="0"/>
                <a:cs typeface="Times New Roman" panose="02020603050405020304" pitchFamily="18" charset="0"/>
              </a:rPr>
              <a:t> persons like partnership firms, companies, bodies corporate, an association of persons, etc. Person can also be Representative like Outstanding Salary, Prepaid Rent.</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755576" y="3525056"/>
            <a:ext cx="7776864" cy="400110"/>
          </a:xfrm>
          <a:prstGeom prst="rect">
            <a:avLst/>
          </a:prstGeom>
        </p:spPr>
        <p:txBody>
          <a:bodyPr wrap="square">
            <a:spAutoFit/>
          </a:bodyPr>
          <a:lstStyle/>
          <a:p>
            <a:r>
              <a:rPr lang="en-IN" sz="2000" dirty="0"/>
              <a:t>				</a:t>
            </a:r>
            <a:endParaRPr lang="en-IN" sz="2000" dirty="0"/>
          </a:p>
        </p:txBody>
      </p:sp>
      <p:sp>
        <p:nvSpPr>
          <p:cNvPr id="5" name="Rounded Rectangle 4"/>
          <p:cNvSpPr/>
          <p:nvPr/>
        </p:nvSpPr>
        <p:spPr>
          <a:xfrm>
            <a:off x="755576" y="2924944"/>
            <a:ext cx="1872208" cy="55201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Natural Person</a:t>
            </a:r>
            <a:endParaRPr lang="en-IN" dirty="0">
              <a:solidFill>
                <a:schemeClr val="tx1"/>
              </a:solidFill>
            </a:endParaRPr>
          </a:p>
        </p:txBody>
      </p:sp>
      <p:sp>
        <p:nvSpPr>
          <p:cNvPr id="6" name="Rounded Rectangle 5"/>
          <p:cNvSpPr/>
          <p:nvPr/>
        </p:nvSpPr>
        <p:spPr>
          <a:xfrm>
            <a:off x="2843808" y="2924944"/>
            <a:ext cx="1872208" cy="55201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Artificial Person</a:t>
            </a:r>
            <a:endParaRPr lang="en-IN" dirty="0">
              <a:solidFill>
                <a:schemeClr val="tx1"/>
              </a:solidFill>
            </a:endParaRPr>
          </a:p>
        </p:txBody>
      </p:sp>
      <p:sp>
        <p:nvSpPr>
          <p:cNvPr id="9" name="AutoShape 2" descr="boy cartoon face 19006215 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0" name="AutoShape 4" descr="boy cartoon face 19006215 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1" name="AutoShape 6" descr="boy cartoon face 19006215 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2" name="Rounded Rectangle 11"/>
          <p:cNvSpPr/>
          <p:nvPr/>
        </p:nvSpPr>
        <p:spPr>
          <a:xfrm>
            <a:off x="4932040" y="2924944"/>
            <a:ext cx="2664296" cy="55201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Representative Person</a:t>
            </a:r>
            <a:endParaRPr lang="en-IN" dirty="0">
              <a:solidFill>
                <a:schemeClr val="tx1"/>
              </a:solidFill>
            </a:endParaRPr>
          </a:p>
        </p:txBody>
      </p:sp>
      <p:pic>
        <p:nvPicPr>
          <p:cNvPr id="8" name="Picture 7"/>
          <p:cNvPicPr>
            <a:picLocks noChangeAspect="1"/>
          </p:cNvPicPr>
          <p:nvPr/>
        </p:nvPicPr>
        <p:blipFill rotWithShape="1">
          <a:blip r:embed="rId1"/>
          <a:srcRect l="27586" t="43109" r="66326" b="39393"/>
          <a:stretch>
            <a:fillRect/>
          </a:stretch>
        </p:blipFill>
        <p:spPr>
          <a:xfrm>
            <a:off x="783527" y="3525056"/>
            <a:ext cx="692129" cy="1118456"/>
          </a:xfrm>
          <a:prstGeom prst="rect">
            <a:avLst/>
          </a:prstGeom>
        </p:spPr>
      </p:pic>
      <p:pic>
        <p:nvPicPr>
          <p:cNvPr id="13" name="Picture 12"/>
          <p:cNvPicPr>
            <a:picLocks noChangeAspect="1"/>
          </p:cNvPicPr>
          <p:nvPr/>
        </p:nvPicPr>
        <p:blipFill rotWithShape="1">
          <a:blip r:embed="rId1"/>
          <a:srcRect l="36994" t="43872" r="56365" b="39393"/>
          <a:stretch>
            <a:fillRect/>
          </a:stretch>
        </p:blipFill>
        <p:spPr>
          <a:xfrm>
            <a:off x="1632937" y="3553771"/>
            <a:ext cx="778823" cy="1103333"/>
          </a:xfrm>
          <a:prstGeom prst="rect">
            <a:avLst/>
          </a:prstGeom>
        </p:spPr>
      </p:pic>
      <p:sp>
        <p:nvSpPr>
          <p:cNvPr id="14" name="Rectangle 13"/>
          <p:cNvSpPr/>
          <p:nvPr/>
        </p:nvSpPr>
        <p:spPr>
          <a:xfrm>
            <a:off x="707616" y="4659585"/>
            <a:ext cx="862159" cy="276999"/>
          </a:xfrm>
          <a:prstGeom prst="rect">
            <a:avLst/>
          </a:prstGeom>
        </p:spPr>
        <p:txBody>
          <a:bodyPr wrap="none">
            <a:spAutoFit/>
          </a:bodyPr>
          <a:lstStyle/>
          <a:p>
            <a:r>
              <a:rPr lang="en-US" sz="1200" b="1" dirty="0"/>
              <a:t>Rajesh A/c</a:t>
            </a:r>
            <a:endParaRPr lang="en-IN" sz="1200" b="1" dirty="0"/>
          </a:p>
        </p:txBody>
      </p:sp>
      <p:sp>
        <p:nvSpPr>
          <p:cNvPr id="15" name="Rectangle 14"/>
          <p:cNvSpPr/>
          <p:nvPr/>
        </p:nvSpPr>
        <p:spPr>
          <a:xfrm>
            <a:off x="1619672" y="4643512"/>
            <a:ext cx="835229" cy="276999"/>
          </a:xfrm>
          <a:prstGeom prst="rect">
            <a:avLst/>
          </a:prstGeom>
        </p:spPr>
        <p:txBody>
          <a:bodyPr wrap="none">
            <a:spAutoFit/>
          </a:bodyPr>
          <a:lstStyle/>
          <a:p>
            <a:r>
              <a:rPr lang="en-US" sz="1200" b="1" dirty="0"/>
              <a:t>Sujata A/c</a:t>
            </a:r>
            <a:endParaRPr lang="en-IN" sz="1200" b="1" dirty="0"/>
          </a:p>
        </p:txBody>
      </p:sp>
      <p:pic>
        <p:nvPicPr>
          <p:cNvPr id="16" name="Picture 15" descr="&lt;strong&gt;Amazon Logo&lt;/strong&gt; - Download Free 3D model by Yanez Designs (@Yanez-Designs ..."/>
          <p:cNvPicPr>
            <a:picLocks noChangeAspect="1"/>
          </p:cNvPicPr>
          <p:nvPr/>
        </p:nvPicPr>
        <p:blipFill rotWithShape="1">
          <a:blip r:embed="rId2" cstate="print">
            <a:extLst>
              <a:ext uri="{28A0092B-C50C-407E-A947-70E740481C1C}">
                <a14:useLocalDpi xmlns:a14="http://schemas.microsoft.com/office/drawing/2010/main" val="0"/>
              </a:ext>
            </a:extLst>
          </a:blip>
          <a:srcRect l="28571" t="13859" r="28571" b="18417"/>
          <a:stretch>
            <a:fillRect/>
          </a:stretch>
        </p:blipFill>
        <p:spPr>
          <a:xfrm>
            <a:off x="2865537" y="3637134"/>
            <a:ext cx="648072" cy="576064"/>
          </a:xfrm>
          <a:prstGeom prst="rect">
            <a:avLst/>
          </a:prstGeom>
        </p:spPr>
      </p:pic>
      <p:pic>
        <p:nvPicPr>
          <p:cNvPr id="17" name="Picture 16" descr="Registration - ACM e-Energy 2019"/>
          <p:cNvPicPr>
            <a:picLocks noChangeAspect="1"/>
          </p:cNvPicPr>
          <p:nvPr/>
        </p:nvPicPr>
        <p:blipFill rotWithShape="1">
          <a:blip r:embed="rId3" cstate="print">
            <a:extLst>
              <a:ext uri="{28A0092B-C50C-407E-A947-70E740481C1C}">
                <a14:useLocalDpi xmlns:a14="http://schemas.microsoft.com/office/drawing/2010/main" val="0"/>
              </a:ext>
            </a:extLst>
          </a:blip>
          <a:srcRect l="20540" t="10364" r="21169" b="4482"/>
          <a:stretch>
            <a:fillRect/>
          </a:stretch>
        </p:blipFill>
        <p:spPr>
          <a:xfrm>
            <a:off x="3635896" y="3679463"/>
            <a:ext cx="904865" cy="365797"/>
          </a:xfrm>
          <a:prstGeom prst="rect">
            <a:avLst/>
          </a:prstGeom>
        </p:spPr>
      </p:pic>
      <p:pic>
        <p:nvPicPr>
          <p:cNvPr id="19" name="Picture 18" descr="IJARIIE Peer Review, Open Access and UGC Approved Journal"/>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92042" y="4222326"/>
            <a:ext cx="1923974" cy="407056"/>
          </a:xfrm>
          <a:prstGeom prst="rect">
            <a:avLst/>
          </a:prstGeom>
        </p:spPr>
      </p:pic>
      <p:pic>
        <p:nvPicPr>
          <p:cNvPr id="20" name="Picture 19" descr="Factory Creative Vector Design Chimney Icon Transparent HQ &lt;strong&gt;PNG&lt;/strong&gt; Download ..."/>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41953" y="4678808"/>
            <a:ext cx="1341344" cy="1341344"/>
          </a:xfrm>
          <a:prstGeom prst="rect">
            <a:avLst/>
          </a:prstGeom>
        </p:spPr>
      </p:pic>
      <p:pic>
        <p:nvPicPr>
          <p:cNvPr id="21" name="Picture 20" descr="Download Factory HQ Image Free &lt;strong&gt;PNG&lt;/strong&gt; HQ &lt;strong&gt;PNG&lt;/strong&gt; Image | FreePNGIm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35896" y="4537732"/>
            <a:ext cx="1472952" cy="1472952"/>
          </a:xfrm>
          <a:prstGeom prst="rect">
            <a:avLst/>
          </a:prstGeom>
        </p:spPr>
      </p:pic>
      <p:pic>
        <p:nvPicPr>
          <p:cNvPr id="22" name="Picture 21"/>
          <p:cNvPicPr/>
          <p:nvPr/>
        </p:nvPicPr>
        <p:blipFill rotWithShape="1">
          <a:blip r:embed="rId7">
            <a:extLst>
              <a:ext uri="{28A0092B-C50C-407E-A947-70E740481C1C}">
                <a14:useLocalDpi xmlns:a14="http://schemas.microsoft.com/office/drawing/2010/main" val="0"/>
              </a:ext>
            </a:extLst>
          </a:blip>
          <a:srcRect l="80153" t="43969" r="8541" b="23867"/>
          <a:stretch>
            <a:fillRect/>
          </a:stretch>
        </p:blipFill>
        <p:spPr>
          <a:xfrm>
            <a:off x="5410667" y="3622312"/>
            <a:ext cx="1249565" cy="1750904"/>
          </a:xfrm>
          <a:prstGeom prst="rect">
            <a:avLst/>
          </a:prstGeom>
        </p:spPr>
      </p:pic>
      <p:sp>
        <p:nvSpPr>
          <p:cNvPr id="23" name="Rectangle 22"/>
          <p:cNvSpPr/>
          <p:nvPr/>
        </p:nvSpPr>
        <p:spPr>
          <a:xfrm>
            <a:off x="783527" y="2483604"/>
            <a:ext cx="2638223" cy="369332"/>
          </a:xfrm>
          <a:prstGeom prst="rect">
            <a:avLst/>
          </a:prstGeom>
        </p:spPr>
        <p:txBody>
          <a:bodyPr wrap="none">
            <a:spAutoFit/>
          </a:bodyPr>
          <a:lstStyle/>
          <a:p>
            <a:r>
              <a:rPr lang="en-US" dirty="0"/>
              <a:t>Types of Personal Account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P spid="6" grpId="0" animBg="1"/>
      <p:bldP spid="12" grpId="0" animBg="1"/>
      <p:bldP spid="14" grpId="0"/>
      <p:bldP spid="15"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36240" y="620688"/>
            <a:ext cx="8229600" cy="576064"/>
          </a:xfrm>
        </p:spPr>
        <p:txBody>
          <a:bodyPr/>
          <a:lstStyle/>
          <a:p>
            <a:r>
              <a:rPr lang="en-US" sz="3200" b="1" dirty="0">
                <a:latin typeface="Times New Roman" panose="02020603050405020304" pitchFamily="18" charset="0"/>
                <a:cs typeface="Times New Roman" panose="02020603050405020304" pitchFamily="18" charset="0"/>
              </a:rPr>
              <a:t>Nominal Account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3752" y="1196752"/>
            <a:ext cx="8229600" cy="1972816"/>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As per the golden rules of accounting, Nominal accounts include those accounts that are related to all expenses/losses and incomes/gains like Salary, Wages, Purchases, Electricity bill, Sales, Commission Received, Transportation charges, Rent Etc.</a:t>
            </a:r>
            <a:endParaRPr lang="en-IN" sz="24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683568" y="3356992"/>
            <a:ext cx="1296144"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Expenses</a:t>
            </a:r>
            <a:endParaRPr lang="en-IN" b="1" dirty="0"/>
          </a:p>
        </p:txBody>
      </p:sp>
      <p:sp>
        <p:nvSpPr>
          <p:cNvPr id="5" name="Rounded Rectangle 4"/>
          <p:cNvSpPr/>
          <p:nvPr/>
        </p:nvSpPr>
        <p:spPr>
          <a:xfrm>
            <a:off x="2699792" y="3356992"/>
            <a:ext cx="1296144"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Incomes</a:t>
            </a:r>
            <a:endParaRPr lang="en-IN" b="1" dirty="0"/>
          </a:p>
        </p:txBody>
      </p:sp>
      <p:sp>
        <p:nvSpPr>
          <p:cNvPr id="6" name="Rounded Rectangle 5"/>
          <p:cNvSpPr/>
          <p:nvPr/>
        </p:nvSpPr>
        <p:spPr>
          <a:xfrm>
            <a:off x="4644008" y="3341464"/>
            <a:ext cx="1296144"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Losses</a:t>
            </a:r>
            <a:endParaRPr lang="en-IN" b="1" dirty="0"/>
          </a:p>
        </p:txBody>
      </p:sp>
      <p:sp>
        <p:nvSpPr>
          <p:cNvPr id="7" name="Rounded Rectangle 6"/>
          <p:cNvSpPr/>
          <p:nvPr/>
        </p:nvSpPr>
        <p:spPr>
          <a:xfrm>
            <a:off x="6588224" y="3356992"/>
            <a:ext cx="1440160"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Gains/Profit</a:t>
            </a:r>
            <a:endParaRPr lang="en-IN" b="1" dirty="0"/>
          </a:p>
        </p:txBody>
      </p:sp>
      <p:sp>
        <p:nvSpPr>
          <p:cNvPr id="8" name="Rectangle 7"/>
          <p:cNvSpPr/>
          <p:nvPr/>
        </p:nvSpPr>
        <p:spPr>
          <a:xfrm>
            <a:off x="539552" y="4013844"/>
            <a:ext cx="1728192" cy="1814830"/>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Salary, Wages,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Purchases,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Electricity bill,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Advertisement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Transportation charges,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Rent Paid, Etc.</a:t>
            </a:r>
            <a:endParaRPr lang="en-IN" sz="16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555776" y="4048472"/>
            <a:ext cx="2304256" cy="1322070"/>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Sales,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Commission Received,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Rent received,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Discount Received</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Interest Received Etc.</a:t>
            </a:r>
            <a:endParaRPr lang="en-IN" sz="16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4644008" y="4027884"/>
            <a:ext cx="1349896" cy="1814830"/>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Loss on sale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of an asset,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Loss by Theft,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Loss by fire,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loss by an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accident, Etc.</a:t>
            </a:r>
            <a:endParaRPr lang="en-IN" sz="16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6555804" y="4050565"/>
            <a:ext cx="1778635" cy="645160"/>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Profit on sale of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an asset, Etc.</a:t>
            </a:r>
            <a:endParaRPr lang="en-I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randombar(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randombar(horizontal)">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randombar(horizont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5" grpId="0" animBg="1"/>
      <p:bldP spid="6" grpId="0" animBg="1"/>
      <p:bldP spid="7" grpId="0" animBg="1"/>
      <p:bldP spid="8"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nvGraphicFramePr>
        <p:xfrm>
          <a:off x="640080" y="381000"/>
          <a:ext cx="7863840" cy="5923280"/>
        </p:xfrm>
        <a:graphic>
          <a:graphicData uri="http://schemas.openxmlformats.org/drawingml/2006/table">
            <a:tbl>
              <a:tblPr/>
              <a:tblGrid>
                <a:gridCol w="2621280"/>
                <a:gridCol w="2621280"/>
                <a:gridCol w="2621280"/>
              </a:tblGrid>
              <a:tr h="538480">
                <a:tc>
                  <a:txBody>
                    <a:bodyPr/>
                    <a:p>
                      <a:pPr algn="ctr"/>
                      <a:r>
                        <a:rPr sz="2000">
                          <a:solidFill>
                            <a:schemeClr val="tx1"/>
                          </a:solidFill>
                          <a:latin typeface="Times New Roman" panose="02020603050405020304" pitchFamily="18" charset="0"/>
                          <a:cs typeface="Times New Roman" panose="02020603050405020304" pitchFamily="18" charset="0"/>
                        </a:rPr>
                        <a:t>Real Accounts</a:t>
                      </a:r>
                      <a:endParaRPr sz="2000">
                        <a:solidFill>
                          <a:schemeClr val="tx1"/>
                        </a:solidFill>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4">
                        <a:lumMod val="20000"/>
                        <a:lumOff val="80000"/>
                      </a:schemeClr>
                    </a:solidFill>
                  </a:tcPr>
                </a:tc>
                <a:tc>
                  <a:txBody>
                    <a:bodyPr/>
                    <a:p>
                      <a:pPr algn="ctr"/>
                      <a:r>
                        <a:rPr sz="2000">
                          <a:solidFill>
                            <a:schemeClr val="tx1"/>
                          </a:solidFill>
                          <a:latin typeface="Times New Roman" panose="02020603050405020304" pitchFamily="18" charset="0"/>
                          <a:cs typeface="Times New Roman" panose="02020603050405020304" pitchFamily="18" charset="0"/>
                        </a:rPr>
                        <a:t>Personal Accounts</a:t>
                      </a:r>
                      <a:endParaRPr sz="2000">
                        <a:solidFill>
                          <a:schemeClr val="tx1"/>
                        </a:solidFill>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4">
                        <a:lumMod val="20000"/>
                        <a:lumOff val="80000"/>
                      </a:schemeClr>
                    </a:solidFill>
                  </a:tcPr>
                </a:tc>
                <a:tc>
                  <a:txBody>
                    <a:bodyPr/>
                    <a:p>
                      <a:pPr algn="ctr"/>
                      <a:r>
                        <a:rPr sz="2000">
                          <a:solidFill>
                            <a:schemeClr val="tx1"/>
                          </a:solidFill>
                          <a:latin typeface="Times New Roman" panose="02020603050405020304" pitchFamily="18" charset="0"/>
                          <a:cs typeface="Times New Roman" panose="02020603050405020304" pitchFamily="18" charset="0"/>
                        </a:rPr>
                        <a:t>Nominal Accounts</a:t>
                      </a:r>
                      <a:endParaRPr sz="2000">
                        <a:solidFill>
                          <a:schemeClr val="tx1"/>
                        </a:solidFill>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4">
                        <a:lumMod val="20000"/>
                        <a:lumOff val="80000"/>
                      </a:schemeClr>
                    </a:solidFill>
                  </a:tcPr>
                </a:tc>
              </a:tr>
              <a:tr h="538480">
                <a:tc>
                  <a:txBody>
                    <a:bodyPr/>
                    <a:p>
                      <a:pPr algn="ctr"/>
                      <a:r>
                        <a:rPr sz="2000">
                          <a:latin typeface="Times New Roman" panose="02020603050405020304" pitchFamily="18" charset="0"/>
                          <a:cs typeface="Times New Roman" panose="02020603050405020304" pitchFamily="18" charset="0"/>
                        </a:rPr>
                        <a:t>Cash</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Raj's Account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Salary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Land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Priya's Account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Rent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Furniture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HDFC Bank</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Commission Received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Building</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XYZ Ltd.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Interest Received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Machinery</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Creditors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Discount Allowed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Computers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Debtors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Discount Received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Stock (Inventory)</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Capital Account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Electricity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Patent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Suppliers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Insurance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Goodwill</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Customers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Sales Revenue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Vehicle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State Bank of India</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Wages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457200" y="274955"/>
            <a:ext cx="8229600" cy="653415"/>
          </a:xfrm>
        </p:spPr>
        <p:txBody>
          <a:bodyPr/>
          <a:p>
            <a:r>
              <a:rPr lang="en-US" altLang="en-US" sz="2400">
                <a:latin typeface="Times New Roman" panose="02020603050405020304" pitchFamily="18" charset="0"/>
                <a:cs typeface="Times New Roman" panose="02020603050405020304" pitchFamily="18" charset="0"/>
              </a:rPr>
              <a:t>Identify whether each account is Real, Personal, or Nominal.</a:t>
            </a:r>
            <a:endParaRPr lang="en-US" altLang="en-US" sz="24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685800"/>
            <a:ext cx="8229600" cy="6027420"/>
          </a:xfrm>
        </p:spPr>
        <p:txBody>
          <a:bodyPr/>
          <a:p>
            <a:pPr marL="0" indent="0">
              <a:buNone/>
            </a:pPr>
            <a:r>
              <a:rPr lang="en-US" altLang="en-US" sz="2000">
                <a:latin typeface="Times New Roman" panose="02020603050405020304" pitchFamily="18" charset="0"/>
                <a:cs typeface="Times New Roman" panose="02020603050405020304" pitchFamily="18" charset="0"/>
              </a:rPr>
              <a:t>1	Cash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2	Purchases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3	Rent Expense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4	Machinery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5	Rahul's Account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6	Sales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7	Furniture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8	Wages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9	State Bank Account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10	Goodwill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11	Commission Received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12	Building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13	Creditors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14	Electricity Expense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15	Patent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16	Debtors	_________</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42035" y="585470"/>
            <a:ext cx="7611110" cy="5121275"/>
          </a:xfrm>
          <a:prstGeom prst="rect">
            <a:avLst/>
          </a:prstGeom>
          <a:noFill/>
        </p:spPr>
        <p:txBody>
          <a:bodyPr wrap="square" rtlCol="0" anchor="t">
            <a:noAutofit/>
          </a:bodyPr>
          <a:p>
            <a:r>
              <a:rPr lang="en-US" altLang="en-US" sz="2400">
                <a:latin typeface="Times New Roman" panose="02020603050405020304" pitchFamily="18" charset="0"/>
                <a:cs typeface="Times New Roman" panose="02020603050405020304" pitchFamily="18" charset="0"/>
                <a:sym typeface="+mn-ea"/>
              </a:rPr>
              <a:t>17	Insurance Expense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18	Land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19	Interest Received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20	ABC Traders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21	Motor Vehicle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22	Salaries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23	Capital Account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24	Stock (Inventory)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25	Discount Allowed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26	Discount Received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27	Computers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28	Bank Loan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29	Printing Expense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30	Purchase Returns</a:t>
            </a:r>
            <a:endParaRPr lang="en-US"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572" y="620688"/>
            <a:ext cx="8229600" cy="778098"/>
          </a:xfrm>
        </p:spPr>
        <p:txBody>
          <a:bodyPr/>
          <a:lstStyle/>
          <a:p>
            <a:r>
              <a:rPr lang="en-US" sz="4000" b="1" dirty="0">
                <a:solidFill>
                  <a:srgbClr val="FF0000"/>
                </a:solidFill>
                <a:latin typeface="Times New Roman" panose="02020603050405020304" pitchFamily="18" charset="0"/>
                <a:cs typeface="Times New Roman" panose="02020603050405020304" pitchFamily="18" charset="0"/>
              </a:rPr>
              <a:t>Rules of Account</a:t>
            </a:r>
            <a:endParaRPr lang="en-IN" sz="4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457200" y="1600200"/>
          <a:ext cx="8229600" cy="2600325"/>
        </p:xfrm>
        <a:graphic>
          <a:graphicData uri="http://schemas.openxmlformats.org/drawingml/2006/table">
            <a:tbl>
              <a:tblPr firstRow="1" bandRow="1">
                <a:tableStyleId>{21E4AEA4-8DFA-4A89-87EB-49C32662AFE0}</a:tableStyleId>
              </a:tblPr>
              <a:tblGrid>
                <a:gridCol w="2743200"/>
                <a:gridCol w="2743200"/>
                <a:gridCol w="2743200"/>
              </a:tblGrid>
              <a:tr h="560070">
                <a:tc>
                  <a:txBody>
                    <a:bodyPr/>
                    <a:lstStyle/>
                    <a:p>
                      <a:pPr algn="ctr"/>
                      <a:r>
                        <a:rPr lang="en-US" sz="2800" dirty="0">
                          <a:latin typeface="Times New Roman" panose="02020603050405020304" pitchFamily="18" charset="0"/>
                          <a:cs typeface="Times New Roman" panose="02020603050405020304" pitchFamily="18" charset="0"/>
                        </a:rPr>
                        <a:t>Types of Account</a:t>
                      </a:r>
                      <a:r>
                        <a:rPr lang="en-US" sz="2800" baseline="0" dirty="0">
                          <a:latin typeface="Times New Roman" panose="02020603050405020304" pitchFamily="18" charset="0"/>
                          <a:cs typeface="Times New Roman" panose="02020603050405020304" pitchFamily="18" charset="0"/>
                        </a:rPr>
                        <a:t> </a:t>
                      </a:r>
                      <a:endParaRPr lang="en-US" sz="2800" baseline="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Debit</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Credit</a:t>
                      </a:r>
                      <a:endParaRPr lang="en-US" sz="2800" dirty="0">
                        <a:latin typeface="Times New Roman" panose="02020603050405020304" pitchFamily="18" charset="0"/>
                        <a:cs typeface="Times New Roman" panose="02020603050405020304" pitchFamily="18" charset="0"/>
                      </a:endParaRPr>
                    </a:p>
                  </a:txBody>
                  <a:tcPr/>
                </a:tc>
              </a:tr>
              <a:tr h="560070">
                <a:tc>
                  <a:txBody>
                    <a:bodyPr/>
                    <a:lstStyle/>
                    <a:p>
                      <a:r>
                        <a:rPr lang="en-US" sz="2800" dirty="0">
                          <a:latin typeface="Times New Roman" panose="02020603050405020304" pitchFamily="18" charset="0"/>
                          <a:cs typeface="Times New Roman" panose="02020603050405020304" pitchFamily="18" charset="0"/>
                        </a:rPr>
                        <a:t>Personal A/c</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The Receiver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The Giver</a:t>
                      </a:r>
                      <a:endParaRPr lang="en-US" sz="2800" dirty="0">
                        <a:latin typeface="Times New Roman" panose="02020603050405020304" pitchFamily="18" charset="0"/>
                        <a:cs typeface="Times New Roman" panose="02020603050405020304" pitchFamily="18" charset="0"/>
                      </a:endParaRPr>
                    </a:p>
                  </a:txBody>
                  <a:tcPr/>
                </a:tc>
              </a:tr>
              <a:tr h="560070">
                <a:tc>
                  <a:txBody>
                    <a:bodyPr/>
                    <a:lstStyle/>
                    <a:p>
                      <a:r>
                        <a:rPr lang="en-US" sz="2800" dirty="0">
                          <a:latin typeface="Times New Roman" panose="02020603050405020304" pitchFamily="18" charset="0"/>
                          <a:cs typeface="Times New Roman" panose="02020603050405020304" pitchFamily="18" charset="0"/>
                        </a:rPr>
                        <a:t>Real A/c</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What Comes In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What Goes Out</a:t>
                      </a:r>
                      <a:endParaRPr lang="en-US" sz="2800" dirty="0">
                        <a:latin typeface="Times New Roman" panose="02020603050405020304" pitchFamily="18" charset="0"/>
                        <a:cs typeface="Times New Roman" panose="02020603050405020304" pitchFamily="18" charset="0"/>
                      </a:endParaRPr>
                    </a:p>
                  </a:txBody>
                  <a:tcPr/>
                </a:tc>
              </a:tr>
              <a:tr h="560070">
                <a:tc>
                  <a:txBody>
                    <a:bodyPr/>
                    <a:lstStyle/>
                    <a:p>
                      <a:r>
                        <a:rPr lang="en-US" sz="2800" dirty="0">
                          <a:latin typeface="Times New Roman" panose="02020603050405020304" pitchFamily="18" charset="0"/>
                          <a:cs typeface="Times New Roman" panose="02020603050405020304" pitchFamily="18" charset="0"/>
                        </a:rPr>
                        <a:t>Nominal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All Expenses and Losses</a:t>
                      </a:r>
                      <a:r>
                        <a:rPr lang="en-US" sz="2800" baseline="0" dirty="0">
                          <a:latin typeface="Times New Roman" panose="02020603050405020304" pitchFamily="18" charset="0"/>
                          <a:cs typeface="Times New Roman" panose="02020603050405020304" pitchFamily="18" charset="0"/>
                        </a:rPr>
                        <a:t> </a:t>
                      </a:r>
                      <a:endParaRPr lang="en-US" sz="2800" baseline="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All Income and Gains</a:t>
                      </a:r>
                      <a:endParaRPr lang="en-US" sz="28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IN" b="1" dirty="0">
                <a:latin typeface="Times New Roman" panose="02020603050405020304" pitchFamily="18" charset="0"/>
                <a:cs typeface="Times New Roman" panose="02020603050405020304" pitchFamily="18" charset="0"/>
              </a:rPr>
              <a:t>Journal Entry</a:t>
            </a:r>
            <a:br>
              <a:rPr lang="en-IN" b="1" dirty="0"/>
            </a:br>
            <a:r>
              <a:rPr lang="en-US" dirty="0"/>
              <a:t> </a:t>
            </a:r>
            <a:endParaRPr lang="en-IN" dirty="0"/>
          </a:p>
        </p:txBody>
      </p:sp>
      <p:sp>
        <p:nvSpPr>
          <p:cNvPr id="3" name="Content Placeholder 2"/>
          <p:cNvSpPr>
            <a:spLocks noGrp="1"/>
          </p:cNvSpPr>
          <p:nvPr>
            <p:ph idx="1"/>
          </p:nvPr>
        </p:nvSpPr>
        <p:spPr>
          <a:xfrm>
            <a:off x="489992" y="980728"/>
            <a:ext cx="8229600" cy="3312368"/>
          </a:xfrm>
        </p:spPr>
        <p:txBody>
          <a:bodyPr/>
          <a:lstStyle/>
          <a:p>
            <a:pPr algn="just"/>
            <a:r>
              <a:rPr lang="en-US" sz="2000" dirty="0">
                <a:latin typeface="Times New Roman" panose="02020603050405020304" pitchFamily="18" charset="0"/>
                <a:cs typeface="Times New Roman" panose="02020603050405020304" pitchFamily="18" charset="0"/>
              </a:rPr>
              <a:t>Journal is a book in which all the transactions of a business are recorded for the first time. Every transaction affects two accounts, one is debited and the other one is credited. ‘Debit’ (Dr.) and ‘Credit’ (Cr,) are the two terms or signs used to denote the financial effect of any transaction. The format of Journal Entry is prepared with 5 columns starting from Date, Particulars, Ledger Folio (LF), Debit Amount &amp; Credit Amount. </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word ‘journal’ has been derived from the French word ‘JOUR’ meaning daily records. Journal Book is maintained to have prime records for small firms. After preparing the journal book, the transactions are then posted to Ledger.</a:t>
            </a:r>
            <a:endParaRPr lang="en-IN" sz="20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1619672" y="4293096"/>
          <a:ext cx="6096000" cy="2011680"/>
        </p:xfrm>
        <a:graphic>
          <a:graphicData uri="http://schemas.openxmlformats.org/drawingml/2006/table">
            <a:tbl>
              <a:tblPr firstRow="1" bandRow="1">
                <a:tableStyleId>{5C22544A-7EE6-4342-B048-85BDC9FD1C3A}</a:tableStyleId>
              </a:tblPr>
              <a:tblGrid>
                <a:gridCol w="1219200"/>
                <a:gridCol w="3029272"/>
                <a:gridCol w="360040"/>
                <a:gridCol w="720080"/>
                <a:gridCol w="767408"/>
              </a:tblGrid>
              <a:tr h="487958">
                <a:tc>
                  <a:txBody>
                    <a:bodyPr/>
                    <a:lstStyle/>
                    <a:p>
                      <a:r>
                        <a:rPr lang="en-US" sz="1800" dirty="0"/>
                        <a:t>Date</a:t>
                      </a:r>
                      <a:endParaRPr lang="en-IN" sz="1800" dirty="0"/>
                    </a:p>
                  </a:txBody>
                  <a:tcPr/>
                </a:tc>
                <a:tc>
                  <a:txBody>
                    <a:bodyPr/>
                    <a:lstStyle/>
                    <a:p>
                      <a:r>
                        <a:rPr lang="en-US" sz="1800" dirty="0"/>
                        <a:t>Particulars</a:t>
                      </a:r>
                      <a:r>
                        <a:rPr lang="en-US" sz="1800" baseline="0" dirty="0"/>
                        <a:t> </a:t>
                      </a:r>
                      <a:endParaRPr lang="en-IN" sz="1800" dirty="0"/>
                    </a:p>
                  </a:txBody>
                  <a:tcPr/>
                </a:tc>
                <a:tc>
                  <a:txBody>
                    <a:bodyPr/>
                    <a:lstStyle/>
                    <a:p>
                      <a:r>
                        <a:rPr lang="en-US" sz="1800" dirty="0"/>
                        <a:t>L.F</a:t>
                      </a:r>
                      <a:endParaRPr lang="en-IN" sz="1800" dirty="0"/>
                    </a:p>
                  </a:txBody>
                  <a:tcPr/>
                </a:tc>
                <a:tc>
                  <a:txBody>
                    <a:bodyPr/>
                    <a:lstStyle/>
                    <a:p>
                      <a:r>
                        <a:rPr lang="en-US" sz="1800" dirty="0" err="1"/>
                        <a:t>Dr</a:t>
                      </a:r>
                      <a:endParaRPr lang="en-US" sz="1800" dirty="0"/>
                    </a:p>
                    <a:p>
                      <a:r>
                        <a:rPr lang="en-US" sz="1800" dirty="0" err="1"/>
                        <a:t>Rs</a:t>
                      </a:r>
                      <a:r>
                        <a:rPr lang="en-US" sz="1800" dirty="0"/>
                        <a:t>.</a:t>
                      </a:r>
                      <a:endParaRPr lang="en-IN" sz="1800" dirty="0"/>
                    </a:p>
                  </a:txBody>
                  <a:tcPr/>
                </a:tc>
                <a:tc>
                  <a:txBody>
                    <a:bodyPr/>
                    <a:lstStyle/>
                    <a:p>
                      <a:r>
                        <a:rPr lang="en-US" sz="1800" dirty="0"/>
                        <a:t>Cr.</a:t>
                      </a:r>
                      <a:endParaRPr lang="en-US" sz="1800" dirty="0"/>
                    </a:p>
                    <a:p>
                      <a:r>
                        <a:rPr lang="en-US" sz="1800" dirty="0" err="1"/>
                        <a:t>Rs</a:t>
                      </a:r>
                      <a:r>
                        <a:rPr lang="en-US" sz="1800" dirty="0"/>
                        <a:t>.</a:t>
                      </a:r>
                      <a:endParaRPr lang="en-IN" sz="1800" dirty="0"/>
                    </a:p>
                  </a:txBody>
                  <a:tcPr/>
                </a:tc>
              </a:tr>
              <a:tr h="312464">
                <a:tc>
                  <a:txBody>
                    <a:bodyPr/>
                    <a:lstStyle/>
                    <a:p>
                      <a:r>
                        <a:rPr lang="en-US" sz="1800" dirty="0"/>
                        <a:t>Year</a:t>
                      </a:r>
                      <a:endParaRPr lang="en-IN" sz="1800" dirty="0"/>
                    </a:p>
                  </a:txBody>
                  <a:tcPr/>
                </a:tc>
                <a:tc>
                  <a:txBody>
                    <a:bodyPr/>
                    <a:lstStyle/>
                    <a:p>
                      <a:r>
                        <a:rPr lang="en-US" sz="1800" dirty="0"/>
                        <a:t>Name of A/c Debited………………</a:t>
                      </a:r>
                      <a:r>
                        <a:rPr lang="en-US" sz="1800" dirty="0" err="1"/>
                        <a:t>Dr</a:t>
                      </a:r>
                      <a:endParaRPr lang="en-IN" sz="1800" dirty="0"/>
                    </a:p>
                  </a:txBody>
                  <a:tcPr/>
                </a:tc>
                <a:tc>
                  <a:txBody>
                    <a:bodyPr/>
                    <a:lstStyle/>
                    <a:p>
                      <a:endParaRPr lang="en-IN" sz="1800" dirty="0"/>
                    </a:p>
                  </a:txBody>
                  <a:tcPr/>
                </a:tc>
                <a:tc>
                  <a:txBody>
                    <a:bodyPr/>
                    <a:lstStyle/>
                    <a:p>
                      <a:r>
                        <a:rPr lang="en-US" sz="1800" dirty="0"/>
                        <a:t>------</a:t>
                      </a:r>
                      <a:endParaRPr lang="en-IN" sz="1800" dirty="0"/>
                    </a:p>
                  </a:txBody>
                  <a:tcPr/>
                </a:tc>
                <a:tc>
                  <a:txBody>
                    <a:bodyPr/>
                    <a:lstStyle/>
                    <a:p>
                      <a:endParaRPr lang="en-IN" sz="1800" dirty="0"/>
                    </a:p>
                  </a:txBody>
                  <a:tcPr/>
                </a:tc>
              </a:tr>
              <a:tr h="312464">
                <a:tc>
                  <a:txBody>
                    <a:bodyPr/>
                    <a:lstStyle/>
                    <a:p>
                      <a:endParaRPr lang="en-IN" sz="1800" dirty="0"/>
                    </a:p>
                  </a:txBody>
                  <a:tcPr/>
                </a:tc>
                <a:tc>
                  <a:txBody>
                    <a:bodyPr/>
                    <a:lstStyle/>
                    <a:p>
                      <a:r>
                        <a:rPr lang="en-US" sz="1800" dirty="0"/>
                        <a:t>      To Name of A/c Credited</a:t>
                      </a:r>
                      <a:endParaRPr lang="en-IN" sz="1800" dirty="0"/>
                    </a:p>
                  </a:txBody>
                  <a:tcPr/>
                </a:tc>
                <a:tc>
                  <a:txBody>
                    <a:bodyPr/>
                    <a:lstStyle/>
                    <a:p>
                      <a:endParaRPr lang="en-IN" sz="1800" dirty="0"/>
                    </a:p>
                  </a:txBody>
                  <a:tcPr/>
                </a:tc>
                <a:tc>
                  <a:txBody>
                    <a:bodyPr/>
                    <a:lstStyle/>
                    <a:p>
                      <a:endParaRPr lang="en-IN" sz="1800" dirty="0"/>
                    </a:p>
                  </a:txBody>
                  <a:tcPr/>
                </a:tc>
                <a:tc>
                  <a:txBody>
                    <a:bodyPr/>
                    <a:lstStyle/>
                    <a:p>
                      <a:r>
                        <a:rPr lang="en-US" sz="1800" dirty="0"/>
                        <a:t>………</a:t>
                      </a:r>
                      <a:endParaRPr lang="en-IN" sz="1800" dirty="0"/>
                    </a:p>
                  </a:txBody>
                  <a:tcPr/>
                </a:tc>
              </a:tr>
              <a:tr h="312464">
                <a:tc>
                  <a:txBody>
                    <a:bodyPr/>
                    <a:lstStyle/>
                    <a:p>
                      <a:endParaRPr lang="en-IN" sz="1800" dirty="0"/>
                    </a:p>
                  </a:txBody>
                  <a:tcPr/>
                </a:tc>
                <a:tc>
                  <a:txBody>
                    <a:bodyPr/>
                    <a:lstStyle/>
                    <a:p>
                      <a:r>
                        <a:rPr lang="en-US" sz="1800" dirty="0"/>
                        <a:t>(Being………………………)</a:t>
                      </a:r>
                      <a:endParaRPr lang="en-IN" sz="1800" dirty="0"/>
                    </a:p>
                  </a:txBody>
                  <a:tcPr/>
                </a:tc>
                <a:tc>
                  <a:txBody>
                    <a:bodyPr/>
                    <a:lstStyle/>
                    <a:p>
                      <a:endParaRPr lang="en-IN" sz="1800"/>
                    </a:p>
                  </a:txBody>
                  <a:tcPr/>
                </a:tc>
                <a:tc>
                  <a:txBody>
                    <a:bodyPr/>
                    <a:lstStyle/>
                    <a:p>
                      <a:endParaRPr lang="en-IN" sz="1800"/>
                    </a:p>
                  </a:txBody>
                  <a:tcPr/>
                </a:tc>
                <a:tc>
                  <a:txBody>
                    <a:bodyPr/>
                    <a:lstStyle/>
                    <a:p>
                      <a:endParaRPr lang="en-IN" sz="18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2352" y="1182763"/>
            <a:ext cx="9014143" cy="4334470"/>
          </a:xfrm>
        </p:spPr>
        <p:txBody>
          <a:bodyPr/>
          <a:lstStyle/>
          <a:p>
            <a:r>
              <a:rPr lang="en-US" sz="2000" b="1" dirty="0"/>
              <a:t>D</a:t>
            </a:r>
            <a:r>
              <a:rPr lang="en-US" sz="2000" b="1" dirty="0">
                <a:latin typeface="Times New Roman" panose="02020603050405020304" pitchFamily="18" charset="0"/>
                <a:cs typeface="Times New Roman" panose="02020603050405020304" pitchFamily="18" charset="0"/>
              </a:rPr>
              <a:t>efinition:</a:t>
            </a:r>
            <a:r>
              <a:rPr lang="en-US" sz="2000" dirty="0">
                <a:latin typeface="Times New Roman" panose="02020603050405020304" pitchFamily="18" charset="0"/>
                <a:cs typeface="Times New Roman" panose="02020603050405020304" pitchFamily="18" charset="0"/>
              </a:rPr>
              <a:t> The ledger, also known as the book of final entry, is a collection of accounts that shows the changes made to each account as a result of financial transactions. Each account has a separate page or section in the ledger.</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categorize and summarize the transactions recorded in the journal.</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provide the balances of each account.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help prepare financial statements.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Format:</a:t>
            </a:r>
            <a:r>
              <a:rPr lang="en-US" sz="2000" dirty="0">
                <a:latin typeface="Times New Roman" panose="02020603050405020304" pitchFamily="18" charset="0"/>
                <a:cs typeface="Times New Roman" panose="02020603050405020304" pitchFamily="18" charset="0"/>
              </a:rPr>
              <a:t> A ledger account is often presented in a T-account format:</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1763688" y="548680"/>
            <a:ext cx="5915000" cy="634082"/>
          </a:xfrm>
        </p:spPr>
        <p:txBody>
          <a:bodyPr/>
          <a:lstStyle/>
          <a:p>
            <a:r>
              <a:rPr lang="en-US" sz="3600" b="1" dirty="0">
                <a:latin typeface="Times New Roman" panose="02020603050405020304" pitchFamily="18" charset="0"/>
                <a:cs typeface="Times New Roman" panose="02020603050405020304" pitchFamily="18" charset="0"/>
              </a:rPr>
              <a:t>Ledger</a:t>
            </a:r>
            <a:endParaRPr lang="en-IN" sz="360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8031" y="4149080"/>
          <a:ext cx="8988464" cy="2494280"/>
        </p:xfrm>
        <a:graphic>
          <a:graphicData uri="http://schemas.openxmlformats.org/drawingml/2006/table">
            <a:tbl>
              <a:tblPr firstRow="1" bandRow="1">
                <a:tableStyleId>{5C22544A-7EE6-4342-B048-85BDC9FD1C3A}</a:tableStyleId>
              </a:tblPr>
              <a:tblGrid>
                <a:gridCol w="851561"/>
                <a:gridCol w="2016224"/>
                <a:gridCol w="502889"/>
                <a:gridCol w="793255"/>
                <a:gridCol w="864096"/>
                <a:gridCol w="2376264"/>
                <a:gridCol w="460617"/>
                <a:gridCol w="1123558"/>
              </a:tblGrid>
              <a:tr h="370840">
                <a:tc>
                  <a:txBody>
                    <a:bodyPr/>
                    <a:lstStyle/>
                    <a:p>
                      <a:r>
                        <a:rPr lang="en-US" dirty="0"/>
                        <a:t>Date</a:t>
                      </a:r>
                      <a:endParaRPr lang="en-IN" dirty="0"/>
                    </a:p>
                  </a:txBody>
                  <a:tcPr/>
                </a:tc>
                <a:tc>
                  <a:txBody>
                    <a:bodyPr/>
                    <a:lstStyle/>
                    <a:p>
                      <a:r>
                        <a:rPr lang="en-US" dirty="0"/>
                        <a:t>Particulars</a:t>
                      </a:r>
                      <a:endParaRPr lang="en-IN" dirty="0"/>
                    </a:p>
                  </a:txBody>
                  <a:tcPr/>
                </a:tc>
                <a:tc>
                  <a:txBody>
                    <a:bodyPr/>
                    <a:lstStyle/>
                    <a:p>
                      <a:r>
                        <a:rPr lang="en-US" dirty="0"/>
                        <a:t>J.F</a:t>
                      </a:r>
                      <a:endParaRPr lang="en-IN" dirty="0"/>
                    </a:p>
                  </a:txBody>
                  <a:tcPr/>
                </a:tc>
                <a:tc>
                  <a:txBody>
                    <a:bodyPr/>
                    <a:lstStyle/>
                    <a:p>
                      <a:r>
                        <a:rPr lang="en-US" dirty="0" err="1"/>
                        <a:t>Amt</a:t>
                      </a:r>
                      <a:endParaRPr lang="en-IN" dirty="0"/>
                    </a:p>
                  </a:txBody>
                  <a:tcPr/>
                </a:tc>
                <a:tc>
                  <a:txBody>
                    <a:bodyPr/>
                    <a:lstStyle/>
                    <a:p>
                      <a:r>
                        <a:rPr lang="en-US" dirty="0"/>
                        <a:t>Date</a:t>
                      </a:r>
                      <a:endParaRPr lang="en-IN" dirty="0"/>
                    </a:p>
                  </a:txBody>
                  <a:tcPr/>
                </a:tc>
                <a:tc>
                  <a:txBody>
                    <a:bodyPr/>
                    <a:lstStyle/>
                    <a:p>
                      <a:r>
                        <a:rPr lang="en-US" dirty="0"/>
                        <a:t>Particulars </a:t>
                      </a:r>
                      <a:endParaRPr lang="en-IN" dirty="0"/>
                    </a:p>
                  </a:txBody>
                  <a:tcPr/>
                </a:tc>
                <a:tc>
                  <a:txBody>
                    <a:bodyPr/>
                    <a:lstStyle/>
                    <a:p>
                      <a:r>
                        <a:rPr lang="en-US" dirty="0"/>
                        <a:t>J.F</a:t>
                      </a:r>
                      <a:endParaRPr lang="en-IN" dirty="0"/>
                    </a:p>
                  </a:txBody>
                  <a:tcPr/>
                </a:tc>
                <a:tc>
                  <a:txBody>
                    <a:bodyPr/>
                    <a:lstStyle/>
                    <a:p>
                      <a:r>
                        <a:rPr lang="en-US" dirty="0" err="1"/>
                        <a:t>Amt</a:t>
                      </a:r>
                      <a:endParaRPr lang="en-IN" dirty="0"/>
                    </a:p>
                  </a:txBody>
                  <a:tcPr/>
                </a:tc>
              </a:tr>
              <a:tr h="370840">
                <a:tc>
                  <a:txBody>
                    <a:bodyPr/>
                    <a:lstStyle/>
                    <a:p>
                      <a:r>
                        <a:rPr lang="en-US" dirty="0"/>
                        <a:t>Year</a:t>
                      </a:r>
                      <a:endParaRPr lang="en-US" dirty="0"/>
                    </a:p>
                    <a:p>
                      <a:r>
                        <a:rPr lang="en-US" dirty="0"/>
                        <a:t>Month</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To Name of A/c to be Credited</a:t>
                      </a:r>
                      <a:endParaRPr lang="en-IN" dirty="0"/>
                    </a:p>
                  </a:txBody>
                  <a:tcPr/>
                </a:tc>
                <a:tc>
                  <a:txBody>
                    <a:bodyPr/>
                    <a:lstStyle/>
                    <a:p>
                      <a:endParaRPr lang="en-IN"/>
                    </a:p>
                  </a:txBody>
                  <a:tcPr/>
                </a:tc>
                <a:tc>
                  <a:txBody>
                    <a:bodyPr/>
                    <a:lstStyle/>
                    <a:p>
                      <a:endParaRPr lang="en-IN"/>
                    </a:p>
                  </a:txBody>
                  <a:tcPr/>
                </a:tc>
                <a:tc>
                  <a:txBody>
                    <a:bodyPr/>
                    <a:lstStyle/>
                    <a:p>
                      <a:r>
                        <a:rPr lang="en-US" dirty="0"/>
                        <a:t>Year</a:t>
                      </a:r>
                      <a:endParaRPr lang="en-US" dirty="0"/>
                    </a:p>
                    <a:p>
                      <a:r>
                        <a:rPr lang="en-US" dirty="0"/>
                        <a:t>Month </a:t>
                      </a:r>
                      <a:endParaRPr lang="en-IN" dirty="0"/>
                    </a:p>
                  </a:txBody>
                  <a:tcPr/>
                </a:tc>
                <a:tc>
                  <a:txBody>
                    <a:bodyPr/>
                    <a:lstStyle/>
                    <a:p>
                      <a:r>
                        <a:rPr lang="en-US" dirty="0"/>
                        <a:t>By Name of A/c to be </a:t>
                      </a:r>
                      <a:endParaRPr lang="en-US" dirty="0"/>
                    </a:p>
                    <a:p>
                      <a:r>
                        <a:rPr lang="en-US" dirty="0"/>
                        <a:t>Debited</a:t>
                      </a:r>
                      <a:endParaRPr lang="en-IN" dirty="0"/>
                    </a:p>
                  </a:txBody>
                  <a:tcPr/>
                </a:tc>
                <a:tc>
                  <a:txBody>
                    <a:bodyPr/>
                    <a:lstStyle/>
                    <a:p>
                      <a:endParaRPr lang="en-IN"/>
                    </a:p>
                  </a:txBody>
                  <a:tcPr/>
                </a:tc>
                <a:tc>
                  <a:txBody>
                    <a:bodyPr/>
                    <a:lstStyle/>
                    <a:p>
                      <a:endParaRPr lang="en-IN"/>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US" dirty="0"/>
                        <a:t>xxx</a:t>
                      </a:r>
                      <a:endParaRPr lang="en-IN" dirty="0"/>
                    </a:p>
                  </a:txBody>
                  <a:tcPr/>
                </a:tc>
                <a:tc>
                  <a:txBody>
                    <a:bodyPr/>
                    <a:lstStyle/>
                    <a:p>
                      <a:endParaRPr lang="en-IN" dirty="0"/>
                    </a:p>
                  </a:txBody>
                  <a:tcPr/>
                </a:tc>
                <a:tc>
                  <a:txBody>
                    <a:bodyPr/>
                    <a:lstStyle/>
                    <a:p>
                      <a:r>
                        <a:rPr lang="en-US" baseline="0" dirty="0"/>
                        <a:t> </a:t>
                      </a:r>
                      <a:endParaRPr lang="en-IN" dirty="0"/>
                    </a:p>
                  </a:txBody>
                  <a:tcPr/>
                </a:tc>
                <a:tc>
                  <a:txBody>
                    <a:bodyPr/>
                    <a:lstStyle/>
                    <a:p>
                      <a:endParaRPr lang="en-IN" dirty="0"/>
                    </a:p>
                  </a:txBody>
                  <a:tcPr/>
                </a:tc>
                <a:tc>
                  <a:txBody>
                    <a:bodyPr/>
                    <a:lstStyle/>
                    <a:p>
                      <a:r>
                        <a:rPr lang="en-US" dirty="0"/>
                        <a:t>xxx</a:t>
                      </a:r>
                      <a:endParaRPr lang="en-IN" dirty="0"/>
                    </a:p>
                  </a:txBody>
                  <a:tcPr/>
                </a:tc>
              </a:tr>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r>
              <a:tr h="370840">
                <a:tc>
                  <a:txBody>
                    <a:bodyPr/>
                    <a:lstStyle/>
                    <a:p>
                      <a:r>
                        <a:rPr lang="en-US" dirty="0"/>
                        <a:t>Year </a:t>
                      </a:r>
                      <a:endParaRPr lang="en-IN" dirty="0"/>
                    </a:p>
                  </a:txBody>
                  <a:tcPr/>
                </a:tc>
                <a:tc>
                  <a:txBody>
                    <a:bodyPr/>
                    <a:lstStyle/>
                    <a:p>
                      <a:r>
                        <a:rPr lang="en-US" dirty="0"/>
                        <a:t>To Balance</a:t>
                      </a:r>
                      <a:r>
                        <a:rPr lang="en-US" baseline="0" dirty="0"/>
                        <a:t> C/d*</a:t>
                      </a:r>
                      <a:endParaRPr lang="en-IN" dirty="0"/>
                    </a:p>
                  </a:txBody>
                  <a:tcPr/>
                </a:tc>
                <a:tc>
                  <a:txBody>
                    <a:bodyPr/>
                    <a:lstStyle/>
                    <a:p>
                      <a:endParaRPr lang="en-IN" dirty="0"/>
                    </a:p>
                  </a:txBody>
                  <a:tcPr/>
                </a:tc>
                <a:tc>
                  <a:txBody>
                    <a:bodyPr/>
                    <a:lstStyle/>
                    <a:p>
                      <a:r>
                        <a:rPr lang="en-US" dirty="0"/>
                        <a:t>xxx</a:t>
                      </a:r>
                      <a:endParaRPr lang="en-IN" dirty="0"/>
                    </a:p>
                  </a:txBody>
                  <a:tcPr/>
                </a:tc>
                <a:tc>
                  <a:txBody>
                    <a:bodyPr/>
                    <a:lstStyle/>
                    <a:p>
                      <a:r>
                        <a:rPr lang="en-US" dirty="0"/>
                        <a:t>Year </a:t>
                      </a:r>
                      <a:endParaRPr lang="en-IN" dirty="0"/>
                    </a:p>
                  </a:txBody>
                  <a:tcPr/>
                </a:tc>
                <a:tc>
                  <a:txBody>
                    <a:bodyPr/>
                    <a:lstStyle/>
                    <a:p>
                      <a:r>
                        <a:rPr lang="en-US" dirty="0"/>
                        <a:t>By Balance C/d*</a:t>
                      </a:r>
                      <a:endParaRPr lang="en-IN" dirty="0"/>
                    </a:p>
                  </a:txBody>
                  <a:tcPr/>
                </a:tc>
                <a:tc>
                  <a:txBody>
                    <a:bodyPr/>
                    <a:lstStyle/>
                    <a:p>
                      <a:endParaRPr lang="en-IN" dirty="0"/>
                    </a:p>
                  </a:txBody>
                  <a:tcPr/>
                </a:tc>
                <a:tc>
                  <a:txBody>
                    <a:bodyPr/>
                    <a:lstStyle/>
                    <a:p>
                      <a:r>
                        <a:rPr lang="en-US" dirty="0"/>
                        <a:t>xxx</a:t>
                      </a:r>
                      <a:endParaRPr lang="en-IN" dirty="0"/>
                    </a:p>
                  </a:txBody>
                  <a:tcPr/>
                </a:tc>
              </a:tr>
              <a:tr h="370840">
                <a:tc>
                  <a:txBody>
                    <a:bodyPr/>
                    <a:lstStyle/>
                    <a:p>
                      <a:r>
                        <a:rPr lang="en-US" dirty="0"/>
                        <a:t>Month</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US" dirty="0"/>
                        <a:t>Month</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09800" y="76200"/>
            <a:ext cx="5174615" cy="710565"/>
          </a:xfrm>
        </p:spPr>
        <p:txBody>
          <a:bodyPr/>
          <a:p>
            <a:r>
              <a:rPr lang="en-US" sz="3600">
                <a:latin typeface="Times New Roman" panose="02020603050405020304" pitchFamily="18" charset="0"/>
                <a:cs typeface="Times New Roman" panose="02020603050405020304" pitchFamily="18" charset="0"/>
              </a:rPr>
              <a:t>Examples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762000"/>
            <a:ext cx="8229600" cy="5930265"/>
          </a:xfrm>
        </p:spPr>
        <p:txBody>
          <a:bodyPr/>
          <a:p>
            <a:pPr marL="0" indent="0">
              <a:buNone/>
            </a:pPr>
            <a:r>
              <a:rPr lang="en-US">
                <a:latin typeface="Times New Roman" panose="02020603050405020304" pitchFamily="18" charset="0"/>
                <a:cs typeface="Times New Roman" panose="02020603050405020304" pitchFamily="18" charset="0"/>
              </a:rPr>
              <a:t>1.Neerose Commenced his business with capital of Rs.100000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2.Bought Machinery Rs.30000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3.Bought Goods for cash from Ram Rs.5000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4.Credit sales to Harish Rs.3400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5.Bought Goods from Komal on Credit Rs. 1920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6.Paid Insurance Premium Rs.3000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7.Paid Salary to Clerk Rs.3500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8.Cash Withdrawn By proprietor for personal use Rs.5000</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07315" y="1052830"/>
            <a:ext cx="8928735" cy="4260850"/>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 trial balance is a statement that lists all the ledger accounts with their respective debit or credit balances on a specific date. The total of debit balances should equal the total of credit balances.</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Purpose: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verify the mathematical accuracy of the ledger.</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ensure that debits equal credits after posting transactions.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assist in preparing financial statements.</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Format:</a:t>
            </a:r>
            <a:r>
              <a:rPr lang="en-US" sz="2400" dirty="0">
                <a:latin typeface="Times New Roman" panose="02020603050405020304" pitchFamily="18" charset="0"/>
                <a:cs typeface="Times New Roman" panose="02020603050405020304" pitchFamily="18" charset="0"/>
              </a:rPr>
              <a:t> A trial balance typically includes: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Debit balances ; Assets and Expense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Credit balances : Liabilities , Capital and Income</a:t>
            </a:r>
            <a:endParaRPr lang="en-US" sz="24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2514347" y="304840"/>
            <a:ext cx="4258816" cy="418058"/>
          </a:xfrm>
        </p:spPr>
        <p:txBody>
          <a:bodyPr/>
          <a:lstStyle/>
          <a:p>
            <a:r>
              <a:rPr lang="en-US" sz="2800" b="1" dirty="0">
                <a:latin typeface="Times New Roman" panose="02020603050405020304" pitchFamily="18" charset="0"/>
                <a:cs typeface="Times New Roman" panose="02020603050405020304" pitchFamily="18" charset="0"/>
              </a:rPr>
              <a:t>Trial Balance</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a:p>
        </p:txBody>
      </p:sp>
      <p:pic>
        <p:nvPicPr>
          <p:cNvPr id="6" name="Picture 5"/>
          <p:cNvPicPr>
            <a:picLocks noChangeAspect="1"/>
          </p:cNvPicPr>
          <p:nvPr/>
        </p:nvPicPr>
        <p:blipFill>
          <a:blip r:embed="rId1"/>
          <a:stretch>
            <a:fillRect/>
          </a:stretch>
        </p:blipFill>
        <p:spPr>
          <a:xfrm>
            <a:off x="899592" y="620688"/>
            <a:ext cx="7272808" cy="58050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5010" y="76200"/>
            <a:ext cx="5144770" cy="640080"/>
          </a:xfrm>
        </p:spPr>
        <p:txBody>
          <a:bodyPr/>
          <a:p>
            <a:r>
              <a:rPr lang="en-US" sz="3600">
                <a:latin typeface="Times New Roman" panose="02020603050405020304" pitchFamily="18" charset="0"/>
                <a:cs typeface="Times New Roman" panose="02020603050405020304" pitchFamily="18" charset="0"/>
              </a:rPr>
              <a:t>Examples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685800"/>
            <a:ext cx="8229600" cy="5359400"/>
          </a:xfrm>
        </p:spPr>
        <p:txBody>
          <a:bodyPr/>
          <a:p>
            <a:r>
              <a:rPr lang="en-US" sz="2800">
                <a:latin typeface="Times New Roman" panose="02020603050405020304" pitchFamily="18" charset="0"/>
                <a:cs typeface="Times New Roman" panose="02020603050405020304" pitchFamily="18" charset="0"/>
              </a:rPr>
              <a:t>Purchases 60000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Reserve Fund 20000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Sales 100000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Purchase Return 1000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Sales Return 2000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Opening Stock 30000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Expenses 20000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Outstanding Exp. 2000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bank Bal.5000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Fixed Assets 50000</a:t>
            </a:r>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5699</Words>
  <Application>WPS Presentation</Application>
  <PresentationFormat>On-screen Show (4:3)</PresentationFormat>
  <Paragraphs>348</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16</vt:i4>
      </vt:variant>
    </vt:vector>
  </HeadingPairs>
  <TitlesOfParts>
    <vt:vector size="27" baseType="lpstr">
      <vt:lpstr>Arial</vt:lpstr>
      <vt:lpstr>SimSun</vt:lpstr>
      <vt:lpstr>Wingdings</vt:lpstr>
      <vt:lpstr>Times New Roman</vt:lpstr>
      <vt:lpstr>Microsoft YaHei</vt:lpstr>
      <vt:lpstr>Arial Unicode MS</vt:lpstr>
      <vt:lpstr>Calibri</vt:lpstr>
      <vt:lpstr>Calibri Light</vt:lpstr>
      <vt:lpstr>Office Theme</vt:lpstr>
      <vt:lpstr>1_Custom Design</vt:lpstr>
      <vt:lpstr>Custom Design</vt:lpstr>
      <vt:lpstr>Golden Rules of Accounting and Journal </vt:lpstr>
      <vt:lpstr>Golden Rules of Accounting</vt:lpstr>
      <vt:lpstr>PowerPoint 演示文稿</vt:lpstr>
      <vt:lpstr>Real Account</vt:lpstr>
      <vt:lpstr>Personal Account</vt:lpstr>
      <vt:lpstr>Nominal Account</vt:lpstr>
      <vt:lpstr>PowerPoint 演示文稿</vt:lpstr>
      <vt:lpstr>Identify whether each account is Real, Personal, or Nominal.</vt:lpstr>
      <vt:lpstr>PowerPoint 演示文稿</vt:lpstr>
      <vt:lpstr>Rules of Account</vt:lpstr>
      <vt:lpstr>Journal Entry  </vt:lpstr>
      <vt:lpstr>Ledger</vt:lpstr>
      <vt:lpstr>PowerPoint 演示文稿</vt:lpstr>
      <vt:lpstr>Trial Balance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dc:creator>
  <cp:lastModifiedBy>Admin</cp:lastModifiedBy>
  <cp:revision>64</cp:revision>
  <dcterms:created xsi:type="dcterms:W3CDTF">2023-08-11T03:52:00Z</dcterms:created>
  <dcterms:modified xsi:type="dcterms:W3CDTF">2026-07-30T04:12:15Z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114C34E71FD74CCA863584628DF9211B_12</vt:lpwstr>
  </property>
</Properties>
</file>