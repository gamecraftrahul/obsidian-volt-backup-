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3" r:id="rId3"/>
  </p:sldMasterIdLst>
  <p:sldIdLst>
    <p:sldId id="276" r:id="rId4"/>
    <p:sldId id="277" r:id="rId5"/>
    <p:sldId id="278" r:id="rId6"/>
    <p:sldId id="279" r:id="rId7"/>
    <p:sldId id="298" r:id="rId8"/>
    <p:sldId id="280" r:id="rId9"/>
    <p:sldId id="292" r:id="rId10"/>
    <p:sldId id="281" r:id="rId11"/>
    <p:sldId id="291" r:id="rId12"/>
    <p:sldId id="294" r:id="rId13"/>
    <p:sldId id="295" r:id="rId14"/>
    <p:sldId id="296" r:id="rId15"/>
    <p:sldId id="297" r:id="rId16"/>
    <p:sldId id="293" r:id="rId17"/>
    <p:sldId id="282" r:id="rId18"/>
    <p:sldId id="283" r:id="rId19"/>
    <p:sldId id="284" r:id="rId20"/>
    <p:sldId id="299" r:id="rId21"/>
    <p:sldId id="285" r:id="rId22"/>
    <p:sldId id="300" r:id="rId23"/>
    <p:sldId id="286" r:id="rId24"/>
    <p:sldId id="287" r:id="rId25"/>
    <p:sldId id="288" r:id="rId26"/>
    <p:sldId id="289" r:id="rId27"/>
    <p:sldId id="290"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4"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howGuides="1">
      <p:cViewPr varScale="1">
        <p:scale>
          <a:sx n="62" d="100"/>
          <a:sy n="62" d="100"/>
        </p:scale>
        <p:origin x="1650" y="282"/>
      </p:cViewPr>
      <p:guideLst>
        <p:guide orient="horz" pos="2144"/>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B4B60F7C-343B-4B8B-A11E-F2D877A5E442}" type="datetimeFigureOut">
              <a:rPr lang="en-IN" smtClean="0"/>
              <a:t>17-09-2026</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54310E5-0976-4737-9D03-0D13D5205398}"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B4B60F7C-343B-4B8B-A11E-F2D877A5E442}" type="datetimeFigureOut">
              <a:rPr lang="en-IN" smtClean="0"/>
              <a:t>17-09-2026</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54310E5-0976-4737-9D03-0D13D5205398}"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B4B60F7C-343B-4B8B-A11E-F2D877A5E442}" type="datetimeFigureOut">
              <a:rPr lang="en-IN" smtClean="0"/>
              <a:t>17-09-2026</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54310E5-0976-4737-9D03-0D13D5205398}"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B4B60F7C-343B-4B8B-A11E-F2D877A5E442}" type="datetimeFigureOut">
              <a:rPr lang="en-IN" smtClean="0"/>
              <a:t>17-09-2026</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254310E5-0976-4737-9D03-0D13D5205398}"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B4B60F7C-343B-4B8B-A11E-F2D877A5E442}" type="datetimeFigureOut">
              <a:rPr lang="en-IN" smtClean="0"/>
              <a:t>17-09-2026</a:t>
            </a:fld>
            <a:endParaRPr lang="en-IN"/>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IN"/>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254310E5-0976-4737-9D03-0D13D5205398}"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B4B60F7C-343B-4B8B-A11E-F2D877A5E442}" type="datetimeFigureOut">
              <a:rPr lang="en-IN" smtClean="0"/>
              <a:t>17-09-2026</a:t>
            </a:fld>
            <a:endParaRPr lang="en-IN"/>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IN"/>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254310E5-0976-4737-9D03-0D13D5205398}"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B4B60F7C-343B-4B8B-A11E-F2D877A5E442}" type="datetimeFigureOut">
              <a:rPr lang="en-IN" smtClean="0"/>
              <a:t>17-09-2026</a:t>
            </a:fld>
            <a:endParaRPr lang="en-IN"/>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IN"/>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254310E5-0976-4737-9D03-0D13D5205398}"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B4B60F7C-343B-4B8B-A11E-F2D877A5E442}" type="datetimeFigureOut">
              <a:rPr lang="en-IN" smtClean="0"/>
              <a:t>17-09-2026</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254310E5-0976-4737-9D03-0D13D5205398}"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B4B60F7C-343B-4B8B-A11E-F2D877A5E442}" type="datetimeFigureOut">
              <a:rPr lang="en-IN" smtClean="0"/>
              <a:t>17-09-2026</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254310E5-0976-4737-9D03-0D13D5205398}"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B4B60F7C-343B-4B8B-A11E-F2D877A5E442}" type="datetimeFigureOut">
              <a:rPr lang="en-IN" smtClean="0"/>
              <a:t>17-09-2026</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54310E5-0976-4737-9D03-0D13D5205398}"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B4B60F7C-343B-4B8B-A11E-F2D877A5E442}" type="datetimeFigureOut">
              <a:rPr lang="en-IN" smtClean="0"/>
              <a:t>17-09-2026</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54310E5-0976-4737-9D03-0D13D5205398}"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8200" y="1825625"/>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t>9/17/2026</a:t>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a:xfrm>
            <a:off x="8610600" y="6356350"/>
            <a:ext cx="2743200" cy="365125"/>
          </a:xfrm>
        </p:spPr>
        <p:txBody>
          <a:bodyPr/>
          <a:lstStyle/>
          <a:p>
            <a:fld id="{B3561BA9-CDCF-4958-B8AB-66F3BF063E13}"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C8C4F00-B88E-4188-A076-81E1A86F9FB6}" type="datetimeFigureOut">
              <a:rPr lang="en-IN" smtClean="0"/>
              <a:t>17-09-2026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8F7AF9-CA2C-4D10-A07A-CFB321DFB964}" type="slidenum">
              <a:rPr lang="en-IN" smtClean="0"/>
              <a:t>‹#›</a:t>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C8C4F00-B88E-4188-A076-81E1A86F9FB6}" type="datetimeFigureOut">
              <a:rPr lang="en-IN" smtClean="0"/>
              <a:t>17-09-2026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8F7AF9-CA2C-4D10-A07A-CFB321DFB964}" type="slidenum">
              <a:rPr lang="en-IN" smtClean="0"/>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C8C4F00-B88E-4188-A076-81E1A86F9FB6}" type="datetimeFigureOut">
              <a:rPr lang="en-IN" smtClean="0"/>
              <a:t>17-09-2026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8F7AF9-CA2C-4D10-A07A-CFB321DFB964}" type="slidenum">
              <a:rPr lang="en-IN" smtClean="0"/>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28650" y="1825625"/>
            <a:ext cx="38671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825625"/>
            <a:ext cx="38671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C8C4F00-B88E-4188-A076-81E1A86F9FB6}" type="datetimeFigureOut">
              <a:rPr lang="en-IN" smtClean="0"/>
              <a:t>17-09-2026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8F7AF9-CA2C-4D10-A07A-CFB321DFB964}" type="slidenum">
              <a:rPr lang="en-IN" smtClean="0"/>
              <a:t>‹#›</a:t>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C8C4F00-B88E-4188-A076-81E1A86F9FB6}" type="datetimeFigureOut">
              <a:rPr lang="en-IN" smtClean="0"/>
              <a:t>17-09-2026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58F7AF9-CA2C-4D10-A07A-CFB321DFB964}" type="slidenum">
              <a:rPr lang="en-IN" smtClean="0"/>
              <a:t>‹#›</a:t>
            </a:fld>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C8C4F00-B88E-4188-A076-81E1A86F9FB6}" type="datetimeFigureOut">
              <a:rPr lang="en-IN" smtClean="0"/>
              <a:t>17-09-2026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58F7AF9-CA2C-4D10-A07A-CFB321DFB964}" type="slidenum">
              <a:rPr lang="en-IN" smtClean="0"/>
              <a:t>‹#›</a:t>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8C4F00-B88E-4188-A076-81E1A86F9FB6}" type="datetimeFigureOut">
              <a:rPr lang="en-IN" smtClean="0"/>
              <a:t>17-09-2026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58F7AF9-CA2C-4D10-A07A-CFB321DFB964}" type="slidenum">
              <a:rPr lang="en-IN" smtClean="0"/>
              <a:t>‹#›</a:t>
            </a:fld>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C8C4F00-B88E-4188-A076-81E1A86F9FB6}" type="datetimeFigureOut">
              <a:rPr lang="en-IN" smtClean="0"/>
              <a:t>17-09-2026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8F7AF9-CA2C-4D10-A07A-CFB321DFB964}" type="slidenum">
              <a:rPr lang="en-IN" smtClean="0"/>
              <a:t>‹#›</a:t>
            </a:fld>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C8C4F00-B88E-4188-A076-81E1A86F9FB6}" type="datetimeFigureOut">
              <a:rPr lang="en-IN" smtClean="0"/>
              <a:t>17-09-2026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8F7AF9-CA2C-4D10-A07A-CFB321DFB964}" type="slidenum">
              <a:rPr lang="en-IN" smtClean="0"/>
              <a:t>‹#›</a:t>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C8C4F00-B88E-4188-A076-81E1A86F9FB6}" type="datetimeFigureOut">
              <a:rPr lang="en-IN" smtClean="0"/>
              <a:t>17-09-2026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8F7AF9-CA2C-4D10-A07A-CFB321DFB964}" type="slidenum">
              <a:rPr lang="en-IN" smtClean="0"/>
              <a:t>‹#›</a:t>
            </a:fld>
            <a:endParaRPr lang="en-I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C8C4F00-B88E-4188-A076-81E1A86F9FB6}" type="datetimeFigureOut">
              <a:rPr lang="en-IN" smtClean="0"/>
              <a:t>17-09-2026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8F7AF9-CA2C-4D10-A07A-CFB321DFB964}" type="slidenum">
              <a:rPr lang="en-IN" smtClean="0"/>
              <a:t>‹#›</a:t>
            </a:fld>
            <a:endParaRPr lang="en-I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5F3678B9-5127-4C5E-82C2-AC6E353819A4}" type="datetimeFigureOut">
              <a:rPr lang="en-IN" smtClean="0"/>
              <a:t>17-09-2026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05D9F3-AF00-4A19-865F-472616EF42AB}" type="slidenum">
              <a:rPr lang="en-IN" smtClean="0"/>
              <a:t>‹#›</a:t>
            </a:fld>
            <a:endParaRPr lang="en-I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F3678B9-5127-4C5E-82C2-AC6E353819A4}" type="datetimeFigureOut">
              <a:rPr lang="en-IN" smtClean="0"/>
              <a:t>17-09-2026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05D9F3-AF00-4A19-865F-472616EF42AB}" type="slidenum">
              <a:rPr lang="en-IN" smtClean="0"/>
              <a:t>‹#›</a:t>
            </a:fld>
            <a:endParaRPr lang="en-I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F3678B9-5127-4C5E-82C2-AC6E353819A4}" type="datetimeFigureOut">
              <a:rPr lang="en-IN" smtClean="0"/>
              <a:t>17-09-2026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05D9F3-AF00-4A19-865F-472616EF42AB}" type="slidenum">
              <a:rPr lang="en-IN" smtClean="0"/>
              <a:t>‹#›</a:t>
            </a:fld>
            <a:endParaRPr lang="en-I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28650" y="1825625"/>
            <a:ext cx="38671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825625"/>
            <a:ext cx="38671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5F3678B9-5127-4C5E-82C2-AC6E353819A4}" type="datetimeFigureOut">
              <a:rPr lang="en-IN" smtClean="0"/>
              <a:t>17-09-2026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05D9F3-AF00-4A19-865F-472616EF42AB}" type="slidenum">
              <a:rPr lang="en-IN" smtClean="0"/>
              <a:t>‹#›</a:t>
            </a:fld>
            <a:endParaRPr lang="en-I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5F3678B9-5127-4C5E-82C2-AC6E353819A4}" type="datetimeFigureOut">
              <a:rPr lang="en-IN" smtClean="0"/>
              <a:t>17-09-2026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905D9F3-AF00-4A19-865F-472616EF42AB}" type="slidenum">
              <a:rPr lang="en-IN" smtClean="0"/>
              <a:t>‹#›</a:t>
            </a:fld>
            <a:endParaRPr lang="en-I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F3678B9-5127-4C5E-82C2-AC6E353819A4}" type="datetimeFigureOut">
              <a:rPr lang="en-IN" smtClean="0"/>
              <a:t>17-09-2026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905D9F3-AF00-4A19-865F-472616EF42AB}" type="slidenum">
              <a:rPr lang="en-IN" smtClean="0"/>
              <a:t>‹#›</a:t>
            </a:fld>
            <a:endParaRPr lang="en-I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3678B9-5127-4C5E-82C2-AC6E353819A4}" type="datetimeFigureOut">
              <a:rPr lang="en-IN" smtClean="0"/>
              <a:t>17-09-2026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905D9F3-AF00-4A19-865F-472616EF42AB}" type="slidenum">
              <a:rPr lang="en-IN" smtClean="0"/>
              <a:t>‹#›</a:t>
            </a:fld>
            <a:endParaRPr lang="en-I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F3678B9-5127-4C5E-82C2-AC6E353819A4}" type="datetimeFigureOut">
              <a:rPr lang="en-IN" smtClean="0"/>
              <a:t>17-09-2026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05D9F3-AF00-4A19-865F-472616EF42AB}" type="slidenum">
              <a:rPr lang="en-IN" smtClean="0"/>
              <a:t>‹#›</a:t>
            </a:fld>
            <a:endParaRPr lang="en-I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F3678B9-5127-4C5E-82C2-AC6E353819A4}" type="datetimeFigureOut">
              <a:rPr lang="en-IN" smtClean="0"/>
              <a:t>17-09-2026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05D9F3-AF00-4A19-865F-472616EF42AB}" type="slidenum">
              <a:rPr lang="en-IN" smtClean="0"/>
              <a:t>‹#›</a:t>
            </a:fld>
            <a:endParaRPr lang="en-I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F3678B9-5127-4C5E-82C2-AC6E353819A4}" type="datetimeFigureOut">
              <a:rPr lang="en-IN" smtClean="0"/>
              <a:t>17-09-2026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05D9F3-AF00-4A19-865F-472616EF42AB}" type="slidenum">
              <a:rPr lang="en-IN" smtClean="0"/>
              <a:t>‹#›</a:t>
            </a:fld>
            <a:endParaRPr lang="en-I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F3678B9-5127-4C5E-82C2-AC6E353819A4}" type="datetimeFigureOut">
              <a:rPr lang="en-IN" smtClean="0"/>
              <a:t>17-09-2026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05D9F3-AF00-4A19-865F-472616EF42AB}"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tx2">
              <a:lumMod val="20000"/>
              <a:lumOff val="80000"/>
            </a:schemeClr>
          </a:fgClr>
          <a:bgClr>
            <a:schemeClr val="bg1"/>
          </a:bgClr>
        </a:patt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rot="10800000">
            <a:off x="0" y="6505599"/>
            <a:ext cx="9152280" cy="352398"/>
          </a:xfrm>
          <a:prstGeom prst="rect">
            <a:avLst/>
          </a:prstGeom>
        </p:spPr>
      </p:pic>
      <p:pic>
        <p:nvPicPr>
          <p:cNvPr id="8" name="Picture 7"/>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6073"/>
            <a:ext cx="9108504" cy="626761"/>
          </a:xfrm>
          <a:prstGeom prst="rect">
            <a:avLst/>
          </a:prstGeom>
        </p:spPr>
      </p:pic>
      <p:pic>
        <p:nvPicPr>
          <p:cNvPr id="9" name="Picture 8"/>
          <p:cNvPicPr>
            <a:picLocks noChangeAspect="1"/>
          </p:cNvPicPr>
          <p:nvPr userDrawn="1"/>
        </p:nvPicPr>
        <p:blipFill>
          <a:blip r:embed="rId15" cstate="print"/>
          <a:stretch>
            <a:fillRect/>
          </a:stretch>
        </p:blipFill>
        <p:spPr>
          <a:xfrm>
            <a:off x="8374776" y="-6073"/>
            <a:ext cx="763856" cy="626761"/>
          </a:xfrm>
          <a:prstGeom prst="rect">
            <a:avLst/>
          </a:prstGeom>
        </p:spPr>
      </p:pic>
      <p:sp>
        <p:nvSpPr>
          <p:cNvPr id="10" name="TextBox 9"/>
          <p:cNvSpPr txBox="1"/>
          <p:nvPr userDrawn="1"/>
        </p:nvSpPr>
        <p:spPr>
          <a:xfrm>
            <a:off x="251520" y="6488666"/>
            <a:ext cx="4752528"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Zeal Group of Management Institutes</a:t>
            </a:r>
            <a:endParaRPr lang="en-IN" b="1" dirty="0">
              <a:solidFill>
                <a:schemeClr val="accent1">
                  <a:lumMod val="75000"/>
                </a:schemeClr>
              </a:solidFill>
              <a:latin typeface="Times New Roman" panose="02020603050405020304" pitchFamily="18" charset="0"/>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pattFill prst="pct5">
          <a:fgClr>
            <a:schemeClr val="tx2">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8C4F00-B88E-4188-A076-81E1A86F9FB6}" type="datetimeFigureOut">
              <a:rPr lang="en-IN" smtClean="0"/>
              <a:t>17-09-2026</a:t>
            </a:fld>
            <a:endParaRPr lang="en-IN"/>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8F7AF9-CA2C-4D10-A07A-CFB321DFB964}"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pattFill prst="pct5">
          <a:fgClr>
            <a:schemeClr val="tx2">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3678B9-5127-4C5E-82C2-AC6E353819A4}" type="datetimeFigureOut">
              <a:rPr lang="en-IN" smtClean="0"/>
              <a:t>17-09-2026</a:t>
            </a:fld>
            <a:endParaRPr lang="en-IN"/>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05D9F3-AF00-4A19-865F-472616EF42AB}"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2250"/>
            <a:ext cx="8229600" cy="709749"/>
          </a:xfrm>
        </p:spPr>
        <p:txBody>
          <a:bodyPr/>
          <a:lstStyle/>
          <a:p>
            <a:r>
              <a:rPr lang="en-IN" dirty="0"/>
              <a:t>3.Cost Accounting</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42900" y="838200"/>
            <a:ext cx="8458200" cy="4267200"/>
          </a:xfrm>
        </p:spPr>
        <p:txBody>
          <a:bodyPr/>
          <a:lstStyle/>
          <a:p>
            <a:pPr marL="0" indent="0" algn="just">
              <a:buNone/>
            </a:pPr>
            <a:r>
              <a:rPr lang="en-US" sz="2800" dirty="0">
                <a:latin typeface="Times New Roman" panose="02020603050405020304" pitchFamily="18" charset="0"/>
                <a:cs typeface="Times New Roman" panose="02020603050405020304" pitchFamily="18" charset="0"/>
              </a:rPr>
              <a:t>Introduction :</a:t>
            </a:r>
          </a:p>
          <a:p>
            <a:pPr marL="0" indent="0" algn="just">
              <a:buNone/>
            </a:pPr>
            <a:r>
              <a:rPr lang="en-US" sz="2800" dirty="0">
                <a:latin typeface="Times New Roman" panose="02020603050405020304" pitchFamily="18" charset="0"/>
                <a:cs typeface="Times New Roman" panose="02020603050405020304" pitchFamily="18" charset="0"/>
              </a:rPr>
              <a:t>Costing is a specialized branch of accounting. It has been developed because of limitations of financial accounts. In the present day it is absolutely necessary that a business concern should operate its activities with utmost efficiency and at the lowest cost. The need for determination and control of costs necessitated new set of principles of accounting and thus emerged ‘cost account’ as a specialized branch of accounting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655638"/>
          </a:xfrm>
        </p:spPr>
        <p:txBody>
          <a:bodyPr/>
          <a:lstStyle/>
          <a:p>
            <a:r>
              <a:rPr lang="en-US" dirty="0">
                <a:latin typeface="Times New Roman" panose="02020603050405020304" pitchFamily="18" charset="0"/>
                <a:cs typeface="Times New Roman" panose="02020603050405020304" pitchFamily="18" charset="0"/>
              </a:rPr>
              <a:t>Definition</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600201"/>
            <a:ext cx="8229600" cy="2438399"/>
          </a:xfrm>
        </p:spPr>
        <p:txBody>
          <a:bodyPr/>
          <a:lstStyle/>
          <a:p>
            <a:pPr marL="0" indent="0" algn="just">
              <a:buNone/>
            </a:pPr>
            <a:r>
              <a:rPr lang="en-US" sz="2800" dirty="0">
                <a:latin typeface="Times New Roman" panose="02020603050405020304" pitchFamily="18" charset="0"/>
                <a:cs typeface="Times New Roman" panose="02020603050405020304" pitchFamily="18" charset="0"/>
              </a:rPr>
              <a:t>In the words of Harold J. </a:t>
            </a:r>
            <a:r>
              <a:rPr lang="en-US" sz="2800" dirty="0" err="1">
                <a:latin typeface="Times New Roman" panose="02020603050405020304" pitchFamily="18" charset="0"/>
                <a:cs typeface="Times New Roman" panose="02020603050405020304" pitchFamily="18" charset="0"/>
              </a:rPr>
              <a:t>Wheldon</a:t>
            </a:r>
            <a:r>
              <a:rPr lang="en-US" sz="2800" dirty="0">
                <a:latin typeface="Times New Roman" panose="02020603050405020304" pitchFamily="18" charset="0"/>
                <a:cs typeface="Times New Roman" panose="02020603050405020304" pitchFamily="18" charset="0"/>
              </a:rPr>
              <a:t> “costing is the classifying and appropriate allocation of expenditure for the determination of the cost of the products or services, and for the presentation of suitably renamed data for purpose of control and guidance of the management”.</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a:spLocks noGrp="1"/>
          </p:cNvSpPr>
          <p:nvPr>
            <p:ph idx="1"/>
          </p:nvPr>
        </p:nvSpPr>
        <p:spPr>
          <a:xfrm>
            <a:off x="381000" y="762000"/>
            <a:ext cx="8229600" cy="5562600"/>
          </a:xfrm>
        </p:spPr>
        <p:txBody>
          <a:bodyPr/>
          <a:lstStyle/>
          <a:p>
            <a:pPr algn="just"/>
            <a:r>
              <a:rPr lang="en-US" sz="2800" dirty="0">
                <a:latin typeface="Times New Roman" panose="02020603050405020304" pitchFamily="18" charset="0"/>
                <a:cs typeface="Times New Roman" panose="02020603050405020304" pitchFamily="18" charset="0"/>
              </a:rPr>
              <a:t>Cost Accounting :</a:t>
            </a:r>
          </a:p>
          <a:p>
            <a:pPr marL="0" indent="0" algn="just">
              <a:buNone/>
            </a:pPr>
            <a:r>
              <a:rPr lang="en-US" sz="2800" dirty="0">
                <a:latin typeface="Times New Roman" panose="02020603050405020304" pitchFamily="18" charset="0"/>
                <a:cs typeface="Times New Roman" panose="02020603050405020304" pitchFamily="18" charset="0"/>
              </a:rPr>
              <a:t>Cost Accounting is the process of classifying, recording, allocating and reporting the various costs incurred in the operation of an enterprise.</a:t>
            </a:r>
          </a:p>
          <a:p>
            <a:pPr algn="just"/>
            <a:r>
              <a:rPr lang="en-US" sz="2800" dirty="0">
                <a:latin typeface="Times New Roman" panose="02020603050405020304" pitchFamily="18" charset="0"/>
                <a:cs typeface="Times New Roman" panose="02020603050405020304" pitchFamily="18" charset="0"/>
              </a:rPr>
              <a:t>Cost Accountancy:</a:t>
            </a:r>
          </a:p>
          <a:p>
            <a:pPr marL="0" indent="0" algn="just">
              <a:buNone/>
            </a:pPr>
            <a:r>
              <a:rPr lang="en-US" sz="2800" dirty="0">
                <a:latin typeface="Times New Roman" panose="02020603050405020304" pitchFamily="18" charset="0"/>
                <a:cs typeface="Times New Roman" panose="02020603050405020304" pitchFamily="18" charset="0"/>
              </a:rPr>
              <a:t> Cost Accountancy is the application of costing and cost accounting principles methods and techniques to the science, art and practice of cost control and ascertainment of profitability. It includes the presentation of information for the purpose of decision making.</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6531"/>
            <a:ext cx="7086600" cy="731838"/>
          </a:xfrm>
        </p:spPr>
        <p:txBody>
          <a:bodyPr/>
          <a:lstStyle/>
          <a:p>
            <a:r>
              <a:rPr lang="en-IN" sz="3600" dirty="0">
                <a:latin typeface="Times New Roman" panose="02020603050405020304" pitchFamily="18" charset="0"/>
                <a:cs typeface="Times New Roman" panose="02020603050405020304" pitchFamily="18" charset="0"/>
              </a:rPr>
              <a:t>Objectives of Cost Accounting</a:t>
            </a:r>
          </a:p>
        </p:txBody>
      </p:sp>
      <p:sp>
        <p:nvSpPr>
          <p:cNvPr id="3" name="Content Placeholder 2"/>
          <p:cNvSpPr>
            <a:spLocks noGrp="1"/>
          </p:cNvSpPr>
          <p:nvPr>
            <p:ph idx="1"/>
          </p:nvPr>
        </p:nvSpPr>
        <p:spPr>
          <a:xfrm>
            <a:off x="381000" y="914400"/>
            <a:ext cx="8229600" cy="4696460"/>
          </a:xfrm>
        </p:spPr>
        <p:txBody>
          <a:bodyPr/>
          <a:lstStyle/>
          <a:p>
            <a:r>
              <a:rPr lang="en-IN" dirty="0">
                <a:latin typeface="Times New Roman" panose="02020603050405020304" pitchFamily="18" charset="0"/>
                <a:cs typeface="Times New Roman" panose="02020603050405020304" pitchFamily="18" charset="0"/>
              </a:rPr>
              <a:t>Ascertainment of cost:</a:t>
            </a:r>
          </a:p>
          <a:p>
            <a:pPr marL="0" indent="0">
              <a:buNone/>
            </a:pPr>
            <a:r>
              <a:rPr lang="en-US" altLang="en-US" sz="2800" dirty="0">
                <a:latin typeface="Times New Roman" panose="02020603050405020304" pitchFamily="18" charset="0"/>
                <a:cs typeface="Times New Roman" panose="02020603050405020304" pitchFamily="18" charset="0"/>
              </a:rPr>
              <a:t>“Ascertainment of cost is the process of determining the actual cost of a product, job, process, or service.”</a:t>
            </a:r>
          </a:p>
          <a:p>
            <a:pPr marL="0" indent="0">
              <a:buNone/>
            </a:pPr>
            <a:r>
              <a:rPr lang="en-US" altLang="en-US" sz="2800" dirty="0">
                <a:latin typeface="Times New Roman" panose="02020603050405020304" pitchFamily="18" charset="0"/>
                <a:cs typeface="Times New Roman" panose="02020603050405020304" pitchFamily="18" charset="0"/>
              </a:rPr>
              <a:t>— ICMA (Institute of Cost and Management Accountants)</a:t>
            </a:r>
          </a:p>
          <a:p>
            <a:r>
              <a:rPr lang="en-IN" sz="2800" dirty="0">
                <a:latin typeface="Times New Roman" panose="02020603050405020304" pitchFamily="18" charset="0"/>
                <a:cs typeface="Times New Roman" panose="02020603050405020304" pitchFamily="18" charset="0"/>
              </a:rPr>
              <a:t>Determination of selling price:</a:t>
            </a:r>
          </a:p>
          <a:p>
            <a:pPr marL="0" indent="0">
              <a:buNone/>
            </a:pPr>
            <a:r>
              <a:rPr lang="en-US" altLang="en-US" sz="2800" dirty="0">
                <a:latin typeface="Times New Roman" panose="02020603050405020304" pitchFamily="18" charset="0"/>
                <a:cs typeface="Times New Roman" panose="02020603050405020304" pitchFamily="18" charset="0"/>
              </a:rPr>
              <a:t>It involves deciding a price that covers all costs and provides a reasonable profit margin, while also remaining competitive in the market.</a:t>
            </a:r>
          </a:p>
          <a:p>
            <a:endParaRPr lang="en-US" alt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09600"/>
            <a:ext cx="8229600" cy="5440045"/>
          </a:xfrm>
        </p:spPr>
        <p:txBody>
          <a:bodyPr/>
          <a:lstStyle/>
          <a:p>
            <a:r>
              <a:rPr lang="en-IN" sz="2800" dirty="0">
                <a:latin typeface="Times New Roman" panose="02020603050405020304" pitchFamily="18" charset="0"/>
                <a:cs typeface="Times New Roman" panose="02020603050405020304" pitchFamily="18" charset="0"/>
                <a:sym typeface="+mn-ea"/>
              </a:rPr>
              <a:t>Control cost:</a:t>
            </a:r>
          </a:p>
          <a:p>
            <a:pPr marL="0" indent="0">
              <a:buNone/>
            </a:pPr>
            <a:r>
              <a:rPr lang="en-US" altLang="en-US" sz="2800" dirty="0">
                <a:latin typeface="Times New Roman" panose="02020603050405020304" pitchFamily="18" charset="0"/>
                <a:cs typeface="Times New Roman" panose="02020603050405020304" pitchFamily="18" charset="0"/>
              </a:rPr>
              <a:t>“Cost control is the process of regulating and keeping costs within predetermined limits so as to achieve the desired profit.”</a:t>
            </a:r>
          </a:p>
          <a:p>
            <a:pPr marL="0" indent="0">
              <a:buNone/>
            </a:pPr>
            <a:r>
              <a:rPr lang="en-US" altLang="en-US" sz="2800" dirty="0">
                <a:latin typeface="Times New Roman" panose="02020603050405020304" pitchFamily="18" charset="0"/>
                <a:cs typeface="Times New Roman" panose="02020603050405020304" pitchFamily="18" charset="0"/>
              </a:rPr>
              <a:t>— ICMA</a:t>
            </a:r>
          </a:p>
          <a:p>
            <a:r>
              <a:rPr lang="en-IN" sz="2800" dirty="0">
                <a:latin typeface="Times New Roman" panose="02020603050405020304" pitchFamily="18" charset="0"/>
                <a:cs typeface="Times New Roman" panose="02020603050405020304" pitchFamily="18" charset="0"/>
                <a:sym typeface="+mn-ea"/>
              </a:rPr>
              <a:t>Preparation of financial statements:</a:t>
            </a:r>
          </a:p>
          <a:p>
            <a:pPr marL="0" indent="0">
              <a:buNone/>
            </a:pPr>
            <a:r>
              <a:rPr lang="en-US" altLang="en-US" sz="2800" dirty="0">
                <a:latin typeface="Times New Roman" panose="02020603050405020304" pitchFamily="18" charset="0"/>
                <a:cs typeface="Times New Roman" panose="02020603050405020304" pitchFamily="18" charset="0"/>
              </a:rPr>
              <a:t>Cost accounting provides detailed information about costs, which complements financial accounting for accurate reporting and decision-making.</a:t>
            </a:r>
          </a:p>
          <a:p>
            <a:r>
              <a:rPr lang="en-IN" sz="2800" dirty="0">
                <a:latin typeface="Times New Roman" panose="02020603050405020304" pitchFamily="18" charset="0"/>
                <a:cs typeface="Times New Roman" panose="02020603050405020304" pitchFamily="18" charset="0"/>
                <a:sym typeface="+mn-ea"/>
              </a:rPr>
              <a:t>Formulation of operating policies:</a:t>
            </a:r>
          </a:p>
          <a:p>
            <a:pPr marL="0" indent="0">
              <a:buNone/>
            </a:pPr>
            <a:r>
              <a:rPr lang="en-US" altLang="en-US" sz="2800" dirty="0">
                <a:latin typeface="Times New Roman" panose="02020603050405020304" pitchFamily="18" charset="0"/>
                <a:cs typeface="Times New Roman" panose="02020603050405020304" pitchFamily="18" charset="0"/>
              </a:rPr>
              <a:t>Production</a:t>
            </a:r>
            <a:r>
              <a:rPr lang="en-IN" altLang="en-US" sz="2800" dirty="0">
                <a:latin typeface="Times New Roman" panose="02020603050405020304" pitchFamily="18" charset="0"/>
                <a:cs typeface="Times New Roman" panose="02020603050405020304" pitchFamily="18" charset="0"/>
              </a:rPr>
              <a:t>,</a:t>
            </a:r>
            <a:r>
              <a:rPr lang="en-US" altLang="en-US" sz="2800" dirty="0">
                <a:latin typeface="Times New Roman" panose="02020603050405020304" pitchFamily="18" charset="0"/>
                <a:cs typeface="Times New Roman" panose="02020603050405020304" pitchFamily="18" charset="0"/>
              </a:rPr>
              <a:t>Pricing</a:t>
            </a:r>
            <a:r>
              <a:rPr lang="en-IN" altLang="en-US" sz="2800" dirty="0">
                <a:latin typeface="Times New Roman" panose="02020603050405020304" pitchFamily="18" charset="0"/>
                <a:cs typeface="Times New Roman" panose="02020603050405020304" pitchFamily="18" charset="0"/>
              </a:rPr>
              <a:t>,</a:t>
            </a:r>
            <a:r>
              <a:rPr lang="en-US" altLang="en-US" sz="2800" dirty="0">
                <a:latin typeface="Times New Roman" panose="02020603050405020304" pitchFamily="18" charset="0"/>
                <a:cs typeface="Times New Roman" panose="02020603050405020304" pitchFamily="18" charset="0"/>
              </a:rPr>
              <a:t>Procurement</a:t>
            </a:r>
            <a:r>
              <a:rPr lang="en-IN" altLang="en-US" sz="2800" dirty="0">
                <a:latin typeface="Times New Roman" panose="02020603050405020304" pitchFamily="18" charset="0"/>
                <a:cs typeface="Times New Roman" panose="02020603050405020304" pitchFamily="18" charset="0"/>
              </a:rPr>
              <a:t>,</a:t>
            </a:r>
            <a:r>
              <a:rPr lang="en-US" altLang="en-US" sz="2800" dirty="0">
                <a:latin typeface="Times New Roman" panose="02020603050405020304" pitchFamily="18" charset="0"/>
                <a:cs typeface="Times New Roman" panose="02020603050405020304" pitchFamily="18" charset="0"/>
              </a:rPr>
              <a:t>Labor</a:t>
            </a:r>
            <a:r>
              <a:rPr lang="en-IN" altLang="en-US" sz="2800" dirty="0">
                <a:latin typeface="Times New Roman" panose="02020603050405020304" pitchFamily="18" charset="0"/>
                <a:cs typeface="Times New Roman" panose="02020603050405020304" pitchFamily="18" charset="0"/>
              </a:rPr>
              <a:t>,</a:t>
            </a:r>
            <a:r>
              <a:rPr lang="en-US" altLang="en-US" sz="2800" dirty="0">
                <a:latin typeface="Times New Roman" panose="02020603050405020304" pitchFamily="18" charset="0"/>
                <a:cs typeface="Times New Roman" panose="02020603050405020304" pitchFamily="18" charset="0"/>
              </a:rPr>
              <a:t>Inventory</a:t>
            </a:r>
          </a:p>
          <a:p>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685800"/>
          </a:xfrm>
        </p:spPr>
        <p:txBody>
          <a:bodyPr/>
          <a:lstStyle/>
          <a:p>
            <a:r>
              <a:rPr lang="en-US" sz="2800" b="1" dirty="0">
                <a:latin typeface="Times New Roman" panose="02020603050405020304" pitchFamily="18" charset="0"/>
                <a:cs typeface="Times New Roman" panose="02020603050405020304" pitchFamily="18" charset="0"/>
              </a:rPr>
              <a:t>Advantages and Limitations of Cost Accounting</a:t>
            </a:r>
            <a:endParaRPr lang="en-IN"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2034" y="1143001"/>
            <a:ext cx="8229600" cy="5105400"/>
          </a:xfrm>
        </p:spPr>
        <p:txBody>
          <a:bodyPr/>
          <a:lstStyle/>
          <a:p>
            <a:pPr marL="0" indent="0">
              <a:buNone/>
            </a:pPr>
            <a:r>
              <a:rPr lang="en-IN" dirty="0">
                <a:latin typeface="Times New Roman" panose="02020603050405020304" pitchFamily="18" charset="0"/>
                <a:cs typeface="Times New Roman" panose="02020603050405020304" pitchFamily="18" charset="0"/>
              </a:rPr>
              <a:t>To the Management:</a:t>
            </a:r>
          </a:p>
          <a:p>
            <a:pPr>
              <a:buFont typeface="Wingdings" panose="05000000000000000000" pitchFamily="2" charset="2"/>
              <a:buChar char="ü"/>
            </a:pPr>
            <a:r>
              <a:rPr lang="en-IN" sz="2800" dirty="0">
                <a:latin typeface="Times New Roman" panose="02020603050405020304" pitchFamily="18" charset="0"/>
                <a:cs typeface="Times New Roman" panose="02020603050405020304" pitchFamily="18" charset="0"/>
              </a:rPr>
              <a:t>Ascertainment of costs</a:t>
            </a:r>
          </a:p>
          <a:p>
            <a:pPr>
              <a:buFont typeface="Wingdings" panose="05000000000000000000" pitchFamily="2" charset="2"/>
              <a:buChar char="ü"/>
            </a:pPr>
            <a:r>
              <a:rPr lang="en-IN" sz="2800" dirty="0">
                <a:latin typeface="Times New Roman" panose="02020603050405020304" pitchFamily="18" charset="0"/>
                <a:cs typeface="Times New Roman" panose="02020603050405020304" pitchFamily="18" charset="0"/>
              </a:rPr>
              <a:t>Price fixation</a:t>
            </a:r>
          </a:p>
          <a:p>
            <a:pPr>
              <a:buFont typeface="Wingdings" panose="05000000000000000000" pitchFamily="2" charset="2"/>
              <a:buChar char="ü"/>
            </a:pPr>
            <a:r>
              <a:rPr lang="en-IN" sz="2800" dirty="0">
                <a:latin typeface="Times New Roman" panose="02020603050405020304" pitchFamily="18" charset="0"/>
                <a:cs typeface="Times New Roman" panose="02020603050405020304" pitchFamily="18" charset="0"/>
              </a:rPr>
              <a:t>Inventory control: Example</a:t>
            </a:r>
          </a:p>
          <a:p>
            <a:pPr marL="0" lvl="0" indent="0" eaLnBrk="0" fontAlgn="base" hangingPunct="0">
              <a:spcBef>
                <a:spcPct val="0"/>
              </a:spcBef>
              <a:spcAft>
                <a:spcPct val="0"/>
              </a:spcAft>
              <a:buNone/>
            </a:pPr>
            <a:r>
              <a:rPr lang="en-US" altLang="en-US" sz="2800" b="1" dirty="0">
                <a:latin typeface="Times New Roman" panose="02020603050405020304" pitchFamily="18" charset="0"/>
                <a:cs typeface="Times New Roman" panose="02020603050405020304" pitchFamily="18" charset="0"/>
              </a:rPr>
              <a:t>Material Records</a:t>
            </a:r>
            <a:r>
              <a:rPr lang="en-US" altLang="en-US" sz="2800" dirty="0">
                <a:latin typeface="Times New Roman" panose="02020603050405020304" pitchFamily="18" charset="0"/>
                <a:cs typeface="Times New Roman" panose="02020603050405020304" pitchFamily="18" charset="0"/>
              </a:rPr>
              <a:t> – Maintains </a:t>
            </a:r>
            <a:r>
              <a:rPr lang="en-US" altLang="en-US" sz="2800" b="1" dirty="0">
                <a:latin typeface="Times New Roman" panose="02020603050405020304" pitchFamily="18" charset="0"/>
                <a:cs typeface="Times New Roman" panose="02020603050405020304" pitchFamily="18" charset="0"/>
              </a:rPr>
              <a:t>ledger accounts</a:t>
            </a:r>
            <a:r>
              <a:rPr lang="en-US" altLang="en-US" sz="2800" dirty="0">
                <a:latin typeface="Times New Roman" panose="02020603050405020304" pitchFamily="18" charset="0"/>
                <a:cs typeface="Times New Roman" panose="02020603050405020304" pitchFamily="18" charset="0"/>
              </a:rPr>
              <a:t> for all materials (received, issued, and balance).</a:t>
            </a:r>
          </a:p>
          <a:p>
            <a:pPr marL="0" lvl="0" indent="0" eaLnBrk="0" fontAlgn="base" hangingPunct="0">
              <a:spcBef>
                <a:spcPct val="0"/>
              </a:spcBef>
              <a:spcAft>
                <a:spcPct val="0"/>
              </a:spcAft>
              <a:buNone/>
            </a:pPr>
            <a:r>
              <a:rPr lang="en-US" altLang="en-US" sz="2800" b="1" dirty="0">
                <a:latin typeface="Times New Roman" panose="02020603050405020304" pitchFamily="18" charset="0"/>
                <a:cs typeface="Times New Roman" panose="02020603050405020304" pitchFamily="18" charset="0"/>
              </a:rPr>
              <a:t>ABC Analysis</a:t>
            </a:r>
            <a:r>
              <a:rPr lang="en-US" altLang="en-US" sz="2800" dirty="0">
                <a:latin typeface="Times New Roman" panose="02020603050405020304" pitchFamily="18" charset="0"/>
                <a:cs typeface="Times New Roman" panose="02020603050405020304" pitchFamily="18" charset="0"/>
              </a:rPr>
              <a:t> – Categorizes inventory based on value and importance:</a:t>
            </a:r>
          </a:p>
          <a:p>
            <a:pPr marL="0" lvl="0" indent="0" eaLnBrk="0" fontAlgn="base" hangingPunct="0">
              <a:spcBef>
                <a:spcPct val="0"/>
              </a:spcBef>
              <a:spcAft>
                <a:spcPct val="0"/>
              </a:spcAft>
              <a:buFontTx/>
              <a:buChar char="•"/>
            </a:pPr>
            <a:r>
              <a:rPr lang="en-US" altLang="en-US" sz="2800" b="1" dirty="0">
                <a:latin typeface="Times New Roman" panose="02020603050405020304" pitchFamily="18" charset="0"/>
                <a:cs typeface="Times New Roman" panose="02020603050405020304" pitchFamily="18" charset="0"/>
              </a:rPr>
              <a:t>A-items</a:t>
            </a:r>
            <a:r>
              <a:rPr lang="en-US" altLang="en-US" sz="2800" dirty="0">
                <a:latin typeface="Times New Roman" panose="02020603050405020304" pitchFamily="18" charset="0"/>
                <a:cs typeface="Times New Roman" panose="02020603050405020304" pitchFamily="18" charset="0"/>
              </a:rPr>
              <a:t> – High value, strict control</a:t>
            </a:r>
          </a:p>
          <a:p>
            <a:pPr marL="0" lvl="0" indent="0" eaLnBrk="0" fontAlgn="base" hangingPunct="0">
              <a:spcBef>
                <a:spcPct val="0"/>
              </a:spcBef>
              <a:spcAft>
                <a:spcPct val="0"/>
              </a:spcAft>
              <a:buFontTx/>
              <a:buChar char="•"/>
            </a:pPr>
            <a:r>
              <a:rPr lang="en-US" altLang="en-US" sz="2800" b="1" dirty="0">
                <a:latin typeface="Times New Roman" panose="02020603050405020304" pitchFamily="18" charset="0"/>
                <a:cs typeface="Times New Roman" panose="02020603050405020304" pitchFamily="18" charset="0"/>
              </a:rPr>
              <a:t>B-items</a:t>
            </a:r>
            <a:r>
              <a:rPr lang="en-US" altLang="en-US" sz="2800" dirty="0">
                <a:latin typeface="Times New Roman" panose="02020603050405020304" pitchFamily="18" charset="0"/>
                <a:cs typeface="Times New Roman" panose="02020603050405020304" pitchFamily="18" charset="0"/>
              </a:rPr>
              <a:t> – Moderate value, medium control</a:t>
            </a:r>
          </a:p>
          <a:p>
            <a:pPr marL="0" lvl="0" indent="0" eaLnBrk="0" fontAlgn="base" hangingPunct="0">
              <a:spcBef>
                <a:spcPct val="0"/>
              </a:spcBef>
              <a:spcAft>
                <a:spcPct val="0"/>
              </a:spcAft>
              <a:buFontTx/>
              <a:buChar char="•"/>
            </a:pPr>
            <a:r>
              <a:rPr lang="en-US" altLang="en-US" sz="2800" b="1" dirty="0">
                <a:latin typeface="Times New Roman" panose="02020603050405020304" pitchFamily="18" charset="0"/>
                <a:cs typeface="Times New Roman" panose="02020603050405020304" pitchFamily="18" charset="0"/>
              </a:rPr>
              <a:t>C-items</a:t>
            </a:r>
            <a:r>
              <a:rPr lang="en-US" altLang="en-US" sz="2800" dirty="0">
                <a:latin typeface="Times New Roman" panose="02020603050405020304" pitchFamily="18" charset="0"/>
                <a:cs typeface="Times New Roman" panose="02020603050405020304" pitchFamily="18" charset="0"/>
              </a:rPr>
              <a:t> – Low value, simple control</a:t>
            </a:r>
          </a:p>
          <a:p>
            <a:pPr>
              <a:buFont typeface="Wingdings" panose="05000000000000000000" pitchFamily="2" charset="2"/>
              <a:buChar char="ü"/>
            </a:pP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762000"/>
            <a:ext cx="8229600" cy="5562600"/>
          </a:xfrm>
        </p:spPr>
        <p:txBody>
          <a:bodyPr/>
          <a:lstStyle/>
          <a:p>
            <a:r>
              <a:rPr lang="en-IN" dirty="0">
                <a:latin typeface="Times New Roman" panose="02020603050405020304" pitchFamily="18" charset="0"/>
                <a:cs typeface="Times New Roman" panose="02020603050405020304" pitchFamily="18" charset="0"/>
              </a:rPr>
              <a:t>Measurement of efficiency:</a:t>
            </a:r>
          </a:p>
          <a:p>
            <a:pPr marL="0" indent="0">
              <a:buNone/>
            </a:pPr>
            <a:r>
              <a:rPr lang="en-US" dirty="0">
                <a:latin typeface="Times New Roman" panose="02020603050405020304" pitchFamily="18" charset="0"/>
                <a:cs typeface="Times New Roman" panose="02020603050405020304" pitchFamily="18" charset="0"/>
              </a:rPr>
              <a:t>Ex: Standard Costing:Sets standard (expected) costs for materials, labor, and overheads. Efficiency is measured by comparing actual cost with standard cost</a:t>
            </a:r>
          </a:p>
          <a:p>
            <a:r>
              <a:rPr lang="en-IN" dirty="0">
                <a:latin typeface="Times New Roman" panose="02020603050405020304" pitchFamily="18" charset="0"/>
                <a:cs typeface="Times New Roman" panose="02020603050405020304" pitchFamily="18" charset="0"/>
              </a:rPr>
              <a:t>Managerial control:</a:t>
            </a:r>
          </a:p>
          <a:p>
            <a:pPr marL="0" indent="0">
              <a:buNone/>
            </a:pPr>
            <a:r>
              <a:rPr lang="en-US" dirty="0">
                <a:latin typeface="Times New Roman" panose="02020603050405020304" pitchFamily="18" charset="0"/>
                <a:cs typeface="Times New Roman" panose="02020603050405020304" pitchFamily="18" charset="0"/>
              </a:rPr>
              <a:t>Ex: Budgetary Control and Standard Costing and Variance Analysis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8709"/>
            <a:ext cx="7700554" cy="677091"/>
          </a:xfrm>
        </p:spPr>
        <p:txBody>
          <a:bodyPr/>
          <a:lstStyle/>
          <a:p>
            <a:r>
              <a:rPr lang="en-IN" sz="3600" dirty="0">
                <a:latin typeface="Times New Roman" panose="02020603050405020304" pitchFamily="18" charset="0"/>
                <a:cs typeface="Times New Roman" panose="02020603050405020304" pitchFamily="18" charset="0"/>
              </a:rPr>
              <a:t>Limitations of Cost Accounting</a:t>
            </a:r>
          </a:p>
        </p:txBody>
      </p:sp>
      <p:sp>
        <p:nvSpPr>
          <p:cNvPr id="3" name="Content Placeholder 2"/>
          <p:cNvSpPr>
            <a:spLocks noGrp="1"/>
          </p:cNvSpPr>
          <p:nvPr>
            <p:ph idx="1"/>
          </p:nvPr>
        </p:nvSpPr>
        <p:spPr>
          <a:xfrm>
            <a:off x="461554" y="914400"/>
            <a:ext cx="8229600" cy="4525963"/>
          </a:xfrm>
        </p:spPr>
        <p:txBody>
          <a:bodyPr/>
          <a:lstStyle/>
          <a:p>
            <a:r>
              <a:rPr lang="en-US" dirty="0">
                <a:latin typeface="Times New Roman" panose="02020603050405020304" pitchFamily="18" charset="0"/>
                <a:cs typeface="Times New Roman" panose="02020603050405020304" pitchFamily="18" charset="0"/>
              </a:rPr>
              <a:t>Complexity and Costly System</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Limited Scope in External Reporting</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Not Universally Applicable</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Expensive</a:t>
            </a:r>
          </a:p>
          <a:p>
            <a:r>
              <a:rPr lang="en-US" dirty="0">
                <a:latin typeface="Times New Roman" panose="02020603050405020304" pitchFamily="18" charset="0"/>
                <a:cs typeface="Times New Roman" panose="02020603050405020304" pitchFamily="18" charset="0"/>
              </a:rPr>
              <a:t>Problem of reconciliation of cost and financial accounts</a:t>
            </a:r>
          </a:p>
          <a:p>
            <a:pPr marL="0" indent="0">
              <a:buNone/>
            </a:pP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228600" y="591980"/>
            <a:ext cx="8686800" cy="14711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Helpful in maximizing the profits</a:t>
            </a:r>
          </a:p>
          <a:p>
            <a:pPr>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Useful in the period of depression and competition</a:t>
            </a:r>
            <a:endParaRPr lang="en-IN" sz="2800" dirty="0">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None/>
            </a:pPr>
            <a:r>
              <a:rPr lang="en-US" sz="2800" dirty="0">
                <a:latin typeface="Times New Roman" panose="02020603050405020304" pitchFamily="18" charset="0"/>
                <a:cs typeface="Times New Roman" panose="02020603050405020304" pitchFamily="18" charset="0"/>
              </a:rPr>
              <a:t>(low demand, falling prices, and reduced sales)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09600"/>
            <a:ext cx="8229600" cy="5715000"/>
          </a:xfrm>
        </p:spPr>
        <p:txBody>
          <a:bodyPr/>
          <a:lstStyle/>
          <a:p>
            <a:pPr marL="0" indent="0" algn="just">
              <a:buNone/>
            </a:pPr>
            <a:r>
              <a:rPr lang="en-US" sz="3600" b="1" dirty="0">
                <a:latin typeface="Times New Roman" panose="02020603050405020304" pitchFamily="18" charset="0"/>
                <a:cs typeface="Times New Roman" panose="02020603050405020304" pitchFamily="18" charset="0"/>
              </a:rPr>
              <a:t>Cost center </a:t>
            </a:r>
          </a:p>
          <a:p>
            <a:pPr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A cost center is a department or function within a company that incurs expenses but doesn't directly produce revenue or profits. </a:t>
            </a:r>
          </a:p>
          <a:p>
            <a:pPr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Its primary purpose is to ensure that the business operates efficiently and that all needs are met. </a:t>
            </a:r>
          </a:p>
          <a:p>
            <a:pPr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Its contributions are essential to the company's overall functionality even though it doesn't bring in any money. </a:t>
            </a:r>
          </a:p>
          <a:p>
            <a:pPr marL="0" indent="0" algn="just">
              <a:buNone/>
            </a:pPr>
            <a:r>
              <a:rPr lang="en-US" sz="2400" dirty="0" err="1">
                <a:latin typeface="Times New Roman" panose="02020603050405020304" pitchFamily="18" charset="0"/>
                <a:cs typeface="Times New Roman" panose="02020603050405020304" pitchFamily="18" charset="0"/>
              </a:rPr>
              <a:t>Ex:Various</a:t>
            </a:r>
            <a:r>
              <a:rPr lang="en-US" sz="2400" dirty="0">
                <a:latin typeface="Times New Roman" panose="02020603050405020304" pitchFamily="18" charset="0"/>
                <a:cs typeface="Times New Roman" panose="02020603050405020304" pitchFamily="18" charset="0"/>
              </a:rPr>
              <a:t> departments play specific roles in all companies. Some, like sales, generate revenue, while others, such as human resources, provide support without directly contributing to the bottom line. </a:t>
            </a:r>
          </a:p>
          <a:p>
            <a:pPr marL="0" indent="0" algn="just">
              <a:buNone/>
            </a:pPr>
            <a:r>
              <a:rPr lang="en-US" sz="2400" dirty="0">
                <a:latin typeface="Times New Roman" panose="02020603050405020304" pitchFamily="18" charset="0"/>
                <a:cs typeface="Times New Roman" panose="02020603050405020304" pitchFamily="18" charset="0"/>
              </a:rPr>
              <a:t>These supportive units are known as cost centers. </a:t>
            </a:r>
          </a:p>
          <a:p>
            <a:pPr algn="just"/>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0"/>
            <a:ext cx="6705600" cy="792162"/>
          </a:xfrm>
        </p:spPr>
        <p:txBody>
          <a:bodyPr/>
          <a:lstStyle/>
          <a:p>
            <a:r>
              <a:rPr lang="en-US" b="1" dirty="0">
                <a:latin typeface="Times New Roman" panose="02020603050405020304" pitchFamily="18" charset="0"/>
                <a:cs typeface="Times New Roman" panose="02020603050405020304" pitchFamily="18" charset="0"/>
              </a:rPr>
              <a:t>Types of Cost Centers </a:t>
            </a:r>
            <a:br>
              <a:rPr lang="en-US" b="1" dirty="0"/>
            </a:br>
            <a:endParaRPr lang="en-US" dirty="0"/>
          </a:p>
        </p:txBody>
      </p:sp>
      <p:sp>
        <p:nvSpPr>
          <p:cNvPr id="3" name="Content Placeholder 2"/>
          <p:cNvSpPr>
            <a:spLocks noGrp="1"/>
          </p:cNvSpPr>
          <p:nvPr>
            <p:ph idx="1"/>
          </p:nvPr>
        </p:nvSpPr>
        <p:spPr>
          <a:xfrm>
            <a:off x="457200" y="914400"/>
            <a:ext cx="8229600" cy="4571999"/>
          </a:xfrm>
        </p:spPr>
        <p:txBody>
          <a:bodyPr/>
          <a:lstStyle/>
          <a:p>
            <a:pPr marL="514350" indent="-514350" algn="just">
              <a:buAutoNum type="alphaLcPeriod"/>
            </a:pPr>
            <a:r>
              <a:rPr lang="en-US" b="1" dirty="0">
                <a:latin typeface="Times New Roman" panose="02020603050405020304" pitchFamily="18" charset="0"/>
                <a:cs typeface="Times New Roman" panose="02020603050405020304" pitchFamily="18" charset="0"/>
              </a:rPr>
              <a:t>Service Cost Centers</a:t>
            </a:r>
          </a:p>
          <a:p>
            <a:pPr marL="0" indent="0" algn="just">
              <a:buNone/>
            </a:pPr>
            <a:r>
              <a:rPr lang="en-US" dirty="0">
                <a:latin typeface="Times New Roman" panose="02020603050405020304" pitchFamily="18" charset="0"/>
                <a:cs typeface="Times New Roman" panose="02020603050405020304" pitchFamily="18" charset="0"/>
              </a:rPr>
              <a:t>Service cost centers provide essential services within the organization</a:t>
            </a:r>
            <a:endParaRPr lang="en-US" b="1"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Ex: Mailroom and courier services, which manage the distribution of external and internal correspondence</a:t>
            </a:r>
          </a:p>
          <a:p>
            <a:pPr marL="0" indent="0" algn="just">
              <a:buNone/>
            </a:pPr>
            <a:r>
              <a:rPr lang="en-US" dirty="0">
                <a:latin typeface="Times New Roman" panose="02020603050405020304" pitchFamily="18" charset="0"/>
                <a:cs typeface="Times New Roman" panose="02020603050405020304" pitchFamily="18" charset="0"/>
              </a:rPr>
              <a:t>Travel and logistics, which is responsible for organizing employee travel.</a:t>
            </a:r>
          </a:p>
          <a:p>
            <a:pPr marL="0" indent="0">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791200"/>
          </a:xfrm>
        </p:spPr>
        <p:txBody>
          <a:bodyPr/>
          <a:lstStyle/>
          <a:p>
            <a:pPr marL="0" indent="0" algn="just">
              <a:buNone/>
            </a:pPr>
            <a:r>
              <a:rPr lang="en-US" b="1" dirty="0">
                <a:latin typeface="Times New Roman" panose="02020603050405020304" pitchFamily="18" charset="0"/>
                <a:cs typeface="Times New Roman" panose="02020603050405020304" pitchFamily="18" charset="0"/>
              </a:rPr>
              <a:t>b. Production Cost Centers:</a:t>
            </a:r>
          </a:p>
          <a:p>
            <a:pPr marL="0" indent="0" algn="just">
              <a:buNone/>
            </a:pPr>
            <a:r>
              <a:rPr lang="en-US" dirty="0">
                <a:latin typeface="Times New Roman" panose="02020603050405020304" pitchFamily="18" charset="0"/>
                <a:cs typeface="Times New Roman" panose="02020603050405020304" pitchFamily="18" charset="0"/>
              </a:rPr>
              <a:t>Provides support to production but does not produce output. </a:t>
            </a:r>
          </a:p>
          <a:p>
            <a:pPr marL="0" indent="0" algn="just">
              <a:buNone/>
            </a:pPr>
            <a:r>
              <a:rPr lang="en-US" dirty="0">
                <a:latin typeface="Times New Roman" panose="02020603050405020304" pitchFamily="18" charset="0"/>
                <a:cs typeface="Times New Roman" panose="02020603050405020304" pitchFamily="18" charset="0"/>
              </a:rPr>
              <a:t>Example: Maintenance department, Power house, Tool room</a:t>
            </a:r>
          </a:p>
          <a:p>
            <a:pPr marL="0" indent="0" algn="just">
              <a:buNone/>
            </a:pPr>
            <a:r>
              <a:rPr lang="en-US" dirty="0">
                <a:latin typeface="Times New Roman" panose="02020603050405020304" pitchFamily="18" charset="0"/>
                <a:cs typeface="Times New Roman" panose="02020603050405020304" pitchFamily="18" charset="0"/>
              </a:rPr>
              <a:t>They don't sell the final product directly to customers but help shape resources to become a finished product. </a:t>
            </a:r>
          </a:p>
          <a:p>
            <a:pPr marL="0" indent="0" algn="just">
              <a:buNone/>
            </a:pPr>
            <a:r>
              <a:rPr lang="en-US" dirty="0">
                <a:latin typeface="Times New Roman" panose="02020603050405020304" pitchFamily="18" charset="0"/>
                <a:cs typeface="Times New Roman" panose="02020603050405020304" pitchFamily="18" charset="0"/>
              </a:rPr>
              <a:t>Ex: Quality control inspects products to ensure they comply with safety and regulatory standards, preventing recalls and unhappy </a:t>
            </a:r>
            <a:r>
              <a:rPr lang="en-US" dirty="0"/>
              <a:t>customers</a:t>
            </a:r>
            <a:endParaRPr lang="en-US" b="1" dirty="0"/>
          </a:p>
          <a:p>
            <a:pPr marL="0" indent="0">
              <a:buNone/>
            </a:pPr>
            <a:endParaRPr lang="en-US" b="1" dirty="0"/>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4525963"/>
          </a:xfrm>
        </p:spPr>
        <p:txBody>
          <a:bodyPr/>
          <a:lstStyle/>
          <a:p>
            <a:pPr marL="0" indent="0">
              <a:buNone/>
            </a:pPr>
            <a:r>
              <a:rPr lang="en-US" b="1" dirty="0"/>
              <a:t>c</a:t>
            </a:r>
            <a:r>
              <a:rPr lang="en-US" b="1" dirty="0">
                <a:latin typeface="Times New Roman" panose="02020603050405020304" pitchFamily="18" charset="0"/>
                <a:cs typeface="Times New Roman" panose="02020603050405020304" pitchFamily="18" charset="0"/>
              </a:rPr>
              <a:t>. Administrative Cost Centers:</a:t>
            </a:r>
          </a:p>
          <a:p>
            <a:pPr marL="0" indent="0" algn="just">
              <a:buNone/>
            </a:pPr>
            <a:r>
              <a:rPr lang="en-US" dirty="0">
                <a:latin typeface="Times New Roman" panose="02020603050405020304" pitchFamily="18" charset="0"/>
                <a:cs typeface="Times New Roman" panose="02020603050405020304" pitchFamily="18" charset="0"/>
              </a:rPr>
              <a:t>Administrative cost centers handle administrative tasks (like records management) that are responsible for organizing and storing company documents</a:t>
            </a:r>
            <a:endParaRPr lang="en-US" b="1"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562100" y="28790"/>
            <a:ext cx="6019800" cy="715962"/>
          </a:xfrm>
        </p:spPr>
        <p:txBody>
          <a:bodyPr/>
          <a:lstStyle/>
          <a:p>
            <a:r>
              <a:rPr lang="en-US" dirty="0">
                <a:latin typeface="Times New Roman" panose="02020603050405020304" pitchFamily="18" charset="0"/>
                <a:cs typeface="Times New Roman" panose="02020603050405020304" pitchFamily="18" charset="0"/>
              </a:rPr>
              <a:t>Elements of Cost</a:t>
            </a:r>
          </a:p>
        </p:txBody>
      </p:sp>
      <p:sp>
        <p:nvSpPr>
          <p:cNvPr id="3" name="Content Placeholder 2"/>
          <p:cNvSpPr>
            <a:spLocks noGrp="1"/>
          </p:cNvSpPr>
          <p:nvPr>
            <p:ph idx="1"/>
          </p:nvPr>
        </p:nvSpPr>
        <p:spPr>
          <a:xfrm>
            <a:off x="457200" y="914401"/>
            <a:ext cx="8229600" cy="4038600"/>
          </a:xfrm>
        </p:spPr>
        <p:txBody>
          <a:bodyPr/>
          <a:lstStyle/>
          <a:p>
            <a:pPr marL="0" indent="0" algn="just">
              <a:buNone/>
            </a:pPr>
            <a:r>
              <a:rPr lang="en-US" dirty="0">
                <a:latin typeface="Times New Roman" panose="02020603050405020304" pitchFamily="18" charset="0"/>
                <a:cs typeface="Times New Roman" panose="02020603050405020304" pitchFamily="18" charset="0"/>
              </a:rPr>
              <a:t>Knowing the components of cost is important to properly calculate the overall cost incurred in the manufacture of goods or delivery of services.</a:t>
            </a:r>
          </a:p>
          <a:p>
            <a:pPr marL="0" indent="0" algn="just">
              <a:buNone/>
            </a:pPr>
            <a:r>
              <a:rPr lang="en-US" dirty="0">
                <a:latin typeface="Times New Roman" panose="02020603050405020304" pitchFamily="18" charset="0"/>
                <a:cs typeface="Times New Roman" panose="02020603050405020304" pitchFamily="18" charset="0"/>
              </a:rPr>
              <a:t>The costs are categorized into three broad types: material costs, Labor costs, and overhead costs. Material costs are the costs incurred for raw materials or supplies to be used in production.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93086" y="685800"/>
            <a:ext cx="8157828" cy="5730875"/>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685800"/>
            <a:ext cx="5715000" cy="715962"/>
          </a:xfrm>
        </p:spPr>
        <p:txBody>
          <a:bodyPr/>
          <a:lstStyle/>
          <a:p>
            <a:r>
              <a:rPr lang="en-IN" sz="3600" dirty="0">
                <a:latin typeface="Times New Roman" panose="02020603050405020304" pitchFamily="18" charset="0"/>
                <a:cs typeface="Times New Roman" panose="02020603050405020304" pitchFamily="18" charset="0"/>
              </a:rPr>
              <a:t>Divisions of cost</a:t>
            </a:r>
          </a:p>
        </p:txBody>
      </p:sp>
      <p:sp>
        <p:nvSpPr>
          <p:cNvPr id="3" name="Content Placeholder 2"/>
          <p:cNvSpPr>
            <a:spLocks noGrp="1"/>
          </p:cNvSpPr>
          <p:nvPr>
            <p:ph idx="1"/>
          </p:nvPr>
        </p:nvSpPr>
        <p:spPr>
          <a:xfrm>
            <a:off x="419100" y="1408293"/>
            <a:ext cx="8229600" cy="3886200"/>
          </a:xfrm>
        </p:spPr>
        <p:txBody>
          <a:bodyPr/>
          <a:lstStyle/>
          <a:p>
            <a:r>
              <a:rPr lang="en-US" dirty="0">
                <a:latin typeface="Times New Roman" panose="02020603050405020304" pitchFamily="18" charset="0"/>
                <a:cs typeface="Times New Roman" panose="02020603050405020304" pitchFamily="18" charset="0"/>
              </a:rPr>
              <a:t>Prime Cost = Direct materials + Direct </a:t>
            </a:r>
            <a:r>
              <a:rPr lang="en-US" dirty="0" err="1">
                <a:latin typeface="Times New Roman" panose="02020603050405020304" pitchFamily="18" charset="0"/>
                <a:cs typeface="Times New Roman" panose="02020603050405020304" pitchFamily="18" charset="0"/>
              </a:rPr>
              <a:t>labour</a:t>
            </a:r>
            <a:r>
              <a:rPr lang="en-US" dirty="0">
                <a:latin typeface="Times New Roman" panose="02020603050405020304" pitchFamily="18" charset="0"/>
                <a:cs typeface="Times New Roman" panose="02020603050405020304" pitchFamily="18" charset="0"/>
              </a:rPr>
              <a:t> + Direct expenses </a:t>
            </a:r>
          </a:p>
          <a:p>
            <a:r>
              <a:rPr lang="en-US" dirty="0">
                <a:latin typeface="Times New Roman" panose="02020603050405020304" pitchFamily="18" charset="0"/>
                <a:cs typeface="Times New Roman" panose="02020603050405020304" pitchFamily="18" charset="0"/>
              </a:rPr>
              <a:t>Factory cost = Prime cost + Factory over heads </a:t>
            </a:r>
          </a:p>
          <a:p>
            <a:r>
              <a:rPr lang="en-US" dirty="0">
                <a:latin typeface="Times New Roman" panose="02020603050405020304" pitchFamily="18" charset="0"/>
                <a:cs typeface="Times New Roman" panose="02020603050405020304" pitchFamily="18" charset="0"/>
              </a:rPr>
              <a:t>Cost of production = Factory cost + Administrative overheads </a:t>
            </a:r>
          </a:p>
          <a:p>
            <a:r>
              <a:rPr lang="en-US" dirty="0">
                <a:latin typeface="Times New Roman" panose="02020603050405020304" pitchFamily="18" charset="0"/>
                <a:cs typeface="Times New Roman" panose="02020603050405020304" pitchFamily="18" charset="0"/>
              </a:rPr>
              <a:t>Cost of sales = cost of production + selling and distribution overhead.</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57800"/>
          </a:xfrm>
        </p:spPr>
        <p:txBody>
          <a:bodyPr/>
          <a:lstStyle/>
          <a:p>
            <a:pPr marL="0" indent="0" algn="just">
              <a:buNone/>
            </a:pPr>
            <a:r>
              <a:rPr lang="en-US" dirty="0">
                <a:latin typeface="Times New Roman" panose="02020603050405020304" pitchFamily="18" charset="0"/>
                <a:cs typeface="Times New Roman" panose="02020603050405020304" pitchFamily="18" charset="0"/>
              </a:rPr>
              <a:t>Direct Materials: </a:t>
            </a:r>
          </a:p>
          <a:p>
            <a:pPr marL="0" indent="0" algn="just">
              <a:buNone/>
            </a:pPr>
            <a:r>
              <a:rPr lang="en-US" dirty="0">
                <a:latin typeface="Times New Roman" panose="02020603050405020304" pitchFamily="18" charset="0"/>
                <a:cs typeface="Times New Roman" panose="02020603050405020304" pitchFamily="18" charset="0"/>
              </a:rPr>
              <a:t>Materials which are present in the finished product or can be identified in the product are called direct materials. For example, cloth in dress making; materials purchased for a specific job etc. Note: However in some cases a material may be direct but it is treated as indirect, because it is used in small quantities or due to any other suitable reason</a:t>
            </a:r>
            <a:r>
              <a:rPr lang="en-US" dirty="0"/>
              <a:t>.</a:t>
            </a:r>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73275" y="274955"/>
            <a:ext cx="5220335" cy="710565"/>
          </a:xfrm>
        </p:spPr>
        <p:txBody>
          <a:bodyPr/>
          <a:lstStyle/>
          <a:p>
            <a:r>
              <a:rPr lang="en-US">
                <a:latin typeface="Times New Roman" panose="02020603050405020304" pitchFamily="18" charset="0"/>
                <a:cs typeface="Times New Roman" panose="02020603050405020304" pitchFamily="18" charset="0"/>
              </a:rPr>
              <a:t>Example</a:t>
            </a:r>
          </a:p>
        </p:txBody>
      </p:sp>
      <p:sp>
        <p:nvSpPr>
          <p:cNvPr id="3" name="Content Placeholder 2"/>
          <p:cNvSpPr>
            <a:spLocks noGrp="1"/>
          </p:cNvSpPr>
          <p:nvPr>
            <p:ph idx="1"/>
          </p:nvPr>
        </p:nvSpPr>
        <p:spPr>
          <a:xfrm>
            <a:off x="457200" y="1219200"/>
            <a:ext cx="8229600" cy="4525963"/>
          </a:xfrm>
        </p:spPr>
        <p:txBody>
          <a:bodyPr/>
          <a:lstStyle/>
          <a:p>
            <a:r>
              <a:rPr lang="en-US" altLang="en-US">
                <a:latin typeface="Times New Roman" panose="02020603050405020304" pitchFamily="18" charset="0"/>
                <a:cs typeface="Times New Roman" panose="02020603050405020304" pitchFamily="18" charset="0"/>
              </a:rPr>
              <a:t>Wood used in furniture</a:t>
            </a:r>
          </a:p>
          <a:p>
            <a:r>
              <a:rPr lang="en-US" altLang="en-US">
                <a:latin typeface="Times New Roman" panose="02020603050405020304" pitchFamily="18" charset="0"/>
                <a:cs typeface="Times New Roman" panose="02020603050405020304" pitchFamily="18" charset="0"/>
              </a:rPr>
              <a:t>Cotton used in shirts</a:t>
            </a:r>
          </a:p>
          <a:p>
            <a:r>
              <a:rPr lang="en-US" altLang="en-US">
                <a:latin typeface="Times New Roman" panose="02020603050405020304" pitchFamily="18" charset="0"/>
                <a:cs typeface="Times New Roman" panose="02020603050405020304" pitchFamily="18" charset="0"/>
              </a:rPr>
              <a:t>Steel used in a car</a:t>
            </a:r>
          </a:p>
          <a:p>
            <a:r>
              <a:rPr lang="en-US" altLang="en-US">
                <a:latin typeface="Times New Roman" panose="02020603050405020304" pitchFamily="18" charset="0"/>
                <a:cs typeface="Times New Roman" panose="02020603050405020304" pitchFamily="18" charset="0"/>
              </a:rPr>
              <a:t>Flour in bread</a:t>
            </a:r>
          </a:p>
          <a:p>
            <a:r>
              <a:rPr lang="en-US" altLang="en-US">
                <a:latin typeface="Times New Roman" panose="02020603050405020304" pitchFamily="18" charset="0"/>
                <a:cs typeface="Times New Roman" panose="02020603050405020304" pitchFamily="18" charset="0"/>
              </a:rPr>
              <a:t>Cement in construction</a:t>
            </a:r>
          </a:p>
          <a:p>
            <a:r>
              <a:rPr lang="en-US" altLang="en-US">
                <a:latin typeface="Times New Roman" panose="02020603050405020304" pitchFamily="18" charset="0"/>
                <a:cs typeface="Times New Roman" panose="02020603050405020304" pitchFamily="18" charset="0"/>
              </a:rPr>
              <a:t>leather in shoes</a:t>
            </a:r>
          </a:p>
          <a:p>
            <a:r>
              <a:rPr lang="en-US" altLang="en-US">
                <a:latin typeface="Times New Roman" panose="02020603050405020304" pitchFamily="18" charset="0"/>
                <a:cs typeface="Times New Roman" panose="02020603050405020304" pitchFamily="18" charset="0"/>
              </a:rPr>
              <a:t>Steel in machinery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838200"/>
            <a:ext cx="8229600" cy="4525963"/>
          </a:xfrm>
        </p:spPr>
        <p:txBody>
          <a:bodyPr/>
          <a:lstStyle/>
          <a:p>
            <a:pPr marL="0" indent="0" algn="just">
              <a:buNone/>
            </a:pPr>
            <a:r>
              <a:rPr lang="en-US" dirty="0"/>
              <a:t>b) </a:t>
            </a:r>
            <a:r>
              <a:rPr lang="en-US" dirty="0">
                <a:latin typeface="Times New Roman" panose="02020603050405020304" pitchFamily="18" charset="0"/>
                <a:cs typeface="Times New Roman" panose="02020603050405020304" pitchFamily="18" charset="0"/>
              </a:rPr>
              <a:t>Direct </a:t>
            </a:r>
            <a:r>
              <a:rPr lang="en-US" dirty="0" err="1">
                <a:latin typeface="Times New Roman" panose="02020603050405020304" pitchFamily="18" charset="0"/>
                <a:cs typeface="Times New Roman" panose="02020603050405020304" pitchFamily="18" charset="0"/>
              </a:rPr>
              <a:t>Labour</a:t>
            </a:r>
            <a:r>
              <a:rPr lang="en-US" dirty="0">
                <a:latin typeface="Times New Roman" panose="02020603050405020304" pitchFamily="18" charset="0"/>
                <a:cs typeface="Times New Roman" panose="02020603050405020304" pitchFamily="18" charset="0"/>
              </a:rPr>
              <a:t>: </a:t>
            </a:r>
          </a:p>
          <a:p>
            <a:pPr marL="0" indent="0" algn="just">
              <a:buNone/>
            </a:pPr>
            <a:r>
              <a:rPr lang="en-US" dirty="0" err="1">
                <a:latin typeface="Times New Roman" panose="02020603050405020304" pitchFamily="18" charset="0"/>
                <a:cs typeface="Times New Roman" panose="02020603050405020304" pitchFamily="18" charset="0"/>
              </a:rPr>
              <a:t>Labour</a:t>
            </a:r>
            <a:r>
              <a:rPr lang="en-US" dirty="0">
                <a:latin typeface="Times New Roman" panose="02020603050405020304" pitchFamily="18" charset="0"/>
                <a:cs typeface="Times New Roman" panose="02020603050405020304" pitchFamily="18" charset="0"/>
              </a:rPr>
              <a:t> which can be identified or attributed wholly to a particular job, product or process or expended in converting raw materials into finished products is called direct </a:t>
            </a:r>
            <a:r>
              <a:rPr lang="en-US" dirty="0" err="1">
                <a:latin typeface="Times New Roman" panose="02020603050405020304" pitchFamily="18" charset="0"/>
                <a:cs typeface="Times New Roman" panose="02020603050405020304" pitchFamily="18" charset="0"/>
              </a:rPr>
              <a:t>labour</a:t>
            </a:r>
            <a:r>
              <a:rPr lang="en-US" dirty="0">
                <a:latin typeface="Times New Roman" panose="02020603050405020304" pitchFamily="18" charset="0"/>
                <a:cs typeface="Times New Roman" panose="02020603050405020304" pitchFamily="18" charset="0"/>
              </a:rPr>
              <a:t>. For example, </a:t>
            </a:r>
            <a:r>
              <a:rPr lang="en-US" dirty="0" err="1">
                <a:latin typeface="Times New Roman" panose="02020603050405020304" pitchFamily="18" charset="0"/>
                <a:cs typeface="Times New Roman" panose="02020603050405020304" pitchFamily="18" charset="0"/>
              </a:rPr>
              <a:t>labour</a:t>
            </a:r>
            <a:r>
              <a:rPr lang="en-US" dirty="0">
                <a:latin typeface="Times New Roman" panose="02020603050405020304" pitchFamily="18" charset="0"/>
                <a:cs typeface="Times New Roman" panose="02020603050405020304" pitchFamily="18" charset="0"/>
              </a:rPr>
              <a:t> engaged on the actual production of the product in carrying out the necessary operations for converting the raw materials into finished product</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8315" y="274955"/>
            <a:ext cx="5419725" cy="711200"/>
          </a:xfrm>
        </p:spPr>
        <p:txBody>
          <a:bodyPr/>
          <a:lstStyle/>
          <a:p>
            <a:r>
              <a:rPr lang="en-US"/>
              <a:t>Examples</a:t>
            </a:r>
          </a:p>
        </p:txBody>
      </p:sp>
      <p:sp>
        <p:nvSpPr>
          <p:cNvPr id="3" name="Content Placeholder 2"/>
          <p:cNvSpPr>
            <a:spLocks noGrp="1"/>
          </p:cNvSpPr>
          <p:nvPr>
            <p:ph idx="1"/>
          </p:nvPr>
        </p:nvSpPr>
        <p:spPr>
          <a:xfrm>
            <a:off x="457200" y="1143000"/>
            <a:ext cx="8229600" cy="2564130"/>
          </a:xfrm>
        </p:spPr>
        <p:txBody>
          <a:bodyPr/>
          <a:lstStyle/>
          <a:p>
            <a:r>
              <a:rPr lang="en-US" altLang="en-US"/>
              <a:t>Carpenter making furniture</a:t>
            </a:r>
          </a:p>
          <a:p>
            <a:r>
              <a:rPr lang="en-US" altLang="en-US"/>
              <a:t>Tailor stitching clothes</a:t>
            </a:r>
          </a:p>
          <a:p>
            <a:r>
              <a:rPr lang="en-US" altLang="en-US"/>
              <a:t>Factory worker assembling a car</a:t>
            </a:r>
          </a:p>
          <a:p>
            <a:endParaRPr lang="en-US"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838200"/>
            <a:ext cx="8229600" cy="4525963"/>
          </a:xfrm>
        </p:spPr>
        <p:txBody>
          <a:bodyPr/>
          <a:lstStyle/>
          <a:p>
            <a:pPr marL="0" indent="0" algn="just">
              <a:buNone/>
            </a:pPr>
            <a:r>
              <a:rPr lang="en-US" dirty="0">
                <a:latin typeface="Times New Roman" panose="02020603050405020304" pitchFamily="18" charset="0"/>
                <a:cs typeface="Times New Roman" panose="02020603050405020304" pitchFamily="18" charset="0"/>
              </a:rPr>
              <a:t>Direct expenses: </a:t>
            </a:r>
          </a:p>
          <a:p>
            <a:pPr marL="0" indent="0" algn="just">
              <a:buNone/>
            </a:pPr>
            <a:r>
              <a:rPr lang="en-US" dirty="0">
                <a:latin typeface="Times New Roman" panose="02020603050405020304" pitchFamily="18" charset="0"/>
                <a:cs typeface="Times New Roman" panose="02020603050405020304" pitchFamily="18" charset="0"/>
              </a:rPr>
              <a:t>It includes all expenses other than direct material or direct </a:t>
            </a:r>
            <a:r>
              <a:rPr lang="en-US" dirty="0" err="1">
                <a:latin typeface="Times New Roman" panose="02020603050405020304" pitchFamily="18" charset="0"/>
                <a:cs typeface="Times New Roman" panose="02020603050405020304" pitchFamily="18" charset="0"/>
              </a:rPr>
              <a:t>labour</a:t>
            </a:r>
            <a:r>
              <a:rPr lang="en-US" dirty="0">
                <a:latin typeface="Times New Roman" panose="02020603050405020304" pitchFamily="18" charset="0"/>
                <a:cs typeface="Times New Roman" panose="02020603050405020304" pitchFamily="18" charset="0"/>
              </a:rPr>
              <a:t> which are specially incurred for a particular product or process. Examples of direct expenses includes – excise duty, royalty, surveyor’s fees </a:t>
            </a:r>
            <a:r>
              <a:rPr lang="en-US" dirty="0" err="1">
                <a:latin typeface="Times New Roman" panose="02020603050405020304" pitchFamily="18" charset="0"/>
                <a:cs typeface="Times New Roman" panose="02020603050405020304" pitchFamily="18" charset="0"/>
              </a:rPr>
              <a:t>etc</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4525963"/>
          </a:xfrm>
        </p:spPr>
        <p:txBody>
          <a:bodyPr/>
          <a:lstStyle/>
          <a:p>
            <a:pPr marL="0" indent="0" algn="just">
              <a:buNone/>
            </a:pPr>
            <a:r>
              <a:rPr lang="en-US" dirty="0">
                <a:latin typeface="Times New Roman" panose="02020603050405020304" pitchFamily="18" charset="0"/>
                <a:cs typeface="Times New Roman" panose="02020603050405020304" pitchFamily="18" charset="0"/>
              </a:rPr>
              <a:t>Indirect materials: </a:t>
            </a:r>
          </a:p>
          <a:p>
            <a:pPr marL="0" indent="0" algn="just">
              <a:buNone/>
            </a:pPr>
            <a:r>
              <a:rPr lang="en-US" dirty="0">
                <a:latin typeface="Times New Roman" panose="02020603050405020304" pitchFamily="18" charset="0"/>
                <a:cs typeface="Times New Roman" panose="02020603050405020304" pitchFamily="18" charset="0"/>
              </a:rPr>
              <a:t>Materials which do not normally form part of the finished product are known as indirect materials These are :</a:t>
            </a:r>
          </a:p>
          <a:p>
            <a:pPr marL="0" indent="0" algn="just">
              <a:buNone/>
            </a:pPr>
            <a:r>
              <a:rPr lang="en-US" dirty="0">
                <a:latin typeface="Times New Roman" panose="02020603050405020304" pitchFamily="18" charset="0"/>
                <a:cs typeface="Times New Roman" panose="02020603050405020304" pitchFamily="18" charset="0"/>
              </a:rPr>
              <a:t>Stores used for maintaining machines and building (lubricants, cotton, waste, bricks </a:t>
            </a:r>
            <a:r>
              <a:rPr lang="en-US" dirty="0" err="1">
                <a:latin typeface="Times New Roman" panose="02020603050405020304" pitchFamily="18" charset="0"/>
                <a:cs typeface="Times New Roman" panose="02020603050405020304" pitchFamily="18" charset="0"/>
              </a:rPr>
              <a:t>etc</a:t>
            </a:r>
            <a:r>
              <a:rPr lang="en-US" dirty="0">
                <a:latin typeface="Times New Roman" panose="02020603050405020304" pitchFamily="18" charset="0"/>
                <a:cs typeface="Times New Roman" panose="02020603050405020304" pitchFamily="18" charset="0"/>
              </a:rPr>
              <a:t>).</a:t>
            </a:r>
          </a:p>
          <a:p>
            <a:pPr marL="0" indent="0" algn="just">
              <a:buNone/>
            </a:pPr>
            <a:r>
              <a:rPr lang="en-US" dirty="0">
                <a:latin typeface="Times New Roman" panose="02020603050405020304" pitchFamily="18" charset="0"/>
                <a:cs typeface="Times New Roman" panose="02020603050405020304" pitchFamily="18" charset="0"/>
              </a:rPr>
              <a:t>Stores used by service department like power house, boiler house, canteen etc.</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838200"/>
            <a:ext cx="8229600" cy="4525963"/>
          </a:xfrm>
        </p:spPr>
        <p:txBody>
          <a:bodyPr/>
          <a:lstStyle/>
          <a:p>
            <a:pPr marL="0" indent="0" algn="just">
              <a:buNone/>
            </a:pPr>
            <a:r>
              <a:rPr lang="en-US" dirty="0">
                <a:latin typeface="Times New Roman" panose="02020603050405020304" pitchFamily="18" charset="0"/>
                <a:cs typeface="Times New Roman" panose="02020603050405020304" pitchFamily="18" charset="0"/>
              </a:rPr>
              <a:t>Indirect </a:t>
            </a:r>
            <a:r>
              <a:rPr lang="en-US" dirty="0" err="1">
                <a:latin typeface="Times New Roman" panose="02020603050405020304" pitchFamily="18" charset="0"/>
                <a:cs typeface="Times New Roman" panose="02020603050405020304" pitchFamily="18" charset="0"/>
              </a:rPr>
              <a:t>labour</a:t>
            </a:r>
            <a:r>
              <a:rPr lang="en-US" dirty="0">
                <a:latin typeface="Times New Roman" panose="02020603050405020304" pitchFamily="18" charset="0"/>
                <a:cs typeface="Times New Roman" panose="02020603050405020304" pitchFamily="18" charset="0"/>
              </a:rPr>
              <a:t>: </a:t>
            </a:r>
          </a:p>
          <a:p>
            <a:pPr marL="0" indent="0" algn="just">
              <a:buNone/>
            </a:pPr>
            <a:r>
              <a:rPr lang="en-US" dirty="0" err="1">
                <a:latin typeface="Times New Roman" panose="02020603050405020304" pitchFamily="18" charset="0"/>
                <a:cs typeface="Times New Roman" panose="02020603050405020304" pitchFamily="18" charset="0"/>
              </a:rPr>
              <a:t>Labour</a:t>
            </a:r>
            <a:r>
              <a:rPr lang="en-US" dirty="0">
                <a:latin typeface="Times New Roman" panose="02020603050405020304" pitchFamily="18" charset="0"/>
                <a:cs typeface="Times New Roman" panose="02020603050405020304" pitchFamily="18" charset="0"/>
              </a:rPr>
              <a:t> costs which cannot be allocated but can be apportioned to or absorbed by cost units or cost centers is known as indirect </a:t>
            </a:r>
            <a:r>
              <a:rPr lang="en-US" dirty="0" err="1">
                <a:latin typeface="Times New Roman" panose="02020603050405020304" pitchFamily="18" charset="0"/>
                <a:cs typeface="Times New Roman" panose="02020603050405020304" pitchFamily="18" charset="0"/>
              </a:rPr>
              <a:t>labour</a:t>
            </a:r>
            <a:r>
              <a:rPr lang="en-US" dirty="0">
                <a:latin typeface="Times New Roman" panose="02020603050405020304" pitchFamily="18" charset="0"/>
                <a:cs typeface="Times New Roman" panose="02020603050405020304" pitchFamily="18" charset="0"/>
              </a:rPr>
              <a:t>. Examples of indirect </a:t>
            </a:r>
            <a:r>
              <a:rPr lang="en-US" dirty="0" err="1">
                <a:latin typeface="Times New Roman" panose="02020603050405020304" pitchFamily="18" charset="0"/>
                <a:cs typeface="Times New Roman" panose="02020603050405020304" pitchFamily="18" charset="0"/>
              </a:rPr>
              <a:t>labour</a:t>
            </a:r>
            <a:r>
              <a:rPr lang="en-US" dirty="0">
                <a:latin typeface="Times New Roman" panose="02020603050405020304" pitchFamily="18" charset="0"/>
                <a:cs typeface="Times New Roman" panose="02020603050405020304" pitchFamily="18" charset="0"/>
              </a:rPr>
              <a:t> includes – charge hands and supervisors; maintenance workers; etc.</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838200"/>
            <a:ext cx="8229600" cy="4525963"/>
          </a:xfrm>
        </p:spPr>
        <p:txBody>
          <a:bodyPr/>
          <a:lstStyle/>
          <a:p>
            <a:pPr marL="0" indent="0" algn="just">
              <a:buNone/>
            </a:pPr>
            <a:r>
              <a:rPr lang="en-US" dirty="0">
                <a:latin typeface="Times New Roman" panose="02020603050405020304" pitchFamily="18" charset="0"/>
                <a:cs typeface="Times New Roman" panose="02020603050405020304" pitchFamily="18" charset="0"/>
              </a:rPr>
              <a:t>Indirect expense: </a:t>
            </a:r>
          </a:p>
          <a:p>
            <a:pPr marL="0" indent="0" algn="just">
              <a:buNone/>
            </a:pPr>
            <a:r>
              <a:rPr lang="en-US" dirty="0">
                <a:latin typeface="Times New Roman" panose="02020603050405020304" pitchFamily="18" charset="0"/>
                <a:cs typeface="Times New Roman" panose="02020603050405020304" pitchFamily="18" charset="0"/>
              </a:rPr>
              <a:t>Expenses other than direct expenses are known as indirect expenses. Factory rent and rates, insurance of plant and machinery, power, light, heating, repairing, telephone etc., are some examples of indirect expenses.</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85800"/>
            <a:ext cx="8229600" cy="5105400"/>
          </a:xfrm>
        </p:spPr>
        <p:txBody>
          <a:bodyPr/>
          <a:lstStyle/>
          <a:p>
            <a:pPr marL="0" indent="0">
              <a:buNone/>
            </a:pPr>
            <a:r>
              <a:rPr lang="en-US" dirty="0">
                <a:latin typeface="Times New Roman" panose="02020603050405020304" pitchFamily="18" charset="0"/>
                <a:cs typeface="Times New Roman" panose="02020603050405020304" pitchFamily="18" charset="0"/>
              </a:rPr>
              <a:t>Overheads: </a:t>
            </a:r>
          </a:p>
          <a:p>
            <a:pPr marL="0" indent="0" algn="just">
              <a:buNone/>
            </a:pPr>
            <a:r>
              <a:rPr lang="en-US" dirty="0">
                <a:latin typeface="Times New Roman" panose="02020603050405020304" pitchFamily="18" charset="0"/>
                <a:cs typeface="Times New Roman" panose="02020603050405020304" pitchFamily="18" charset="0"/>
              </a:rPr>
              <a:t>It is the aggregate of indirect material costs, indirect </a:t>
            </a:r>
            <a:r>
              <a:rPr lang="en-US" dirty="0" err="1">
                <a:latin typeface="Times New Roman" panose="02020603050405020304" pitchFamily="18" charset="0"/>
                <a:cs typeface="Times New Roman" panose="02020603050405020304" pitchFamily="18" charset="0"/>
              </a:rPr>
              <a:t>labour</a:t>
            </a:r>
            <a:r>
              <a:rPr lang="en-US" dirty="0">
                <a:latin typeface="Times New Roman" panose="02020603050405020304" pitchFamily="18" charset="0"/>
                <a:cs typeface="Times New Roman" panose="02020603050405020304" pitchFamily="18" charset="0"/>
              </a:rPr>
              <a:t> costs and indirect expenses. The main groups into which overheads may be subdivided are the following: </a:t>
            </a:r>
          </a:p>
          <a:p>
            <a:pPr marL="0" indent="0" algn="just">
              <a:buNone/>
            </a:pP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Production or Works overheads </a:t>
            </a:r>
          </a:p>
          <a:p>
            <a:pPr marL="0" indent="0" algn="just">
              <a:buNone/>
            </a:pPr>
            <a:r>
              <a:rPr lang="en-US" dirty="0">
                <a:latin typeface="Times New Roman" panose="02020603050405020304" pitchFamily="18" charset="0"/>
                <a:cs typeface="Times New Roman" panose="02020603050405020304" pitchFamily="18" charset="0"/>
              </a:rPr>
              <a:t>(ii) Administration overheads</a:t>
            </a:r>
          </a:p>
          <a:p>
            <a:pPr marL="0" indent="0" algn="just">
              <a:buNone/>
            </a:pPr>
            <a:r>
              <a:rPr lang="en-US" dirty="0">
                <a:latin typeface="Times New Roman" panose="02020603050405020304" pitchFamily="18" charset="0"/>
                <a:cs typeface="Times New Roman" panose="02020603050405020304" pitchFamily="18" charset="0"/>
              </a:rPr>
              <a:t>(iii) Selling overheads </a:t>
            </a:r>
          </a:p>
          <a:p>
            <a:pPr marL="0" indent="0" algn="just">
              <a:buNone/>
            </a:pPr>
            <a:r>
              <a:rPr lang="en-US" dirty="0">
                <a:latin typeface="Times New Roman" panose="02020603050405020304" pitchFamily="18" charset="0"/>
                <a:cs typeface="Times New Roman" panose="02020603050405020304" pitchFamily="18" charset="0"/>
              </a:rPr>
              <a:t>(iv) Distribution overheads</a:t>
            </a:r>
          </a:p>
          <a:p>
            <a:pPr marL="0" indent="0" algn="just">
              <a:buNone/>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7292</Words>
  <Application>Microsoft Office PowerPoint</Application>
  <PresentationFormat>On-screen Show (4:3)</PresentationFormat>
  <Paragraphs>148</Paragraphs>
  <Slides>25</Slides>
  <Notes>0</Notes>
  <HiddenSlides>0</HiddenSlides>
  <MMClips>0</MMClips>
  <ScaleCrop>false</ScaleCrop>
  <HeadingPairs>
    <vt:vector size="4" baseType="variant">
      <vt:variant>
        <vt:lpstr>Theme</vt:lpstr>
      </vt:variant>
      <vt:variant>
        <vt:i4>3</vt:i4>
      </vt:variant>
      <vt:variant>
        <vt:lpstr>Slide Titles</vt:lpstr>
      </vt:variant>
      <vt:variant>
        <vt:i4>25</vt:i4>
      </vt:variant>
    </vt:vector>
  </HeadingPairs>
  <TitlesOfParts>
    <vt:vector size="28" baseType="lpstr">
      <vt:lpstr>Office Theme</vt:lpstr>
      <vt:lpstr>1_Custom Design</vt:lpstr>
      <vt:lpstr>Custom Design</vt:lpstr>
      <vt:lpstr>3.Cost Accounting</vt:lpstr>
      <vt:lpstr>Definition</vt:lpstr>
      <vt:lpstr>PowerPoint Presentation</vt:lpstr>
      <vt:lpstr>Objectives of Cost Accounting</vt:lpstr>
      <vt:lpstr>PowerPoint Presentation</vt:lpstr>
      <vt:lpstr>Advantages and Limitations of Cost Accounting</vt:lpstr>
      <vt:lpstr>PowerPoint Presentation</vt:lpstr>
      <vt:lpstr>Limitations of Cost Accounting</vt:lpstr>
      <vt:lpstr>PowerPoint Presentation</vt:lpstr>
      <vt:lpstr>PowerPoint Presentation</vt:lpstr>
      <vt:lpstr>Types of Cost Centers  </vt:lpstr>
      <vt:lpstr>PowerPoint Presentation</vt:lpstr>
      <vt:lpstr>PowerPoint Presentation</vt:lpstr>
      <vt:lpstr>Elements of Cost</vt:lpstr>
      <vt:lpstr>PowerPoint Presentation</vt:lpstr>
      <vt:lpstr>Divisions of cost</vt:lpstr>
      <vt:lpstr>PowerPoint Presentation</vt:lpstr>
      <vt:lpstr>Example</vt:lpstr>
      <vt:lpstr>PowerPoint Presentation</vt:lpstr>
      <vt:lpstr>Examples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Priyanka</dc:creator>
  <cp:lastModifiedBy>SUBHRODIPTO BASU CHOUDHURY</cp:lastModifiedBy>
  <cp:revision>414</cp:revision>
  <dcterms:created xsi:type="dcterms:W3CDTF">2023-08-11T03:52:00Z</dcterms:created>
  <dcterms:modified xsi:type="dcterms:W3CDTF">2026-09-17T19:16:01Z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A0C09163F10543DB8AB9D176FFC255EE_12</vt:lpwstr>
  </property>
  <property fmtid="{D5CDD505-2E9C-101B-9397-08002B2CF9AE}" pid="3" name="KSOProductBuildVer">
    <vt:lpwstr>1033-12.1.0.28485</vt:lpwstr>
  </property>
</Properties>
</file>